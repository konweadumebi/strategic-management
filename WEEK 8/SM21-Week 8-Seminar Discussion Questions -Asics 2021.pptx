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14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CD2D-347F-417C-886D-273536740474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35F60-FE4A-4476-B52F-29F895081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9004D-800C-4230-8BED-3D981703420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C34-A69D-4402-B7D8-BAB5A48CF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89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AD35B-FA32-400E-B001-5FD5168C6B3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86A5D-7A97-4E2E-A328-5E1595936F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2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8F702-7B2B-4191-AADB-9326B959CBB1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3A9-6EEC-43E7-807C-7954534FE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E7D3133-C8CC-49B1-BACB-6866EED8069D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8F75B9A-495D-4CA4-9D63-CBFCE0B35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36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Week 8 –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BA5C-211A-B346-857C-0C18C1D8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0656"/>
            <a:ext cx="11150601" cy="1082675"/>
          </a:xfrm>
        </p:spPr>
        <p:txBody>
          <a:bodyPr/>
          <a:lstStyle/>
          <a:p>
            <a:r>
              <a:rPr lang="en-GB" sz="3600" dirty="0"/>
              <a:t>Week 7: Seminar Discussion Questions – Asics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838D-80C5-3746-8530-90190060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6" y="1119980"/>
            <a:ext cx="10515600" cy="5738019"/>
          </a:xfrm>
        </p:spPr>
        <p:txBody>
          <a:bodyPr/>
          <a:lstStyle/>
          <a:p>
            <a:pPr marL="342900" indent="-342900" algn="just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950"/>
              <a:buFont typeface="+mj-lt"/>
              <a:buAutoNum type="arabicPeriod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‘I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Move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Me’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campaign?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critically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n-US" sz="2400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these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objectives?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Bef>
                <a:spcPts val="45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creative concept developed by Saatchi &amp; Saatchi LA for ASICS and discuss</a:t>
            </a:r>
            <a:r>
              <a:rPr lang="en-US" sz="24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execution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styles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creative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concepts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videos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related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ads.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400" b="1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 for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them online and/or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follow the links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sources below.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agree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choices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made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deliver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campaign?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Why?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sz="2400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advantages and disadvantages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each?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‘ASICS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FrontRunners’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social media such as Twitter or Facebook. How can</a:t>
            </a:r>
            <a:r>
              <a:rPr lang="en-US" sz="24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 help generate UGC about the ASICS brand? Critically discuss the positive and</a:t>
            </a:r>
            <a:r>
              <a:rPr lang="en-US" sz="24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negative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influences that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 media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have on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brand’s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 efforts.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9065" lvl="0" indent="-342900" algn="just"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7665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extent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did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railway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video/images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incident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problems</a:t>
            </a:r>
            <a:r>
              <a:rPr lang="en-US" sz="24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24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</a:t>
            </a:r>
            <a:r>
              <a:rPr lang="en-US" sz="24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brand?</a:t>
            </a:r>
            <a:r>
              <a:rPr lang="en-US" sz="2400" b="1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think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 should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 anticipated the issue, and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why?</a:t>
            </a: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9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4517-B19B-5849-B2B7-0C109D7F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/>
          <a:lstStyle/>
          <a:p>
            <a:pPr marL="140335">
              <a:spcBef>
                <a:spcPts val="5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ASICS</a:t>
            </a:r>
            <a:r>
              <a:rPr lang="en-US" sz="2800" b="1" spc="-15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era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 -Synopsis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1244-A769-1C47-9699-ADD757D86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476375"/>
            <a:ext cx="10515600" cy="5086350"/>
          </a:xfrm>
        </p:spPr>
        <p:txBody>
          <a:bodyPr/>
          <a:lstStyle/>
          <a:p>
            <a:pPr marL="140335" marR="136525" algn="just">
              <a:spcBef>
                <a:spcPts val="5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struggling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meet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five-year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strategic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70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second quarter earnings. More specifically, America’s sales had dropped 22 percent, while Europe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grew 4 percent. ASCIS marketing director knew that focus on the performance running market had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priorities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reach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company’s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strategic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goals,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how?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had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reputation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producing high-quality technical gear, but it had not done a good job in creating an emotional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connection with the consumers. ASICS has to find a way to break through the clutter and find a way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connect, also emotionally,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their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 and potential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5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335" marR="13716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Move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Me’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rebrand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campaign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Saatchi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&amp;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Saatchi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launched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2017.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been the most significant for the ASICS brand since 1992. The campaign ran across 13 markets in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EMEA with over 1,000 items of curated content created to reach over 400 million people; similar to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creative activities that ran in the USA market. In this geography, the content was developed by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 communications agency SUPERLARGE, in line with the global ‘I Move Me’ campaign. 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‘I Move Me’ campaign spans across all areas of the business in true integrated fashion; in fact, it is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brought to life by a newly established Integrated Marketing Communications team at ASICS. Their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remit sounds simple, but it is complex in its implementation. The aim is to provide a seamless brand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 across all touchpoints. The campaign brings together the products and the brand in a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unifying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celebrates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high-quality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matching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movement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achievements.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6667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0D1862-8C26-4100-BE86-B1D00860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ASICS</a:t>
            </a:r>
            <a:r>
              <a:rPr lang="en-US" sz="2800" b="1" spc="-15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era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2800" b="1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 -</a:t>
            </a:r>
            <a:r>
              <a:rPr lang="en-GB" sz="2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Synopsis ( Continued)</a:t>
            </a:r>
            <a:endParaRPr lang="en-GB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E382-5925-442F-BB3B-169C6069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68425"/>
            <a:ext cx="10515600" cy="5365750"/>
          </a:xfrm>
        </p:spPr>
        <p:txBody>
          <a:bodyPr/>
          <a:lstStyle/>
          <a:p>
            <a:pPr marL="140335" marR="137795" algn="just">
              <a:spcBef>
                <a:spcPts val="455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 is at the heart of this campaign but it develops via multimedia, such as advertising on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Eurosport, print, outdoor advertising, ASICS events and ASICS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FrontRunners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brand ambassadors;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carefully selected runners from among thousands of applicants that embody the spirit of the brand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share it in their social media activities. Again, runners of different abilities and overcoming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various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6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running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selected,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only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ones.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includes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ads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</a:t>
            </a:r>
            <a:r>
              <a:rPr lang="en-US" sz="16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running magazines such as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Runners World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ASICS continues to sponsor key marathons. Retail is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another</a:t>
            </a:r>
            <a:r>
              <a:rPr lang="en-US" sz="16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</a:t>
            </a:r>
            <a:r>
              <a:rPr lang="en-US" sz="16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flagship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stores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been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opened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planned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in London, New York and Tokyo.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campaign was well received until 2018 when something unexpected happened on Twitter. One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ASICS UK’s campaigns featured people running down a disused train track. The images are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beautiful and the runners in them appear strong. The pictures are indeed compositionally appealing: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track lines framed the runner nicely and communicated the idea of the distance/going far.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runners on Twitter took a very different view ‘This ad is wrong on so many levels (…) it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irresponsible (…)’; ‘This ad shows total disrespect for safety’ were some of the comments that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appeared.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Users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tagged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Rail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Safety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Week,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British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Police</a:t>
            </a:r>
            <a:r>
              <a:rPr lang="en-US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alerted to the ads. Runners thought that these types of ads were irresponsible, given the dangerous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location and the recent trend of taking selfies on train tracks with at times fatal consequences.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Furthermore, some even commented that running on the tracks simply isn’t realistic; of all the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surfaces one may wish to run on, a train track seems quite an unlikely one and at best a trip hazard.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Initially ASICS’s Twitter account was quite defensive on the matter, responding that the featured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 track was indeed disused so no safety regulations were breached. Screenshots also circulated,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showed that ASICS had updated its profile to show photos with images involving said train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tracks in response to the (arguably uncalled-for) criticism. Since then, however, the railway track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posts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marketing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material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been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removed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official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ASICS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presence,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rising</a:t>
            </a:r>
            <a:r>
              <a:rPr lang="en-US" sz="16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criticism,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continued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several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days.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removal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material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helped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somehow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deal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6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problem, even if in the eyes of the influencers and runners online who witnessed this exchange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 is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still suffering from</a:t>
            </a:r>
            <a:r>
              <a:rPr lang="en-US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initial mistake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the way it was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dealt with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7844583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ek 1- Seminar Discussion Questions.pot [Compatibility Mode]" id="{707DB747-BDAE-43B9-9D86-1EFC7F82B10D}" vid="{EFE640EC-0A76-4F5C-B490-EA066F06D30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5" ma:contentTypeDescription="Create a new document." ma:contentTypeScope="" ma:versionID="f3baa54f500732990aa009a1c76f0bac">
  <xsd:schema xmlns:xsd="http://www.w3.org/2001/XMLSchema" xmlns:xs="http://www.w3.org/2001/XMLSchema" xmlns:p="http://schemas.microsoft.com/office/2006/metadata/properties" xmlns:ns3="8cba260e-3241-4289-a037-e391f31897a2" targetNamespace="http://schemas.microsoft.com/office/2006/metadata/properties" ma:root="true" ma:fieldsID="c255195508ac04f43878341bffda53dc" ns3:_="">
    <xsd:import namespace="8cba260e-3241-4289-a037-e391f31897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05FB34-56E2-4CFB-995A-2FD1D195F7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686F78-20FE-4946-9511-558B44DAB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3A73CB-E426-4B9D-9050-9E8013278CA7}">
  <ds:schemaRefs>
    <ds:schemaRef ds:uri="http://purl.org/dc/terms/"/>
    <ds:schemaRef ds:uri="http://schemas.openxmlformats.org/package/2006/metadata/core-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978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University of Roehampton</vt:lpstr>
      <vt:lpstr>Strategic Marketing</vt:lpstr>
      <vt:lpstr>Week 7: Seminar Discussion Questions – Asics</vt:lpstr>
      <vt:lpstr>ASICS: Advertising and PR in the era of social media -Synopsis</vt:lpstr>
      <vt:lpstr>ASICS: Advertising and PR in the era of social media -Synopsis ( Continued)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32</cp:revision>
  <dcterms:created xsi:type="dcterms:W3CDTF">2020-09-10T09:09:59Z</dcterms:created>
  <dcterms:modified xsi:type="dcterms:W3CDTF">2025-07-09T08:52:37Z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0x01010002C08C9299421240B6D995644B6E3C3E</vt:lpwstr>
  </property>
</Properties>
</file>