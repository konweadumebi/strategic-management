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6" r:id="rId5"/>
  </p:sldMasterIdLst>
  <p:notesMasterIdLst>
    <p:notesMasterId r:id="rId38"/>
  </p:notesMasterIdLst>
  <p:sldIdLst>
    <p:sldId id="256" r:id="rId6"/>
    <p:sldId id="258" r:id="rId7"/>
    <p:sldId id="259" r:id="rId8"/>
    <p:sldId id="260" r:id="rId9"/>
    <p:sldId id="330" r:id="rId10"/>
    <p:sldId id="261" r:id="rId11"/>
    <p:sldId id="262" r:id="rId12"/>
    <p:sldId id="263" r:id="rId13"/>
    <p:sldId id="264" r:id="rId14"/>
    <p:sldId id="265" r:id="rId15"/>
    <p:sldId id="266" r:id="rId16"/>
    <p:sldId id="294" r:id="rId17"/>
    <p:sldId id="267" r:id="rId18"/>
    <p:sldId id="268" r:id="rId19"/>
    <p:sldId id="331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82" r:id="rId31"/>
    <p:sldId id="286" r:id="rId32"/>
    <p:sldId id="287" r:id="rId33"/>
    <p:sldId id="288" r:id="rId34"/>
    <p:sldId id="289" r:id="rId35"/>
    <p:sldId id="290" r:id="rId36"/>
    <p:sldId id="293" r:id="rId37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63532"/>
    <a:srgbClr val="ECEBEA"/>
    <a:srgbClr val="00A06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6332" autoAdjust="0"/>
    <p:restoredTop sz="46694" autoAdjust="0"/>
  </p:normalViewPr>
  <p:slideViewPr>
    <p:cSldViewPr snapToGrid="0">
      <p:cViewPr varScale="1">
        <p:scale>
          <a:sx n="71" d="100"/>
          <a:sy n="71" d="100"/>
        </p:scale>
        <p:origin x="4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34" d="100"/>
        <a:sy n="34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presProps" Target="presProps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tableStyles" Target="tableStyles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41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viewProps" Target="viewProps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8" Type="http://schemas.openxmlformats.org/officeDocument/2006/relationships/slide" Target="slides/slide3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257B70-E3B7-8344-B635-0F25D4CACEB8}" type="datetimeFigureOut">
              <a:rPr lang="en-US" smtClean="0"/>
              <a:t>7/9/2025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196083-5C37-8041-9477-EF3CED45B5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03530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196083-5C37-8041-9477-EF3CED45B51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10649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buSzPct val="25000"/>
            </a:pPr>
            <a:endParaRPr lang="en-US" dirty="0">
              <a:sym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3D6722-9B4D-4E29-B226-C325925A8118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14292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495800"/>
          </a:xfrm>
        </p:spPr>
        <p:txBody>
          <a:bodyPr/>
          <a:lstStyle/>
          <a:p>
            <a:pPr lvl="0">
              <a:buSzPct val="25000"/>
            </a:pPr>
            <a:endParaRPr lang="en-US" dirty="0">
              <a:sym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3D6722-9B4D-4E29-B226-C325925A8118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63428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19600"/>
            <a:ext cx="5486400" cy="4114800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3D6722-9B4D-4E29-B226-C325925A8118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65320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4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endParaRPr lang="en-US" dirty="0"/>
          </a:p>
        </p:txBody>
      </p:sp>
      <p:sp>
        <p:nvSpPr>
          <p:cNvPr id="34819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21A9593D-7349-423A-B3FD-C0687833852C}" type="slidenum">
              <a:rPr lang="en-US" smtClean="0">
                <a:latin typeface="Calibri" pitchFamily="34" charset="0"/>
                <a:ea typeface="ヒラギノ角ゴ Pro W3"/>
                <a:cs typeface="ヒラギノ角ゴ Pro W3"/>
              </a:rPr>
              <a:pPr/>
              <a:t>5</a:t>
            </a:fld>
            <a:endParaRPr lang="en-US">
              <a:latin typeface="Calibri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648200"/>
          </a:xfrm>
        </p:spPr>
        <p:txBody>
          <a:bodyPr/>
          <a:lstStyle/>
          <a:p>
            <a:pPr lvl="0">
              <a:buSzPct val="25000"/>
            </a:pPr>
            <a:endParaRPr lang="en-US" dirty="0">
              <a:sym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3D6722-9B4D-4E29-B226-C325925A8118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0033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buSzPct val="25000"/>
            </a:pPr>
            <a:endParaRPr lang="en-US" dirty="0">
              <a:sym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3D6722-9B4D-4E29-B226-C325925A8118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01358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buSzPct val="25000"/>
            </a:pPr>
            <a:endParaRPr lang="en-US" dirty="0">
              <a:sym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3D6722-9B4D-4E29-B226-C325925A8118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45443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buSzPct val="25000"/>
            </a:pPr>
            <a:endParaRPr lang="en-US" dirty="0">
              <a:sym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3D6722-9B4D-4E29-B226-C325925A8118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046693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5" name="Notes Placeholder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3D6722-9B4D-4E29-B226-C325925A8118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277218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648200"/>
          </a:xfrm>
        </p:spPr>
        <p:txBody>
          <a:bodyPr/>
          <a:lstStyle/>
          <a:p>
            <a:pPr lvl="0">
              <a:buSzPct val="25000"/>
            </a:pPr>
            <a:endParaRPr lang="en-US" dirty="0">
              <a:sym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3D6722-9B4D-4E29-B226-C325925A8118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583293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196083-5C37-8041-9477-EF3CED45B519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891643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495800"/>
          </a:xfrm>
        </p:spPr>
        <p:txBody>
          <a:bodyPr/>
          <a:lstStyle/>
          <a:p>
            <a:pPr lvl="0">
              <a:buSzPct val="25000"/>
            </a:pPr>
            <a:endParaRPr lang="en-US" dirty="0">
              <a:sym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3D6722-9B4D-4E29-B226-C325925A8118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898279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buSzPct val="25000"/>
            </a:pPr>
            <a:endParaRPr lang="en-US" dirty="0">
              <a:sym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3D6722-9B4D-4E29-B226-C325925A8118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88534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6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60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endParaRPr lang="en-US" dirty="0"/>
          </a:p>
        </p:txBody>
      </p:sp>
      <p:sp>
        <p:nvSpPr>
          <p:cNvPr id="83971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56349496-01F1-4639-B86E-AA9970A9CB2B}" type="slidenum">
              <a:rPr lang="en-US" smtClean="0">
                <a:latin typeface="Calibri" pitchFamily="34" charset="0"/>
                <a:ea typeface="ヒラギノ角ゴ Pro W3"/>
                <a:cs typeface="ヒラギノ角ゴ Pro W3"/>
              </a:rPr>
              <a:pPr/>
              <a:t>15</a:t>
            </a:fld>
            <a:endParaRPr lang="en-US" dirty="0">
              <a:latin typeface="Calibri" pitchFamily="34" charset="0"/>
              <a:ea typeface="ヒラギノ角ゴ Pro W3"/>
              <a:cs typeface="ヒラギノ角ゴ Pro W3"/>
            </a:endParaRPr>
          </a:p>
        </p:txBody>
      </p:sp>
    </p:spTree>
    <p:extLst>
      <p:ext uri="{BB962C8B-B14F-4D97-AF65-F5344CB8AC3E}">
        <p14:creationId xmlns:p14="http://schemas.microsoft.com/office/powerpoint/2010/main" val="97688448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buSzPct val="25000"/>
            </a:pPr>
            <a:endParaRPr lang="en-US" dirty="0">
              <a:sym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3D6722-9B4D-4E29-B226-C325925A8118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780544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buSzPct val="25000"/>
            </a:pPr>
            <a:endParaRPr lang="en-US" dirty="0">
              <a:sym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3D6722-9B4D-4E29-B226-C325925A8118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541613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lvl="0" indent="-171450">
              <a:buClr>
                <a:schemeClr val="dk1"/>
              </a:buClr>
              <a:buSzPct val="100000"/>
              <a:buFont typeface="Arial"/>
              <a:buChar char="•"/>
            </a:pPr>
            <a:endParaRPr lang="en-US" dirty="0">
              <a:sym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3D6722-9B4D-4E29-B226-C325925A8118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374974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buSzPct val="25000"/>
            </a:pPr>
            <a:endParaRPr lang="en-IN" dirty="0">
              <a:sym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3D6722-9B4D-4E29-B226-C325925A8118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445753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buSzPct val="25000"/>
            </a:pPr>
            <a:endParaRPr lang="en-IN" dirty="0">
              <a:sym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3D6722-9B4D-4E29-B226-C325925A8118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906610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buSzPct val="25000"/>
            </a:pPr>
            <a:endParaRPr lang="en-US" dirty="0">
              <a:sym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3D6722-9B4D-4E29-B226-C325925A8118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050146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buSzPct val="25000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3D6722-9B4D-4E29-B226-C325925A8118}" type="slidenum">
              <a:rPr lang="en-US" smtClean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366523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3D6722-9B4D-4E29-B226-C325925A8118}" type="slidenum">
              <a:rPr lang="en-US" smtClean="0"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043169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buClr>
                <a:schemeClr val="dk1"/>
              </a:buClr>
              <a:buSzPct val="25000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3D6722-9B4D-4E29-B226-C325925A8118}" type="slidenum">
              <a:rPr lang="en-US" smtClean="0"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635788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buClr>
                <a:schemeClr val="dk1"/>
              </a:buClr>
              <a:buSzPct val="25000"/>
            </a:pP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3D6722-9B4D-4E29-B226-C325925A8118}" type="slidenum">
              <a:rPr lang="en-US" smtClean="0"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314826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buClr>
                <a:schemeClr val="dk1"/>
              </a:buClr>
              <a:buSzPct val="25000"/>
            </a:pP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3D6722-9B4D-4E29-B226-C325925A8118}" type="slidenum">
              <a:rPr lang="en-US" smtClean="0"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386849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buClr>
                <a:schemeClr val="dk1"/>
              </a:buClr>
              <a:buSzPct val="25000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3D6722-9B4D-4E29-B226-C325925A8118}" type="slidenum">
              <a:rPr lang="en-US" smtClean="0"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771032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lvl="0" indent="-228600">
              <a:buSzPct val="25000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3D6722-9B4D-4E29-B226-C325925A8118}" type="slidenum">
              <a:rPr lang="en-US" smtClean="0"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884436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buClr>
                <a:schemeClr val="dk1"/>
              </a:buClr>
              <a:buSzPct val="25000"/>
            </a:pP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3D6722-9B4D-4E29-B226-C325925A8118}" type="slidenum">
              <a:rPr lang="en-US" smtClean="0"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092290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buClr>
                <a:schemeClr val="dk1"/>
              </a:buClr>
              <a:buSzPct val="25000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3D6722-9B4D-4E29-B226-C325925A8118}" type="slidenum">
              <a:rPr lang="en-US" smtClean="0"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90068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buClr>
                <a:schemeClr val="dk1"/>
              </a:buClr>
              <a:buSzPct val="25000"/>
            </a:pP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3D6722-9B4D-4E29-B226-C325925A8118}" type="slidenum">
              <a:rPr lang="en-US" smtClean="0"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232445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buSzPct val="25000"/>
            </a:pP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3D6722-9B4D-4E29-B226-C325925A8118}" type="slidenum">
              <a:rPr lang="en-US" smtClean="0"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81346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4252913" cy="2589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rgbClr val="06353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rgbClr val="06353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913232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6353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rgbClr val="063532"/>
                </a:solidFill>
              </a:defRPr>
            </a:lvl1pPr>
            <a:lvl2pPr>
              <a:defRPr>
                <a:solidFill>
                  <a:srgbClr val="063532"/>
                </a:solidFill>
              </a:defRPr>
            </a:lvl2pPr>
            <a:lvl3pPr>
              <a:defRPr>
                <a:solidFill>
                  <a:srgbClr val="063532"/>
                </a:solidFill>
              </a:defRPr>
            </a:lvl3pPr>
            <a:lvl4pPr>
              <a:defRPr>
                <a:solidFill>
                  <a:srgbClr val="063532"/>
                </a:solidFill>
              </a:defRPr>
            </a:lvl4pPr>
            <a:lvl5pPr>
              <a:defRPr>
                <a:solidFill>
                  <a:srgbClr val="06353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>
                <a:solidFill>
                  <a:srgbClr val="063532"/>
                </a:solidFill>
              </a:defRPr>
            </a:lvl1pPr>
          </a:lstStyle>
          <a:p>
            <a:pPr>
              <a:defRPr/>
            </a:pPr>
            <a:fld id="{A39DBBCA-7DC4-6540-9997-31BE66BFD8BF}" type="datetimeFigureOut">
              <a:rPr lang="en-GB"/>
              <a:pPr>
                <a:defRPr/>
              </a:pPr>
              <a:t>09/07/2025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063532"/>
                </a:solidFill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>
                <a:solidFill>
                  <a:srgbClr val="063532"/>
                </a:solidFill>
              </a:defRPr>
            </a:lvl1pPr>
          </a:lstStyle>
          <a:p>
            <a:pPr>
              <a:defRPr/>
            </a:pPr>
            <a:fld id="{B4C38821-B49A-9C4E-B57D-3C5DC6EC92F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06013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751F77-6922-8A42-8DDB-31B45856657E}" type="datetimeFigureOut">
              <a:rPr lang="en-GB"/>
              <a:pPr>
                <a:defRPr/>
              </a:pPr>
              <a:t>09/07/2025</a:t>
            </a:fld>
            <a:endParaRPr lang="en-GB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E1F878-75C8-E248-8043-043CBF37112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09668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4D3BC86-80CA-6C48-886B-E52FEEAD8B52}" type="datetimeFigureOut">
              <a:rPr lang="en-GB"/>
              <a:pPr>
                <a:defRPr/>
              </a:pPr>
              <a:t>09/07/2025</a:t>
            </a:fld>
            <a:endParaRPr lang="en-GB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BB19BF-F404-C24D-80BB-50C4F751A7D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298223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904BD1-2EDD-6F4C-AE02-D5C6CA08777E}" type="datetimeFigureOut">
              <a:rPr lang="en-GB"/>
              <a:pPr>
                <a:defRPr/>
              </a:pPr>
              <a:t>09/07/2025</a:t>
            </a:fld>
            <a:endParaRPr lang="en-GB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AC65407-D129-8D42-9BA8-69A441B514C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3927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earning Objectiv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143001"/>
            <a:ext cx="10972800" cy="4983163"/>
          </a:xfrm>
        </p:spPr>
        <p:txBody>
          <a:bodyPr/>
          <a:lstStyle>
            <a:lvl1pPr marL="228600" indent="-228600">
              <a:buClr>
                <a:srgbClr val="007FA3"/>
              </a:buClr>
              <a:buSzPct val="100000"/>
              <a:defRPr lang="en-US" dirty="0" smtClean="0"/>
            </a:lvl1pPr>
            <a:lvl2pPr marL="569913" indent="-285750">
              <a:buClr>
                <a:srgbClr val="007FA3"/>
              </a:buClr>
              <a:defRPr lang="en-US" sz="2400" dirty="0" smtClean="0"/>
            </a:lvl2pPr>
            <a:lvl3pPr>
              <a:buClr>
                <a:srgbClr val="007FA3"/>
              </a:buClr>
              <a:defRPr lang="en-US" dirty="0" smtClean="0"/>
            </a:lvl3pPr>
            <a:lvl4pPr>
              <a:buClr>
                <a:srgbClr val="007FA3"/>
              </a:buClr>
              <a:defRPr sz="1600"/>
            </a:lvl4pPr>
            <a:lvl5pPr>
              <a:buClr>
                <a:srgbClr val="007FA3"/>
              </a:buClr>
              <a:defRPr sz="1600"/>
            </a:lvl5pPr>
            <a:lvl6pPr>
              <a:buClr>
                <a:srgbClr val="007FA3"/>
              </a:buClr>
              <a:defRPr sz="1600"/>
            </a:lvl6pPr>
            <a:lvl7pPr>
              <a:buClr>
                <a:srgbClr val="007FA3"/>
              </a:buClr>
              <a:defRPr sz="1600"/>
            </a:lvl7pPr>
            <a:lvl8pPr>
              <a:buClr>
                <a:srgbClr val="007FA3"/>
              </a:buClr>
              <a:defRPr sz="1600"/>
            </a:lvl8pPr>
            <a:lvl9pPr>
              <a:buClr>
                <a:srgbClr val="007FA3"/>
              </a:buCl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</a:t>
            </a:r>
          </a:p>
          <a:p>
            <a:pPr lvl="6"/>
            <a:r>
              <a:rPr lang="en-US" dirty="0"/>
              <a:t>Seventh</a:t>
            </a:r>
          </a:p>
          <a:p>
            <a:pPr lvl="7"/>
            <a:r>
              <a:rPr lang="en-US" dirty="0"/>
              <a:t>Eighth</a:t>
            </a:r>
          </a:p>
          <a:p>
            <a:pPr lvl="8"/>
            <a:r>
              <a:rPr lang="en-US" dirty="0"/>
              <a:t>Ninth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15372"/>
            <a:ext cx="10972800" cy="622828"/>
          </a:xfrm>
        </p:spPr>
        <p:txBody>
          <a:bodyPr/>
          <a:lstStyle>
            <a:lvl1pPr>
              <a:defRPr sz="36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2976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2163763"/>
          </a:xfrm>
        </p:spPr>
        <p:txBody>
          <a:bodyPr/>
          <a:lstStyle>
            <a:lvl1pPr>
              <a:defRPr sz="2600"/>
            </a:lvl1pPr>
            <a:lvl2pPr>
              <a:defRPr sz="2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3"/>
          </p:nvPr>
        </p:nvSpPr>
        <p:spPr>
          <a:xfrm>
            <a:off x="609600" y="3962401"/>
            <a:ext cx="10972800" cy="2163763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25292" y="6172201"/>
            <a:ext cx="11460480" cy="2354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F6EFB-3F44-496C-A842-1E0B3D3B975A}" type="datetimeFigureOut">
              <a:rPr lang="en-US" smtClean="0"/>
              <a:t>7/9/2025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56685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Text Placeholder 7"/>
          <p:cNvSpPr>
            <a:spLocks noGrp="1"/>
          </p:cNvSpPr>
          <p:nvPr>
            <p:ph type="body" sz="quarter" idx="13"/>
          </p:nvPr>
        </p:nvSpPr>
        <p:spPr>
          <a:xfrm>
            <a:off x="1219200" y="1600200"/>
            <a:ext cx="9550400" cy="381000"/>
          </a:xfrm>
        </p:spPr>
        <p:txBody>
          <a:bodyPr/>
          <a:lstStyle>
            <a:lvl1pPr algn="ctr">
              <a:buNone/>
              <a:defRPr sz="2800" b="1" i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2"/>
          <p:cNvSpPr>
            <a:spLocks noGrp="1"/>
          </p:cNvSpPr>
          <p:nvPr>
            <p:ph type="dt" sz="half" idx="14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ea typeface="ヒラギノ角ゴ Pro W3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5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ea typeface="ヒラギノ角ゴ Pro W3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36407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B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x-none"/>
              <a:t>Click to edit Master title style</a:t>
            </a:r>
            <a:endParaRPr lang="en-GB" altLang="x-none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x-none"/>
              <a:t>Click to edit Master text styles</a:t>
            </a:r>
          </a:p>
          <a:p>
            <a:pPr lvl="1"/>
            <a:r>
              <a:rPr lang="en-US" altLang="x-none"/>
              <a:t>Second level</a:t>
            </a:r>
          </a:p>
          <a:p>
            <a:pPr lvl="2"/>
            <a:r>
              <a:rPr lang="en-US" altLang="x-none"/>
              <a:t>Third level</a:t>
            </a:r>
          </a:p>
          <a:p>
            <a:pPr lvl="3"/>
            <a:r>
              <a:rPr lang="en-US" altLang="x-none"/>
              <a:t>Fourth level</a:t>
            </a:r>
          </a:p>
          <a:p>
            <a:pPr lvl="4"/>
            <a:r>
              <a:rPr lang="en-US" altLang="x-none"/>
              <a:t>Fifth level</a:t>
            </a:r>
            <a:endParaRPr lang="en-GB" alt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solidFill>
                  <a:srgbClr val="063532"/>
                </a:solidFill>
                <a:latin typeface="+mn-lt"/>
              </a:defRPr>
            </a:lvl1pPr>
          </a:lstStyle>
          <a:p>
            <a:pPr>
              <a:defRPr/>
            </a:pPr>
            <a:fld id="{168889EE-97AD-3F4D-BA1D-6B54434E1003}" type="datetimeFigureOut">
              <a:rPr lang="en-GB"/>
              <a:pPr>
                <a:defRPr/>
              </a:pPr>
              <a:t>09/07/2025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rgbClr val="063532"/>
                </a:solidFill>
                <a:latin typeface="+mn-lt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solidFill>
                  <a:srgbClr val="063532"/>
                </a:solidFill>
                <a:latin typeface="+mn-lt"/>
              </a:defRPr>
            </a:lvl1pPr>
          </a:lstStyle>
          <a:p>
            <a:pPr>
              <a:defRPr/>
            </a:pPr>
            <a:fld id="{BE201BCD-EAB9-1249-BACA-AF87BAD15DF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4" r:id="rId3"/>
    <p:sldLayoutId id="2147483665" r:id="rId4"/>
    <p:sldLayoutId id="2147483666" r:id="rId5"/>
    <p:sldLayoutId id="2147483670" r:id="rId6"/>
    <p:sldLayoutId id="2147483671" r:id="rId7"/>
    <p:sldLayoutId id="2147483672" r:id="rId8"/>
  </p:sldLayoutIdLst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rgbClr val="063532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063532"/>
          </a:solidFill>
          <a:latin typeface="Calibri Light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063532"/>
          </a:solidFill>
          <a:latin typeface="Calibri Light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063532"/>
          </a:solidFill>
          <a:latin typeface="Calibri Light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063532"/>
          </a:solidFill>
          <a:latin typeface="Calibri Light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063532"/>
          </a:solidFill>
          <a:latin typeface="Calibri Light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063532"/>
          </a:solidFill>
          <a:latin typeface="Calibri Light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063532"/>
          </a:solidFill>
          <a:latin typeface="Calibri Light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063532"/>
          </a:solidFill>
          <a:latin typeface="Calibri Light" charset="0"/>
        </a:defRPr>
      </a:lvl9pPr>
    </p:titleStyle>
    <p:bodyStyle>
      <a:lvl1pPr marL="228600" indent="-228600" algn="l" rtl="0" eaLnBrk="1" fontAlgn="base" hangingPunct="1">
        <a:lnSpc>
          <a:spcPct val="90000"/>
        </a:lnSpc>
        <a:spcBef>
          <a:spcPts val="1000"/>
        </a:spcBef>
        <a:spcAft>
          <a:spcPct val="0"/>
        </a:spcAft>
        <a:buFont typeface="Arial" charset="0"/>
        <a:buChar char="•"/>
        <a:defRPr sz="2800" kern="1200">
          <a:solidFill>
            <a:srgbClr val="063532"/>
          </a:solidFill>
          <a:latin typeface="+mn-lt"/>
          <a:ea typeface="+mn-ea"/>
          <a:cs typeface="+mn-cs"/>
        </a:defRPr>
      </a:lvl1pPr>
      <a:lvl2pPr marL="6858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400" kern="1200">
          <a:solidFill>
            <a:srgbClr val="063532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000" kern="1200">
          <a:solidFill>
            <a:srgbClr val="063532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kern="1200">
          <a:solidFill>
            <a:srgbClr val="063532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kern="1200">
          <a:solidFill>
            <a:srgbClr val="06353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atalogchoice.org/" TargetMode="Externa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onotcall.gov/" TargetMode="Externa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ctrTitle"/>
          </p:nvPr>
        </p:nvSpPr>
        <p:spPr>
          <a:xfrm>
            <a:off x="1387929" y="1122362"/>
            <a:ext cx="9280071" cy="2849563"/>
          </a:xfrm>
        </p:spPr>
        <p:txBody>
          <a:bodyPr/>
          <a:lstStyle/>
          <a:p>
            <a:pPr>
              <a:defRPr/>
            </a:pPr>
            <a:br>
              <a:rPr lang="en-US" b="1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accent2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ea typeface="ＭＳ Ｐゴシック" charset="0"/>
              </a:rPr>
            </a:br>
            <a:br>
              <a:rPr lang="en-US" b="1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accent2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ea typeface="ＭＳ Ｐゴシック" charset="0"/>
              </a:rPr>
            </a:br>
            <a:r>
              <a:rPr lang="en-US" sz="3600" b="1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accent2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ea typeface="ＭＳ Ｐゴシック" charset="0"/>
              </a:rPr>
              <a:t>STRATEGIC MARKETING </a:t>
            </a:r>
            <a:br>
              <a:rPr lang="en-US" sz="3600" b="1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accent2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ea typeface="ＭＳ Ｐゴシック" charset="0"/>
              </a:rPr>
            </a:br>
            <a:endParaRPr lang="en-US" sz="3600" b="1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accent2"/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ea typeface="ＭＳ Ｐゴシック" charset="0"/>
            </a:endParaRPr>
          </a:p>
        </p:txBody>
      </p:sp>
      <p:sp>
        <p:nvSpPr>
          <p:cNvPr id="4099" name="Subtitle 2"/>
          <p:cNvSpPr>
            <a:spLocks noGrp="1"/>
          </p:cNvSpPr>
          <p:nvPr>
            <p:ph type="subTitle" idx="1"/>
          </p:nvPr>
        </p:nvSpPr>
        <p:spPr>
          <a:xfrm>
            <a:off x="2023381" y="3971925"/>
            <a:ext cx="8463643" cy="2190750"/>
          </a:xfrm>
        </p:spPr>
        <p:txBody>
          <a:bodyPr/>
          <a:lstStyle/>
          <a:p>
            <a:r>
              <a:rPr lang="en-GB" altLang="x-none" sz="3600" dirty="0"/>
              <a:t>Managing Marketing Communications</a:t>
            </a:r>
          </a:p>
          <a:p>
            <a:r>
              <a:rPr lang="en-GB" altLang="x-none" sz="3600" dirty="0">
                <a:solidFill>
                  <a:srgbClr val="7030A0"/>
                </a:solidFill>
              </a:rPr>
              <a:t>Prof. Mohammed Rafiq</a:t>
            </a:r>
          </a:p>
          <a:p>
            <a:r>
              <a:rPr lang="en-GB" altLang="x-none" sz="3600" dirty="0">
                <a:solidFill>
                  <a:srgbClr val="7030A0"/>
                </a:solidFill>
              </a:rPr>
              <a:t>Professor of Marketing</a:t>
            </a:r>
          </a:p>
          <a:p>
            <a:endParaRPr lang="en-GB" altLang="x-none" sz="3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31859C"/>
                </a:solidFill>
                <a:ea typeface="Calibri"/>
                <a:cs typeface="Calibri"/>
                <a:sym typeface="Calibri"/>
              </a:rPr>
              <a:t>Learning Objectives</a:t>
            </a:r>
            <a:endParaRPr lang="en-IN" sz="2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990600"/>
            <a:ext cx="8769178" cy="5257800"/>
          </a:xfrm>
        </p:spPr>
        <p:txBody>
          <a:bodyPr>
            <a:normAutofit/>
          </a:bodyPr>
          <a:lstStyle/>
          <a:p>
            <a:pPr>
              <a:spcBef>
                <a:spcPts val="1300"/>
              </a:spcBef>
              <a:buSzPct val="99615"/>
            </a:pPr>
            <a:r>
              <a:rPr lang="en-US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Understand the </a:t>
            </a:r>
            <a:r>
              <a:rPr lang="en-US" dirty="0">
                <a:solidFill>
                  <a:srgbClr val="FF0000"/>
                </a:solidFill>
                <a:ea typeface="Calibri"/>
                <a:cs typeface="Calibri"/>
                <a:sym typeface="Calibri"/>
              </a:rPr>
              <a:t>communication process and the traditional promotion mix.</a:t>
            </a:r>
          </a:p>
          <a:p>
            <a:r>
              <a:rPr lang="en-US" dirty="0"/>
              <a:t>Discuss the need for integrated marketing communications.</a:t>
            </a:r>
          </a:p>
          <a:p>
            <a:pPr>
              <a:spcBef>
                <a:spcPts val="1300"/>
              </a:spcBef>
              <a:buSzPct val="99615"/>
            </a:pPr>
            <a:r>
              <a:rPr lang="en-US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Describe the steps in traditional and multichannel promotion planning.</a:t>
            </a:r>
          </a:p>
          <a:p>
            <a:pPr>
              <a:spcBef>
                <a:spcPts val="1300"/>
              </a:spcBef>
              <a:buSzPct val="99615"/>
            </a:pPr>
            <a:r>
              <a:rPr lang="en-US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Explain the role of </a:t>
            </a:r>
            <a:r>
              <a:rPr lang="en-US" i="1" dirty="0">
                <a:solidFill>
                  <a:srgbClr val="FF0000"/>
                </a:solidFill>
                <a:ea typeface="Calibri"/>
                <a:cs typeface="Calibri"/>
                <a:sym typeface="Calibri"/>
              </a:rPr>
              <a:t>Hierarchy of Effects</a:t>
            </a:r>
          </a:p>
          <a:p>
            <a:pPr>
              <a:spcBef>
                <a:spcPts val="1300"/>
              </a:spcBef>
              <a:buSzPct val="99615"/>
            </a:pPr>
            <a:r>
              <a:rPr lang="en-US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Explain the roles played by the different elements of the promotion mix in the communication strategy</a:t>
            </a:r>
          </a:p>
          <a:p>
            <a:pPr>
              <a:spcBef>
                <a:spcPts val="1300"/>
              </a:spcBef>
              <a:buSzPct val="99615"/>
            </a:pPr>
            <a:endParaRPr lang="en-US" sz="1900" dirty="0"/>
          </a:p>
        </p:txBody>
      </p:sp>
    </p:spTree>
    <p:extLst>
      <p:ext uri="{BB962C8B-B14F-4D97-AF65-F5344CB8AC3E}">
        <p14:creationId xmlns:p14="http://schemas.microsoft.com/office/powerpoint/2010/main" val="8111767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54700"/>
            <a:ext cx="8229600" cy="1040700"/>
          </a:xfrm>
        </p:spPr>
        <p:txBody>
          <a:bodyPr>
            <a:normAutofit fontScale="90000"/>
          </a:bodyPr>
          <a:lstStyle/>
          <a:p>
            <a:r>
              <a:rPr lang="en-US" dirty="0">
                <a:ea typeface="Calibri"/>
                <a:cs typeface="Calibri"/>
                <a:sym typeface="Calibri"/>
              </a:rPr>
              <a:t>Communication Models in a Digital World That is “Always On”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3100" y="1971676"/>
            <a:ext cx="8305800" cy="4190999"/>
          </a:xfrm>
        </p:spPr>
        <p:txBody>
          <a:bodyPr>
            <a:normAutofit lnSpcReduction="10000"/>
          </a:bodyPr>
          <a:lstStyle/>
          <a:p>
            <a:pPr marL="255600" indent="-255600"/>
            <a:r>
              <a:rPr lang="en-US" sz="32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Marketing messages can assume many forms with a variety of objectives.</a:t>
            </a:r>
            <a:endParaRPr lang="en-US" sz="3200" dirty="0"/>
          </a:p>
          <a:p>
            <a:pPr marL="741600" indent="-284400">
              <a:spcBef>
                <a:spcPts val="1700"/>
              </a:spcBef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From quirky TV commercials and viral videos to blimps with blinking messages</a:t>
            </a:r>
          </a:p>
          <a:p>
            <a:pPr marL="741600" indent="-28440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Savvy marketers know each element of the marketing mix is a form of communication! </a:t>
            </a:r>
          </a:p>
          <a:p>
            <a:pPr>
              <a:spcBef>
                <a:spcPts val="1700"/>
              </a:spcBef>
            </a:pPr>
            <a:r>
              <a:rPr lang="en-US" sz="32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All marketing communications aim to either </a:t>
            </a:r>
            <a:r>
              <a:rPr lang="en-US" sz="3200" dirty="0">
                <a:solidFill>
                  <a:srgbClr val="FF0000"/>
                </a:solidFill>
                <a:ea typeface="Calibri"/>
                <a:cs typeface="Calibri"/>
                <a:sym typeface="Calibri"/>
              </a:rPr>
              <a:t>inform, remind, persuade, or build relationships.</a:t>
            </a:r>
          </a:p>
        </p:txBody>
      </p:sp>
    </p:spTree>
    <p:extLst>
      <p:ext uri="{BB962C8B-B14F-4D97-AF65-F5344CB8AC3E}">
        <p14:creationId xmlns:p14="http://schemas.microsoft.com/office/powerpoint/2010/main" val="7658449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1981200" y="235650"/>
            <a:ext cx="8229600" cy="1040700"/>
          </a:xfrm>
        </p:spPr>
        <p:txBody>
          <a:bodyPr>
            <a:normAutofit fontScale="90000"/>
          </a:bodyPr>
          <a:lstStyle/>
          <a:p>
            <a:r>
              <a:rPr lang="en-US" dirty="0">
                <a:ea typeface="Calibri"/>
                <a:cs typeface="Calibri"/>
                <a:sym typeface="Calibri"/>
              </a:rPr>
              <a:t>Integrated Marketing Communications (IMC)</a:t>
            </a:r>
            <a:endParaRPr lang="en-US" dirty="0">
              <a:sym typeface="Calibri"/>
            </a:endParaRP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1981200" y="1457324"/>
            <a:ext cx="8305800" cy="5057775"/>
          </a:xfrm>
        </p:spPr>
        <p:txBody>
          <a:bodyPr/>
          <a:lstStyle/>
          <a:p>
            <a:pPr marL="255600" indent="-255600"/>
            <a:r>
              <a:rPr lang="en-US" sz="3200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Integrated marketing communication (IMC) </a:t>
            </a:r>
            <a:r>
              <a:rPr lang="en-US" sz="32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involves the planning, execution, and evaluation of coordinated, brand communication programs over time to targeted audiences.</a:t>
            </a:r>
            <a:endParaRPr lang="en-US" sz="3200" b="1" i="1" dirty="0">
              <a:solidFill>
                <a:schemeClr val="dk1"/>
              </a:solidFill>
              <a:ea typeface="Calibri"/>
              <a:cs typeface="Calibri"/>
              <a:sym typeface="Calibri"/>
            </a:endParaRPr>
          </a:p>
          <a:p>
            <a:pPr marL="798750" lvl="1" indent="-342900">
              <a:defRPr/>
            </a:pPr>
            <a:r>
              <a:rPr lang="en-US" sz="32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Aim is to deliver consistent messaging across platforms.</a:t>
            </a:r>
          </a:p>
          <a:p>
            <a:pPr marL="798750" lvl="1" indent="-342900">
              <a:defRPr/>
            </a:pPr>
            <a:r>
              <a:rPr lang="en-US" sz="32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Must use a </a:t>
            </a:r>
            <a:r>
              <a:rPr lang="en-US" sz="3200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multichannel promotion strategy </a:t>
            </a:r>
            <a:r>
              <a:rPr lang="en-US" sz="32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which </a:t>
            </a:r>
            <a:r>
              <a:rPr lang="en-US" sz="3200" dirty="0">
                <a:solidFill>
                  <a:srgbClr val="FF0000"/>
                </a:solidFill>
                <a:ea typeface="Calibri"/>
                <a:cs typeface="Calibri"/>
                <a:sym typeface="Calibri"/>
              </a:rPr>
              <a:t>combines</a:t>
            </a:r>
            <a:r>
              <a:rPr lang="en-US" sz="32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 </a:t>
            </a:r>
            <a:r>
              <a:rPr lang="en-US" sz="3200" dirty="0">
                <a:solidFill>
                  <a:srgbClr val="FF0000"/>
                </a:solidFill>
                <a:ea typeface="Calibri"/>
                <a:cs typeface="Calibri"/>
                <a:sym typeface="Calibri"/>
              </a:rPr>
              <a:t>traditional marketing communication with social media and other online activities</a:t>
            </a:r>
            <a:r>
              <a:rPr lang="en-US" sz="32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231115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228600"/>
            <a:ext cx="7772400" cy="1143000"/>
          </a:xfrm>
        </p:spPr>
        <p:txBody>
          <a:bodyPr/>
          <a:lstStyle/>
          <a:p>
            <a:r>
              <a:rPr lang="en-US"/>
              <a:t>Integrated Marketing Communications Strategy</a:t>
            </a:r>
          </a:p>
        </p:txBody>
      </p:sp>
      <p:pic>
        <p:nvPicPr>
          <p:cNvPr id="33794" name="Picture 8" descr="fig14_01wo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886200" y="2019300"/>
            <a:ext cx="4495800" cy="430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3795" name="Rectangle 3"/>
          <p:cNvSpPr>
            <a:spLocks noChangeArrowheads="1"/>
          </p:cNvSpPr>
          <p:nvPr/>
        </p:nvSpPr>
        <p:spPr bwMode="auto">
          <a:xfrm>
            <a:off x="1981200" y="6477000"/>
            <a:ext cx="4572000" cy="215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800">
                <a:cs typeface="ヒラギノ角ゴ Pro W3"/>
              </a:rPr>
              <a:t>Copyright ©2014 by Pearson Education</a:t>
            </a:r>
            <a:endParaRPr lang="en-US">
              <a:cs typeface="ヒラギノ角ゴ Pro W3"/>
            </a:endParaRPr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981200" y="330900"/>
            <a:ext cx="8229600" cy="507300"/>
          </a:xfrm>
        </p:spPr>
        <p:txBody>
          <a:bodyPr>
            <a:normAutofit fontScale="90000"/>
          </a:bodyPr>
          <a:lstStyle/>
          <a:p>
            <a:r>
              <a:rPr lang="en-US" sz="3600" dirty="0">
                <a:sym typeface="Calibri"/>
              </a:rPr>
              <a:t>The Traditional Promotional Mix</a:t>
            </a:r>
            <a:endParaRPr lang="en-IN" sz="3600" dirty="0"/>
          </a:p>
        </p:txBody>
      </p:sp>
      <p:sp>
        <p:nvSpPr>
          <p:cNvPr id="10" name="Content Placeholder 3"/>
          <p:cNvSpPr>
            <a:spLocks noGrp="1"/>
          </p:cNvSpPr>
          <p:nvPr>
            <p:ph idx="13"/>
          </p:nvPr>
        </p:nvSpPr>
        <p:spPr>
          <a:xfrm>
            <a:off x="2124075" y="1628775"/>
            <a:ext cx="8229600" cy="3962400"/>
          </a:xfrm>
        </p:spPr>
        <p:txBody>
          <a:bodyPr/>
          <a:lstStyle/>
          <a:p>
            <a:pPr marL="0" indent="0">
              <a:buSzPct val="100000"/>
              <a:buNone/>
            </a:pPr>
            <a:r>
              <a:rPr lang="en-US" sz="2800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Promotion mix </a:t>
            </a:r>
            <a:r>
              <a:rPr lang="en-US" sz="28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refers to communication elements that the marketer controls.</a:t>
            </a:r>
            <a:endParaRPr lang="en-US" sz="2800" dirty="0"/>
          </a:p>
          <a:p>
            <a:pPr marL="798750" lvl="1" indent="-342900"/>
            <a:r>
              <a:rPr lang="en-US" sz="2800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Mass (</a:t>
            </a:r>
            <a:r>
              <a:rPr lang="en-US" sz="2800" b="1" i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one-to-many</a:t>
            </a:r>
            <a:r>
              <a:rPr lang="en-US" sz="2800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) communication: </a:t>
            </a:r>
            <a:r>
              <a:rPr lang="en-US" sz="2800" dirty="0"/>
              <a:t>i</a:t>
            </a:r>
            <a:r>
              <a:rPr lang="en-US" sz="28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ncludes advertising, sales promotion, and public relations.</a:t>
            </a:r>
          </a:p>
          <a:p>
            <a:pPr marL="798750" lvl="1" indent="-342900"/>
            <a:r>
              <a:rPr lang="en-US" sz="2800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Personal (</a:t>
            </a:r>
            <a:r>
              <a:rPr lang="en-US" sz="2800" b="1" i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one-to-one</a:t>
            </a:r>
            <a:r>
              <a:rPr lang="en-US" sz="2800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) communication</a:t>
            </a:r>
            <a:r>
              <a:rPr lang="en-US" sz="28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:</a:t>
            </a:r>
          </a:p>
          <a:p>
            <a:pPr marL="1255950" lvl="2" indent="-342900"/>
            <a:r>
              <a:rPr lang="en-US" sz="28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 includes personal selling and direct marketing.</a:t>
            </a:r>
          </a:p>
          <a:p>
            <a:pPr marL="1255950" lvl="2" indent="-342900"/>
            <a:r>
              <a:rPr lang="en-US" sz="28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 includes </a:t>
            </a:r>
            <a:r>
              <a:rPr lang="en-US" sz="2800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Individualized/ personalized  communication/ adverts  on the web</a:t>
            </a:r>
            <a:endParaRPr lang="en-US" sz="2800" dirty="0">
              <a:solidFill>
                <a:schemeClr val="dk1"/>
              </a:solidFill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013512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304800"/>
            <a:ext cx="8229600" cy="1066800"/>
          </a:xfrm>
        </p:spPr>
        <p:txBody>
          <a:bodyPr>
            <a:normAutofit fontScale="90000"/>
          </a:bodyPr>
          <a:lstStyle/>
          <a:p>
            <a:r>
              <a:rPr lang="en-US" dirty="0">
                <a:sym typeface="Calibri"/>
              </a:rPr>
              <a:t>Mass Communications: </a:t>
            </a:r>
            <a:br>
              <a:rPr lang="en-US" dirty="0">
                <a:sym typeface="Calibri"/>
              </a:rPr>
            </a:br>
            <a:r>
              <a:rPr lang="en-US" dirty="0">
                <a:sym typeface="Calibri"/>
              </a:rPr>
              <a:t>The One-to-Many Model</a:t>
            </a:r>
            <a:endParaRPr lang="en-IN" dirty="0"/>
          </a:p>
        </p:txBody>
      </p:sp>
      <p:sp>
        <p:nvSpPr>
          <p:cNvPr id="5" name="Content Placeholder 3"/>
          <p:cNvSpPr>
            <a:spLocks noGrp="1"/>
          </p:cNvSpPr>
          <p:nvPr>
            <p:ph idx="1"/>
          </p:nvPr>
        </p:nvSpPr>
        <p:spPr>
          <a:xfrm>
            <a:off x="2057400" y="2085975"/>
            <a:ext cx="8229600" cy="4267200"/>
          </a:xfrm>
          <a:prstGeom prst="rect">
            <a:avLst/>
          </a:prstGeom>
        </p:spPr>
        <p:txBody>
          <a:bodyPr/>
          <a:lstStyle/>
          <a:p>
            <a:pPr marL="255600" indent="-255600"/>
            <a:r>
              <a:rPr lang="en-US" sz="36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Some elements of the promotion mix include messages intended to reach many prospective customers at the same time.</a:t>
            </a:r>
            <a:endParaRPr lang="en-US" sz="3600" dirty="0"/>
          </a:p>
          <a:p>
            <a:pPr marL="798750" lvl="1" indent="-342900"/>
            <a:r>
              <a:rPr lang="en-US" sz="32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Advertising</a:t>
            </a:r>
          </a:p>
          <a:p>
            <a:pPr marL="798750" lvl="1" indent="-342900"/>
            <a:r>
              <a:rPr lang="en-US" sz="32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Consumer sales promotion</a:t>
            </a:r>
          </a:p>
          <a:p>
            <a:pPr marL="798750" lvl="1" indent="-342900"/>
            <a:r>
              <a:rPr lang="en-US" sz="32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Public relations</a:t>
            </a:r>
          </a:p>
        </p:txBody>
      </p:sp>
    </p:spTree>
    <p:extLst>
      <p:ext uri="{BB962C8B-B14F-4D97-AF65-F5344CB8AC3E}">
        <p14:creationId xmlns:p14="http://schemas.microsoft.com/office/powerpoint/2010/main" val="2017081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304800"/>
            <a:ext cx="8229600" cy="1066800"/>
          </a:xfrm>
        </p:spPr>
        <p:txBody>
          <a:bodyPr>
            <a:normAutofit fontScale="90000"/>
          </a:bodyPr>
          <a:lstStyle/>
          <a:p>
            <a:r>
              <a:rPr lang="en-US" dirty="0">
                <a:sym typeface="Calibri"/>
              </a:rPr>
              <a:t>Personal Communications:</a:t>
            </a:r>
            <a:br>
              <a:rPr lang="en-US" dirty="0">
                <a:sym typeface="Calibri"/>
              </a:rPr>
            </a:br>
            <a:r>
              <a:rPr lang="en-US" dirty="0">
                <a:sym typeface="Calibri"/>
              </a:rPr>
              <a:t>The One-to-One Model</a:t>
            </a:r>
            <a:endParaRPr lang="en-IN" dirty="0"/>
          </a:p>
        </p:txBody>
      </p:sp>
      <p:sp>
        <p:nvSpPr>
          <p:cNvPr id="5" name="Content Placeholder 7"/>
          <p:cNvSpPr>
            <a:spLocks noGrp="1"/>
          </p:cNvSpPr>
          <p:nvPr>
            <p:ph idx="1"/>
          </p:nvPr>
        </p:nvSpPr>
        <p:spPr>
          <a:xfrm>
            <a:off x="1981200" y="1600200"/>
            <a:ext cx="8229600" cy="4267200"/>
          </a:xfrm>
        </p:spPr>
        <p:txBody>
          <a:bodyPr/>
          <a:lstStyle/>
          <a:p>
            <a:pPr marL="255600" indent="-255600"/>
            <a:r>
              <a:rPr lang="en-US" sz="32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Marketers may sometimes prefer to communicate on a personal level.</a:t>
            </a:r>
            <a:endParaRPr lang="en-US" sz="3200" dirty="0"/>
          </a:p>
          <a:p>
            <a:pPr marL="798750" lvl="1" indent="-342900"/>
            <a:r>
              <a:rPr lang="en-US" sz="28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Personal selling</a:t>
            </a:r>
          </a:p>
          <a:p>
            <a:pPr marL="798750" lvl="1" indent="-342900"/>
            <a:r>
              <a:rPr lang="en-US" sz="28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Direct mail</a:t>
            </a:r>
          </a:p>
          <a:p>
            <a:pPr marL="798750" lvl="1" indent="-342900"/>
            <a:r>
              <a:rPr lang="en-US" sz="28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Telemarketing</a:t>
            </a:r>
          </a:p>
          <a:p>
            <a:pPr marL="798750" lvl="1" indent="-342900"/>
            <a:r>
              <a:rPr lang="en-US" sz="28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Direct marketing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27462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48220"/>
            <a:ext cx="8229600" cy="1047180"/>
          </a:xfrm>
        </p:spPr>
        <p:txBody>
          <a:bodyPr>
            <a:normAutofit/>
          </a:bodyPr>
          <a:lstStyle/>
          <a:p>
            <a:r>
              <a:rPr lang="en-US" dirty="0">
                <a:sym typeface="Calibri"/>
              </a:rPr>
              <a:t>Steps to Develop the Promotional Plan</a:t>
            </a:r>
            <a:endParaRPr lang="en-IN" dirty="0"/>
          </a:p>
        </p:txBody>
      </p:sp>
      <p:pic>
        <p:nvPicPr>
          <p:cNvPr id="5" name="Picture 337" descr="Text boxes show the following loop sequence:&#10;Step 1: Identify the Target Audiences&#10;Step 2: Establish the Communication Objectives&#10;Step 3: Determine and Allocate the Marketing Communication Budget: Determine the Total Promotion Budget; Decide on a Push or a Pull Strategy; Allocate the Budget to a Specific Promotion Mix&#10;Step 4: Design the Promotion Mix&#10;Step 5: Evaluate the Effectiveness of the Communication Program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00325" y="1371601"/>
            <a:ext cx="6791325" cy="53530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283462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91572"/>
            <a:ext cx="8229600" cy="1080028"/>
          </a:xfrm>
        </p:spPr>
        <p:txBody>
          <a:bodyPr/>
          <a:lstStyle/>
          <a:p>
            <a:r>
              <a:rPr lang="en-US" dirty="0"/>
              <a:t>Step 1: Identify the Target Audience(s)</a:t>
            </a:r>
            <a:endParaRPr lang="en-IN" dirty="0"/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1981200" y="1524001"/>
            <a:ext cx="8229600" cy="4602163"/>
          </a:xfrm>
        </p:spPr>
        <p:txBody>
          <a:bodyPr/>
          <a:lstStyle/>
          <a:p>
            <a:r>
              <a:rPr lang="en-US" sz="3200" dirty="0"/>
              <a:t>Must communicate with more than just members of the target market</a:t>
            </a:r>
          </a:p>
          <a:p>
            <a:r>
              <a:rPr lang="en-US" sz="3200" dirty="0"/>
              <a:t>Other stakeholders influence the target market</a:t>
            </a:r>
          </a:p>
          <a:p>
            <a:r>
              <a:rPr lang="en-US" sz="3200" dirty="0"/>
              <a:t>Consumers learn about products from</a:t>
            </a:r>
          </a:p>
          <a:p>
            <a:pPr lvl="1"/>
            <a:r>
              <a:rPr lang="en-US" sz="3200" dirty="0"/>
              <a:t>News media</a:t>
            </a:r>
          </a:p>
          <a:p>
            <a:pPr lvl="1"/>
            <a:r>
              <a:rPr lang="en-US" sz="3200" dirty="0"/>
              <a:t>Friends and family</a:t>
            </a:r>
          </a:p>
          <a:p>
            <a:pPr lvl="1"/>
            <a:r>
              <a:rPr lang="en-US" sz="3200" dirty="0"/>
              <a:t>Producers of competitive products</a:t>
            </a:r>
          </a:p>
          <a:p>
            <a:pPr lvl="1"/>
            <a:r>
              <a:rPr lang="en-US" sz="32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Social Media</a:t>
            </a:r>
          </a:p>
        </p:txBody>
      </p:sp>
    </p:spTree>
    <p:extLst>
      <p:ext uri="{BB962C8B-B14F-4D97-AF65-F5344CB8AC3E}">
        <p14:creationId xmlns:p14="http://schemas.microsoft.com/office/powerpoint/2010/main" val="6692470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330900"/>
            <a:ext cx="8229600" cy="1040700"/>
          </a:xfrm>
        </p:spPr>
        <p:txBody>
          <a:bodyPr>
            <a:normAutofit fontScale="90000"/>
          </a:bodyPr>
          <a:lstStyle/>
          <a:p>
            <a:r>
              <a:rPr lang="en-US" dirty="0">
                <a:sym typeface="Calibri"/>
              </a:rPr>
              <a:t>Step 2: Establish the Communication Objectives</a:t>
            </a:r>
            <a:endParaRPr lang="en-IN" dirty="0"/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1828800" y="1600200"/>
            <a:ext cx="4572000" cy="4495800"/>
          </a:xfrm>
        </p:spPr>
        <p:txBody>
          <a:bodyPr/>
          <a:lstStyle/>
          <a:p>
            <a:pPr marL="255600" indent="-255600"/>
            <a:r>
              <a:rPr lang="en-US" sz="26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Creating a new customer occurs as a result of a series of messages.</a:t>
            </a:r>
          </a:p>
          <a:p>
            <a:pPr marL="255600" indent="-255600"/>
            <a:r>
              <a:rPr lang="en-US" sz="26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Messages are designed to move the consumer closer to purchase, and hopefully, loyalty through a series of steps known as the </a:t>
            </a:r>
            <a:r>
              <a:rPr lang="en-US" sz="2600" b="1" i="1" dirty="0">
                <a:solidFill>
                  <a:srgbClr val="FF0000"/>
                </a:solidFill>
                <a:ea typeface="Calibri"/>
                <a:cs typeface="Calibri"/>
                <a:sym typeface="Calibri"/>
              </a:rPr>
              <a:t>hierarchy of effects.</a:t>
            </a:r>
            <a:endParaRPr lang="en-US" sz="2600" dirty="0">
              <a:solidFill>
                <a:srgbClr val="FF0000"/>
              </a:solidFill>
            </a:endParaRPr>
          </a:p>
        </p:txBody>
      </p:sp>
      <p:pic>
        <p:nvPicPr>
          <p:cNvPr id="1026" name="Picture 2" descr="A text illustration shows an upward sloping diagonal line with the following Communication Objectives and Examples of Promotional Efforts, starting from the bottom:&#10;Awareness: Repetitive advertising; Slogans and jingles; Publicity stunts&#10;Knowledge: Descriptive copy; Brochures; Infomercials; Public relations; Personal selling; Web site&#10;Desire: Status appeals; Sex appeals; Celebrity endorsements&#10;Purchase: Point-of-purchase displays; Coupons; Contests; Samples&#10;Loyalty: Mailing to users; Licensed merchandise; Product placement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8701" y="1600200"/>
            <a:ext cx="3921174" cy="44957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074484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78940"/>
            <a:ext cx="10515600" cy="799071"/>
          </a:xfrm>
        </p:spPr>
        <p:txBody>
          <a:bodyPr/>
          <a:lstStyle/>
          <a:p>
            <a:pPr algn="ctr"/>
            <a:r>
              <a:rPr lang="en-GB" dirty="0"/>
              <a:t>Hierarchy of Effects</a:t>
            </a:r>
            <a:br>
              <a:rPr lang="en-GB" dirty="0"/>
            </a:br>
            <a:endParaRPr lang="en-GB" dirty="0"/>
          </a:p>
        </p:txBody>
      </p:sp>
      <p:pic>
        <p:nvPicPr>
          <p:cNvPr id="4" name="Picture 2" descr="A text illustration shows an upward sloping diagonal line with the following Communication Objectives and Examples of Promotional Efforts, starting from the bottom:&#10;Awareness: Repetitive advertising; Slogans and jingles; Publicity stunts&#10;Knowledge: Descriptive copy; Brochures; Infomercials; Public relations; Personal selling; Web site&#10;Desire: Status appeals; Sex appeals; Celebrity endorsements&#10;Purchase: Point-of-purchase displays; Coupons; Contests; Samples&#10;Loyalty: Mailing to users; Licensed merchandise; Product placement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4929" y="1729946"/>
            <a:ext cx="10406941" cy="48026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167255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304800"/>
            <a:ext cx="8229600" cy="1066800"/>
          </a:xfrm>
        </p:spPr>
        <p:txBody>
          <a:bodyPr>
            <a:normAutofit fontScale="90000"/>
          </a:bodyPr>
          <a:lstStyle/>
          <a:p>
            <a:r>
              <a:rPr lang="en-US" dirty="0">
                <a:sym typeface="Calibri"/>
              </a:rPr>
              <a:t>Step 3: Determine the Marketing Communication Budget</a:t>
            </a:r>
            <a:endParaRPr lang="en-IN" dirty="0"/>
          </a:p>
        </p:txBody>
      </p:sp>
      <p:pic>
        <p:nvPicPr>
          <p:cNvPr id="4" name="Picture 358" descr="A text illustration shows Steps in Developing the Marketing Communication Budget, starting from top to bottom:&#10;Step 1: Determine the total marketing communication budget&#10;• Percentage of sales method&#10;• Competitive parity method&#10;• Objective-task method&#10;Step 2: Decide on a push or a pull strategy&#10;• Push: market to channel members&#10;• Pull: market to consumers&#10;Step 3: Allocate the budget to a specific promotion mix&#10;• Traditional media advertising&#10;• Digital media advertising&#10;• Support media advertising&#10;• Sales promotion&#10;• Social media marketing&#10;• Direct marketing&#10;• Personal selling&#10;• Public relations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00401" y="1371600"/>
            <a:ext cx="5506255" cy="54864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41720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981200" y="304800"/>
            <a:ext cx="8229600" cy="1066800"/>
          </a:xfrm>
        </p:spPr>
        <p:txBody>
          <a:bodyPr>
            <a:normAutofit fontScale="90000"/>
          </a:bodyPr>
          <a:lstStyle/>
          <a:p>
            <a:r>
              <a:rPr lang="en-US" dirty="0">
                <a:sym typeface="Calibri"/>
              </a:rPr>
              <a:t>Determine the Total Marketing Communication Budget</a:t>
            </a:r>
            <a:endParaRPr lang="en-IN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981200" y="1600200"/>
            <a:ext cx="8229600" cy="4191000"/>
          </a:xfrm>
        </p:spPr>
        <p:txBody>
          <a:bodyPr/>
          <a:lstStyle/>
          <a:p>
            <a:pPr lvl="0">
              <a:buSzPct val="100000"/>
            </a:pPr>
            <a:r>
              <a:rPr lang="en-US" sz="32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Top-down budgeting techniques</a:t>
            </a:r>
          </a:p>
          <a:p>
            <a:pPr lvl="1" indent="-228600"/>
            <a:r>
              <a:rPr lang="en-US" sz="3200" dirty="0"/>
              <a:t>Percentage-of-Sales method</a:t>
            </a:r>
          </a:p>
          <a:p>
            <a:pPr lvl="1" indent="-228600"/>
            <a:r>
              <a:rPr lang="en-US" sz="3200" dirty="0"/>
              <a:t>Competitive-parity method</a:t>
            </a:r>
          </a:p>
          <a:p>
            <a:pPr>
              <a:buSzPct val="100000"/>
            </a:pPr>
            <a:r>
              <a:rPr lang="en-US" sz="3200" dirty="0"/>
              <a:t>Bottom-up budgeting techniques</a:t>
            </a:r>
          </a:p>
          <a:p>
            <a:pPr lvl="1" indent="-228600"/>
            <a:r>
              <a:rPr lang="en-US" sz="3200" dirty="0"/>
              <a:t>Objective-task method</a:t>
            </a:r>
          </a:p>
        </p:txBody>
      </p:sp>
    </p:spTree>
    <p:extLst>
      <p:ext uri="{BB962C8B-B14F-4D97-AF65-F5344CB8AC3E}">
        <p14:creationId xmlns:p14="http://schemas.microsoft.com/office/powerpoint/2010/main" val="11033359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5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2763043" y="1044743"/>
            <a:ext cx="6665913" cy="533400"/>
          </a:xfrm>
        </p:spPr>
        <p:txBody>
          <a:bodyPr/>
          <a:lstStyle/>
          <a:p>
            <a:pPr marL="533400" indent="-533400" algn="ctr">
              <a:buNone/>
            </a:pPr>
            <a:r>
              <a:rPr lang="en-US" sz="3200" b="1" dirty="0">
                <a:solidFill>
                  <a:schemeClr val="tx2"/>
                </a:solidFill>
              </a:rPr>
              <a:t>Promotion Mix Strategies</a:t>
            </a:r>
          </a:p>
          <a:p>
            <a:pPr marL="533400" indent="-533400" algn="ctr">
              <a:buNone/>
            </a:pPr>
            <a:endParaRPr lang="en-US" sz="2400" b="1" i="1" dirty="0">
              <a:latin typeface="Times New Roman" pitchFamily="18" charset="0"/>
            </a:endParaRPr>
          </a:p>
          <a:p>
            <a:pPr marL="533400" indent="-533400">
              <a:buNone/>
            </a:pP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4161693" y="6477001"/>
            <a:ext cx="38686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Calibri" panose="020F0502020204030204"/>
              </a:rPr>
              <a:t>Copyright © 2016 Pearson Education, Inc</a:t>
            </a:r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8342" y="6477001"/>
            <a:ext cx="8757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14-38</a:t>
            </a:r>
          </a:p>
        </p:txBody>
      </p:sp>
      <p:sp>
        <p:nvSpPr>
          <p:cNvPr id="11" name="Text Placeholder 3"/>
          <p:cNvSpPr txBox="1">
            <a:spLocks/>
          </p:cNvSpPr>
          <p:nvPr/>
        </p:nvSpPr>
        <p:spPr>
          <a:xfrm>
            <a:off x="1320800" y="244643"/>
            <a:ext cx="9550400" cy="381000"/>
          </a:xfrm>
          <a:prstGeom prst="rect">
            <a:avLst/>
          </a:prstGeom>
        </p:spPr>
        <p:txBody>
          <a:bodyPr vert="horz" lIns="91440" tIns="45720" rIns="91440" bIns="45720" rtlCol="0">
            <a:normAutofit fontScale="25000" lnSpcReduction="20000"/>
          </a:bodyPr>
          <a:lstStyle>
            <a:lvl1pPr marL="228600" indent="-228600" algn="ctr" defTabSz="914400" rtl="0" eaLnBrk="1" latinLnBrk="0" hangingPunct="1">
              <a:lnSpc>
                <a:spcPts val="2800"/>
              </a:lnSpc>
              <a:spcBef>
                <a:spcPts val="0"/>
              </a:spcBef>
              <a:buFont typeface="Arial" panose="020B0604020202020204" pitchFamily="34" charset="0"/>
              <a:buNone/>
              <a:defRPr sz="2800" b="1" i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</a:pPr>
            <a:r>
              <a:rPr lang="en-US" sz="14400" dirty="0">
                <a:solidFill>
                  <a:srgbClr val="0070C0"/>
                </a:solidFill>
              </a:rPr>
              <a:t>Shaping the Overall Promotion Mix</a:t>
            </a:r>
          </a:p>
          <a:p>
            <a:pPr>
              <a:spcBef>
                <a:spcPct val="0"/>
              </a:spcBef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92233" y="2373884"/>
            <a:ext cx="8571844" cy="3307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7319341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981200" y="304800"/>
            <a:ext cx="8229600" cy="533400"/>
          </a:xfrm>
        </p:spPr>
        <p:txBody>
          <a:bodyPr>
            <a:normAutofit fontScale="90000"/>
          </a:bodyPr>
          <a:lstStyle/>
          <a:p>
            <a:r>
              <a:rPr lang="en-US" dirty="0">
                <a:sym typeface="Calibri"/>
              </a:rPr>
              <a:t>Step 4: Design the Promotion Mix</a:t>
            </a:r>
            <a:endParaRPr lang="en-IN" dirty="0"/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1981200" y="2028826"/>
            <a:ext cx="8229600" cy="3143249"/>
          </a:xfrm>
        </p:spPr>
        <p:txBody>
          <a:bodyPr/>
          <a:lstStyle/>
          <a:p>
            <a:pPr marL="255600" indent="-255600" fontAlgn="auto">
              <a:spcAft>
                <a:spcPts val="0"/>
              </a:spcAft>
            </a:pPr>
            <a:r>
              <a:rPr lang="en-US" sz="36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Designing the promotion mix involves:</a:t>
            </a:r>
            <a:endParaRPr lang="en-US" sz="3600" dirty="0"/>
          </a:p>
          <a:p>
            <a:pPr marL="793941" lvl="1" indent="-342900">
              <a:buSzPct val="100000"/>
            </a:pPr>
            <a:r>
              <a:rPr lang="en-US" sz="32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Determining communication tools to be used</a:t>
            </a:r>
          </a:p>
          <a:p>
            <a:pPr marL="793941" lvl="1" indent="-342900">
              <a:buSzPct val="100000"/>
            </a:pPr>
            <a:r>
              <a:rPr lang="en-US" sz="32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Specifying  message to be communicated</a:t>
            </a:r>
          </a:p>
          <a:p>
            <a:pPr marL="793941" lvl="1" indent="-342900">
              <a:buSzPct val="100000"/>
            </a:pPr>
            <a:r>
              <a:rPr lang="en-US" sz="32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Determining the communication channels to be used.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8365238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330900"/>
            <a:ext cx="8382000" cy="1040700"/>
          </a:xfrm>
        </p:spPr>
        <p:txBody>
          <a:bodyPr>
            <a:normAutofit fontScale="90000"/>
          </a:bodyPr>
          <a:lstStyle/>
          <a:p>
            <a:r>
              <a:rPr lang="en-US" dirty="0">
                <a:sym typeface="Calibri"/>
              </a:rPr>
              <a:t>Step 5: Evaluate the Effectiveness of the Communication Program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676400"/>
            <a:ext cx="8077200" cy="4419600"/>
          </a:xfrm>
        </p:spPr>
        <p:txBody>
          <a:bodyPr>
            <a:normAutofit fontScale="92500" lnSpcReduction="10000"/>
          </a:bodyPr>
          <a:lstStyle/>
          <a:p>
            <a:pPr>
              <a:spcBef>
                <a:spcPts val="0"/>
              </a:spcBef>
              <a:buFont typeface="Arial"/>
              <a:buChar char="•"/>
            </a:pPr>
            <a:r>
              <a:rPr lang="en-US" sz="32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Marketers use a variety of ways to monitor and evaluate the company’s communication efforts. </a:t>
            </a:r>
          </a:p>
          <a:p>
            <a:pPr>
              <a:buFont typeface="Arial"/>
              <a:buChar char="•"/>
            </a:pPr>
            <a:r>
              <a:rPr lang="en-US" sz="32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Various types of sales promotion are the easiest to evaluate as they often occur over a fixed, short period.</a:t>
            </a:r>
          </a:p>
          <a:p>
            <a:pPr>
              <a:buFont typeface="Arial"/>
              <a:buChar char="•"/>
            </a:pPr>
            <a:r>
              <a:rPr lang="en-US" sz="32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Advertising has lagged or delayed effects, more difficult to clearly link to sales.</a:t>
            </a:r>
          </a:p>
          <a:p>
            <a:pPr marL="685800" indent="-457200">
              <a:buSzPct val="98666"/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Measure brand awareness, recall of product benefits communicated, and image of the brand before and after an ad campaign.</a:t>
            </a:r>
          </a:p>
        </p:txBody>
      </p:sp>
    </p:spTree>
    <p:extLst>
      <p:ext uri="{BB962C8B-B14F-4D97-AF65-F5344CB8AC3E}">
        <p14:creationId xmlns:p14="http://schemas.microsoft.com/office/powerpoint/2010/main" val="7606026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ym typeface="Calibri"/>
              </a:rPr>
              <a:t>Multichannel Promotion Strategies</a:t>
            </a:r>
            <a:endParaRPr lang="en-IN" dirty="0"/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1981200" y="1219200"/>
            <a:ext cx="8229600" cy="3857625"/>
          </a:xfrm>
        </p:spPr>
        <p:txBody>
          <a:bodyPr/>
          <a:lstStyle/>
          <a:p>
            <a:pPr>
              <a:buFont typeface="Arial"/>
              <a:buChar char="•"/>
            </a:pPr>
            <a:r>
              <a:rPr lang="en-US" sz="3200" dirty="0">
                <a:sym typeface="Calibri"/>
              </a:rPr>
              <a:t>Combination of traditional advertising, sales promotion, public relations, and direct marketing activities with social media activities</a:t>
            </a:r>
          </a:p>
          <a:p>
            <a:pPr>
              <a:buFont typeface="Arial"/>
              <a:buChar char="•"/>
            </a:pPr>
            <a:r>
              <a:rPr lang="en-US" sz="3200" dirty="0"/>
              <a:t>Boost effectiveness of either online or offline strategies used alone</a:t>
            </a:r>
          </a:p>
          <a:p>
            <a:pPr>
              <a:buFont typeface="Arial"/>
              <a:buChar char="•"/>
            </a:pPr>
            <a:r>
              <a:rPr lang="en-US" sz="3200" dirty="0">
                <a:sym typeface="Calibri"/>
              </a:rPr>
              <a:t>Allow marketers to repeat their messages across various channels.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294738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1981200" y="339197"/>
            <a:ext cx="9267825" cy="622828"/>
          </a:xfrm>
        </p:spPr>
        <p:txBody>
          <a:bodyPr>
            <a:normAutofit/>
          </a:bodyPr>
          <a:lstStyle/>
          <a:p>
            <a:r>
              <a:rPr lang="en-US" dirty="0">
                <a:sym typeface="Calibri"/>
              </a:rPr>
              <a:t>Promotion Planning</a:t>
            </a:r>
            <a:endParaRPr lang="en-US" dirty="0"/>
          </a:p>
        </p:txBody>
      </p:sp>
      <p:sp>
        <p:nvSpPr>
          <p:cNvPr id="5" name="Content Placeholder 9"/>
          <p:cNvSpPr>
            <a:spLocks noGrp="1"/>
          </p:cNvSpPr>
          <p:nvPr>
            <p:ph idx="1"/>
          </p:nvPr>
        </p:nvSpPr>
        <p:spPr>
          <a:xfrm>
            <a:off x="1981200" y="1535640"/>
            <a:ext cx="8229600" cy="4983163"/>
          </a:xfrm>
        </p:spPr>
        <p:txBody>
          <a:bodyPr/>
          <a:lstStyle/>
          <a:p>
            <a:pPr>
              <a:buSzPct val="100740"/>
              <a:buFont typeface="Arial"/>
              <a:buChar char="•"/>
            </a:pPr>
            <a:r>
              <a:rPr lang="en-US" sz="3200" dirty="0">
                <a:sym typeface="Calibri"/>
              </a:rPr>
              <a:t>Developing a promotion plan that delivers the right message to the right target market is not easy!</a:t>
            </a:r>
          </a:p>
          <a:p>
            <a:pPr marL="685800" indent="-457200">
              <a:lnSpc>
                <a:spcPct val="80000"/>
              </a:lnSpc>
              <a:buFont typeface="Wingdings" panose="05000000000000000000" pitchFamily="2" charset="2"/>
              <a:buChar char="§"/>
            </a:pPr>
            <a:r>
              <a:rPr lang="en-US" dirty="0">
                <a:sym typeface="Calibri"/>
              </a:rPr>
              <a:t>Marketers follow sequence of promotion planning steps.</a:t>
            </a:r>
          </a:p>
          <a:p>
            <a:pPr>
              <a:buSzPct val="100740"/>
              <a:buFont typeface="Arial"/>
              <a:buChar char="•"/>
            </a:pPr>
            <a:r>
              <a:rPr lang="en-US" sz="3200" dirty="0"/>
              <a:t>Hierarchy of effects charts consumers’ path to brand loyalty and guides objective setting.</a:t>
            </a:r>
            <a:endParaRPr lang="en-US" sz="3200" b="1" dirty="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822049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85950" y="272522"/>
            <a:ext cx="8134350" cy="622828"/>
          </a:xfrm>
        </p:spPr>
        <p:txBody>
          <a:bodyPr>
            <a:normAutofit/>
          </a:bodyPr>
          <a:lstStyle/>
          <a:p>
            <a:r>
              <a:rPr lang="en-US" dirty="0">
                <a:sym typeface="Calibri"/>
              </a:rPr>
              <a:t>Advertising </a:t>
            </a:r>
            <a:r>
              <a:rPr lang="en-US" sz="2200" dirty="0">
                <a:sym typeface="Calibri"/>
              </a:rPr>
              <a:t>(1 of 2)</a:t>
            </a:r>
            <a:endParaRPr lang="en-IN" sz="2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85950" y="1143001"/>
            <a:ext cx="8134350" cy="4983163"/>
          </a:xfrm>
        </p:spPr>
        <p:txBody>
          <a:bodyPr/>
          <a:lstStyle/>
          <a:p>
            <a:r>
              <a:rPr lang="en-US" sz="3200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Advertising </a:t>
            </a:r>
            <a:r>
              <a:rPr lang="en-US" sz="32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is non-personal communication from an identified sponsor using mass media.</a:t>
            </a:r>
          </a:p>
          <a:p>
            <a:pPr marL="68580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Practice dates to ancient Greece and Rome.</a:t>
            </a:r>
            <a:endParaRPr lang="en-US" dirty="0">
              <a:solidFill>
                <a:schemeClr val="dk1"/>
              </a:solidFill>
              <a:sym typeface="Calibri"/>
            </a:endParaRPr>
          </a:p>
          <a:p>
            <a:r>
              <a:rPr lang="en-US" sz="32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Changes in media landscape have slowed growth of traditional advertising …</a:t>
            </a:r>
          </a:p>
          <a:p>
            <a:pPr marL="800100" indent="-34290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But mass communications remains the best way to reach a large audience</a:t>
            </a:r>
          </a:p>
        </p:txBody>
      </p:sp>
    </p:spTree>
    <p:extLst>
      <p:ext uri="{BB962C8B-B14F-4D97-AF65-F5344CB8AC3E}">
        <p14:creationId xmlns:p14="http://schemas.microsoft.com/office/powerpoint/2010/main" val="17686267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62997"/>
            <a:ext cx="10972800" cy="622828"/>
          </a:xfrm>
        </p:spPr>
        <p:txBody>
          <a:bodyPr>
            <a:normAutofit/>
          </a:bodyPr>
          <a:lstStyle/>
          <a:p>
            <a:r>
              <a:rPr lang="en-US" dirty="0">
                <a:sym typeface="Calibri"/>
              </a:rPr>
              <a:t>Advertising </a:t>
            </a:r>
            <a:r>
              <a:rPr lang="en-US" sz="2200" dirty="0">
                <a:sym typeface="Calibri"/>
              </a:rPr>
              <a:t>(2 of 2)</a:t>
            </a:r>
            <a:endParaRPr lang="en-IN" sz="2200" dirty="0"/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2076450" y="2219326"/>
            <a:ext cx="8229600" cy="2609849"/>
          </a:xfrm>
        </p:spPr>
        <p:txBody>
          <a:bodyPr/>
          <a:lstStyle/>
          <a:p>
            <a:pPr marL="255600" indent="-255600"/>
            <a:r>
              <a:rPr lang="en-US" sz="3200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TV Everywhere (also known as Authenticated Streaming)</a:t>
            </a:r>
            <a:r>
              <a:rPr lang="en-US" sz="32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 is the use of an internet-enabled device, like a tablet or smartphone, to stream content from a cable or satellite provider.</a:t>
            </a:r>
          </a:p>
        </p:txBody>
      </p:sp>
    </p:spTree>
    <p:extLst>
      <p:ext uri="{BB962C8B-B14F-4D97-AF65-F5344CB8AC3E}">
        <p14:creationId xmlns:p14="http://schemas.microsoft.com/office/powerpoint/2010/main" val="3560938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54700"/>
            <a:ext cx="8229600" cy="735900"/>
          </a:xfrm>
        </p:spPr>
        <p:txBody>
          <a:bodyPr/>
          <a:lstStyle/>
          <a:p>
            <a:r>
              <a:rPr lang="en-US" dirty="0">
                <a:sym typeface="Calibri"/>
              </a:rPr>
              <a:t>Social Media Marketing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219200"/>
            <a:ext cx="7696200" cy="4876800"/>
          </a:xfrm>
        </p:spPr>
        <p:txBody>
          <a:bodyPr/>
          <a:lstStyle/>
          <a:p>
            <a:pPr marL="255600" indent="-255600"/>
            <a:r>
              <a:rPr lang="en-US" sz="32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Marketers no longer are the only ones who talk about their products.</a:t>
            </a:r>
          </a:p>
          <a:p>
            <a:pPr marL="741600" indent="-2844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32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Millions of consumers have the ability and desire to spread good (or bad) news about products.</a:t>
            </a:r>
          </a:p>
          <a:p>
            <a:pPr marL="741600" indent="-2844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32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The many-to-many communication model is based on consumers talking to one another about goods, services, and organizations.</a:t>
            </a:r>
          </a:p>
          <a:p>
            <a:pPr marL="741600" indent="-2844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32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The changing communication landscape has been referred to as the </a:t>
            </a:r>
            <a:r>
              <a:rPr lang="en-US" sz="3200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groundswell.</a:t>
            </a:r>
            <a:endParaRPr lang="en-US" sz="3200" dirty="0">
              <a:solidFill>
                <a:schemeClr val="dk1"/>
              </a:solidFill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15097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54700"/>
            <a:ext cx="8229600" cy="812100"/>
          </a:xfrm>
        </p:spPr>
        <p:txBody>
          <a:bodyPr/>
          <a:lstStyle/>
          <a:p>
            <a:r>
              <a:rPr lang="en-US" dirty="0"/>
              <a:t>Social Media</a:t>
            </a:r>
            <a:endParaRPr lang="en-IN" dirty="0"/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1981200" y="1447800"/>
            <a:ext cx="8305800" cy="3200400"/>
          </a:xfrm>
        </p:spPr>
        <p:txBody>
          <a:bodyPr/>
          <a:lstStyle/>
          <a:p>
            <a:pPr marL="255600" indent="-255600"/>
            <a:r>
              <a:rPr lang="en-US" sz="3200" dirty="0">
                <a:solidFill>
                  <a:srgbClr val="FF0000"/>
                </a:solidFill>
              </a:rPr>
              <a:t>Internet-based platforms that allow users to create their own content and share it with others who access these sites.</a:t>
            </a:r>
          </a:p>
          <a:p>
            <a:pPr marL="255600" indent="-255600"/>
            <a:r>
              <a:rPr lang="en-US" sz="3200" dirty="0"/>
              <a:t>Examples of social media include </a:t>
            </a:r>
            <a:r>
              <a:rPr lang="en-US" sz="3200" dirty="0">
                <a:solidFill>
                  <a:srgbClr val="FF0000"/>
                </a:solidFill>
              </a:rPr>
              <a:t>Facebook, Twitter, Pinterest, YouTube, Yelp, Wikipedia, Second Life and </a:t>
            </a:r>
            <a:r>
              <a:rPr lang="en-US" sz="3200" dirty="0" err="1">
                <a:solidFill>
                  <a:srgbClr val="FF0000"/>
                </a:solidFill>
              </a:rPr>
              <a:t>Tik</a:t>
            </a:r>
            <a:r>
              <a:rPr lang="en-US" sz="3200" dirty="0">
                <a:solidFill>
                  <a:srgbClr val="FF0000"/>
                </a:solidFill>
              </a:rPr>
              <a:t>-Tok.</a:t>
            </a:r>
            <a:endParaRPr lang="en-US" sz="3200" dirty="0">
              <a:solidFill>
                <a:schemeClr val="dk1"/>
              </a:solidFill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9873195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50208"/>
            <a:ext cx="8229600" cy="816592"/>
          </a:xfrm>
        </p:spPr>
        <p:txBody>
          <a:bodyPr/>
          <a:lstStyle/>
          <a:p>
            <a:r>
              <a:rPr lang="en-US" sz="3600" dirty="0">
                <a:sym typeface="Calibri"/>
              </a:rPr>
              <a:t>Social Networks</a:t>
            </a:r>
            <a:endParaRPr lang="en-IN" sz="3600" dirty="0"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1981200" y="1219200"/>
            <a:ext cx="7696200" cy="4876800"/>
          </a:xfrm>
        </p:spPr>
        <p:txBody>
          <a:bodyPr/>
          <a:lstStyle/>
          <a:p>
            <a:pPr marL="255600" indent="-255600"/>
            <a:r>
              <a:rPr lang="en-US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Social networks, </a:t>
            </a:r>
            <a:r>
              <a:rPr lang="en-US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like </a:t>
            </a:r>
            <a:r>
              <a:rPr lang="en-US" dirty="0">
                <a:solidFill>
                  <a:srgbClr val="FF0000"/>
                </a:solidFill>
                <a:ea typeface="Calibri"/>
                <a:cs typeface="Calibri"/>
                <a:sym typeface="Calibri"/>
              </a:rPr>
              <a:t>Facebook</a:t>
            </a:r>
            <a:r>
              <a:rPr lang="en-US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 and </a:t>
            </a:r>
            <a:r>
              <a:rPr lang="en-US" dirty="0">
                <a:solidFill>
                  <a:srgbClr val="FF0000"/>
                </a:solidFill>
                <a:ea typeface="Calibri"/>
                <a:cs typeface="Calibri"/>
                <a:sym typeface="Calibri"/>
              </a:rPr>
              <a:t>Twitter</a:t>
            </a:r>
            <a:r>
              <a:rPr lang="en-US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, are sites that connect people with other people.</a:t>
            </a:r>
          </a:p>
          <a:p>
            <a:pPr marL="741600" indent="-2844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dirty="0"/>
              <a:t>Marketers </a:t>
            </a:r>
            <a:r>
              <a:rPr lang="en-US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monitor social networks to </a:t>
            </a:r>
            <a:r>
              <a:rPr lang="en-US" dirty="0">
                <a:solidFill>
                  <a:srgbClr val="FF0000"/>
                </a:solidFill>
                <a:ea typeface="Calibri"/>
                <a:cs typeface="Calibri"/>
                <a:sym typeface="Calibri"/>
              </a:rPr>
              <a:t>learn what consumers are thinking about the brand and the competition..</a:t>
            </a:r>
          </a:p>
          <a:p>
            <a:pPr marL="741600" indent="-2844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FF0000"/>
                </a:solidFill>
              </a:rPr>
              <a:t>Marketers reach influential opinion leaders b</a:t>
            </a:r>
            <a:r>
              <a:rPr lang="en-US" dirty="0">
                <a:solidFill>
                  <a:srgbClr val="FF0000"/>
                </a:solidFill>
                <a:ea typeface="Calibri"/>
                <a:cs typeface="Calibri"/>
                <a:sym typeface="Calibri"/>
              </a:rPr>
              <a:t>y participating in social media conversations</a:t>
            </a:r>
            <a:r>
              <a:rPr lang="en-US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.</a:t>
            </a:r>
          </a:p>
          <a:p>
            <a:pPr marL="741600" indent="-2844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FF0000"/>
                </a:solidFill>
                <a:ea typeface="Calibri"/>
                <a:cs typeface="Calibri"/>
                <a:sym typeface="Calibri"/>
              </a:rPr>
              <a:t>Use of “Influencers”</a:t>
            </a:r>
          </a:p>
          <a:p>
            <a:pPr marL="741600" indent="-2844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dirty="0"/>
              <a:t>Social networks provide an opportunity to create a </a:t>
            </a:r>
            <a:r>
              <a:rPr lang="en-US" b="1" dirty="0">
                <a:solidFill>
                  <a:srgbClr val="FF0000"/>
                </a:solidFill>
              </a:rPr>
              <a:t>brand community</a:t>
            </a:r>
            <a:r>
              <a:rPr lang="en-US" b="1" dirty="0"/>
              <a:t>.</a:t>
            </a:r>
            <a:endParaRPr lang="en-US" dirty="0">
              <a:solidFill>
                <a:schemeClr val="dk1"/>
              </a:solidFill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4883452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981200" y="215372"/>
            <a:ext cx="8229600" cy="851428"/>
          </a:xfrm>
        </p:spPr>
        <p:txBody>
          <a:bodyPr/>
          <a:lstStyle/>
          <a:p>
            <a:r>
              <a:rPr lang="en-US" dirty="0">
                <a:sym typeface="Calibri"/>
              </a:rPr>
              <a:t>Public Relations </a:t>
            </a:r>
            <a:endParaRPr lang="en-IN" sz="2200" dirty="0"/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1981200" y="1295401"/>
            <a:ext cx="4572000" cy="4495799"/>
          </a:xfrm>
        </p:spPr>
        <p:txBody>
          <a:bodyPr/>
          <a:lstStyle/>
          <a:p>
            <a:pPr marL="255600" indent="-255600"/>
            <a:r>
              <a:rPr lang="en-US" sz="26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Marketers create and manage </a:t>
            </a:r>
            <a:r>
              <a:rPr lang="en-US" sz="2600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publicity</a:t>
            </a:r>
            <a:r>
              <a:rPr lang="en-US" sz="26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, which is unpaid media exposure about a company</a:t>
            </a:r>
          </a:p>
          <a:p>
            <a:pPr marL="255600" indent="-255600"/>
            <a:r>
              <a:rPr lang="en-US" sz="2600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Crisis management: </a:t>
            </a:r>
            <a:r>
              <a:rPr lang="en-US" sz="26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(</a:t>
            </a:r>
            <a:r>
              <a:rPr lang="en-US" sz="2600" dirty="0"/>
              <a:t>the most important PR function) the </a:t>
            </a:r>
            <a:r>
              <a:rPr lang="en-US" sz="26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process of managing a firm’s reputation when a </a:t>
            </a:r>
            <a:r>
              <a:rPr lang="en-US" sz="2600" dirty="0"/>
              <a:t>negative event threatens the organization’s image</a:t>
            </a:r>
            <a:endParaRPr lang="en-US" sz="2600" dirty="0">
              <a:solidFill>
                <a:schemeClr val="dk1"/>
              </a:solidFill>
              <a:ea typeface="Calibri"/>
              <a:cs typeface="Calibri"/>
              <a:sym typeface="Calibri"/>
            </a:endParaRPr>
          </a:p>
        </p:txBody>
      </p:sp>
      <p:pic>
        <p:nvPicPr>
          <p:cNvPr id="7" name="Picture 385" descr="Photo of Isaiah Austin."/>
          <p:cNvPicPr preferRelativeResize="0"/>
          <p:nvPr/>
        </p:nvPicPr>
        <p:blipFill rotWithShape="1">
          <a:blip r:embed="rId3">
            <a:alphaModFix/>
          </a:blip>
          <a:srcRect r="4975"/>
          <a:stretch/>
        </p:blipFill>
        <p:spPr>
          <a:xfrm>
            <a:off x="6841298" y="2057400"/>
            <a:ext cx="3201862" cy="229759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030188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1981200" y="215372"/>
            <a:ext cx="8229600" cy="1097280"/>
          </a:xfrm>
        </p:spPr>
        <p:txBody>
          <a:bodyPr/>
          <a:lstStyle/>
          <a:p>
            <a:r>
              <a:rPr lang="en-US" dirty="0">
                <a:sym typeface="Calibri"/>
              </a:rPr>
              <a:t>Buzz Marketing</a:t>
            </a:r>
            <a:endParaRPr lang="en-IN" dirty="0"/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1981200" y="1600201"/>
            <a:ext cx="8153400" cy="4267199"/>
          </a:xfrm>
        </p:spPr>
        <p:txBody>
          <a:bodyPr/>
          <a:lstStyle/>
          <a:p>
            <a:pPr marL="255600" indent="-255600"/>
            <a:r>
              <a:rPr lang="en-US" sz="32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Buzz: word-of-mouth communication that customers view as authentic.</a:t>
            </a:r>
          </a:p>
          <a:p>
            <a:pPr marL="255600" indent="-255600"/>
            <a:r>
              <a:rPr lang="en-US" sz="3200" dirty="0"/>
              <a:t>Buzz marketing: marketing activities designed to create conversation, excitement and enthusiasm about a brand.</a:t>
            </a:r>
          </a:p>
          <a:p>
            <a:pPr marL="255600" indent="-255600"/>
            <a:r>
              <a:rPr lang="en-US" sz="32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Makes PR a more important part of the promotion mix.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55763565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54700"/>
            <a:ext cx="8229600" cy="1097280"/>
          </a:xfrm>
        </p:spPr>
        <p:txBody>
          <a:bodyPr/>
          <a:lstStyle/>
          <a:p>
            <a:r>
              <a:rPr lang="en-US" dirty="0"/>
              <a:t>Direct Marketing</a:t>
            </a:r>
            <a:endParaRPr lang="en-IN" dirty="0"/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1981200" y="1600201"/>
            <a:ext cx="8305800" cy="4191000"/>
          </a:xfrm>
        </p:spPr>
        <p:txBody>
          <a:bodyPr/>
          <a:lstStyle/>
          <a:p>
            <a:pPr marL="255600" indent="-255600"/>
            <a:r>
              <a:rPr lang="en-US" sz="3200" dirty="0"/>
              <a:t>Any direct communication to a consumer or business designed to generate a response in the form of an order, a request for further information or a visit to a place of business for purchase of a product.</a:t>
            </a:r>
          </a:p>
          <a:p>
            <a:pPr marL="255600" indent="-255600"/>
            <a:r>
              <a:rPr lang="en-US" sz="3200" dirty="0"/>
              <a:t>Includes mail order, telemarketing, direct response advertising and M-commerce</a:t>
            </a:r>
          </a:p>
        </p:txBody>
      </p:sp>
    </p:spTree>
    <p:extLst>
      <p:ext uri="{BB962C8B-B14F-4D97-AF65-F5344CB8AC3E}">
        <p14:creationId xmlns:p14="http://schemas.microsoft.com/office/powerpoint/2010/main" val="18006379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981200" y="254700"/>
            <a:ext cx="8229600" cy="1097280"/>
          </a:xfrm>
        </p:spPr>
        <p:txBody>
          <a:bodyPr/>
          <a:lstStyle/>
          <a:p>
            <a:pPr algn="ctr"/>
            <a:r>
              <a:rPr lang="en-US" sz="3600" dirty="0">
                <a:sym typeface="Calibri"/>
              </a:rPr>
              <a:t> Key Forms of Direct Marketing</a:t>
            </a:r>
            <a:endParaRPr lang="en-IN" sz="3600" dirty="0"/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1981200" y="1600202"/>
            <a:ext cx="3429000" cy="2895599"/>
          </a:xfrm>
        </p:spPr>
        <p:txBody>
          <a:bodyPr/>
          <a:lstStyle/>
          <a:p>
            <a:pPr marL="255600" indent="-255600">
              <a:buSzPct val="100000"/>
            </a:pPr>
            <a:r>
              <a:rPr lang="en-US" sz="2800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Direct marketing</a:t>
            </a:r>
            <a:r>
              <a:rPr lang="en-US" sz="28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: direct communication to a customer designed to generate a response</a:t>
            </a:r>
            <a:endParaRPr lang="en-US" sz="2400" dirty="0">
              <a:solidFill>
                <a:schemeClr val="dk1"/>
              </a:solidFill>
              <a:ea typeface="Calibri"/>
              <a:cs typeface="Calibri"/>
              <a:sym typeface="Calibri"/>
            </a:endParaRPr>
          </a:p>
        </p:txBody>
      </p:sp>
      <p:pic>
        <p:nvPicPr>
          <p:cNvPr id="4" name="Picture 177" descr="&quot;A web diagram shows Key Forms of Direct Marketing.&#10;Key forms of direct marketing in the center is attached to &#10;· Mail orders&#10;-Catalogs&#10;-Direct mail&#10;· Telemarketing&#10;· Direct-response advertising&#10;· M-commerce&#10;&quot;&#10;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0" y="1828801"/>
            <a:ext cx="5562600" cy="433387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002058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981200" y="254700"/>
            <a:ext cx="8229600" cy="1097280"/>
          </a:xfrm>
        </p:spPr>
        <p:txBody>
          <a:bodyPr/>
          <a:lstStyle/>
          <a:p>
            <a:r>
              <a:rPr lang="en-US" dirty="0">
                <a:sym typeface="Calibri"/>
              </a:rPr>
              <a:t>Mail Order</a:t>
            </a:r>
            <a:endParaRPr lang="en-IN" dirty="0"/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1981200" y="1600201"/>
            <a:ext cx="8305800" cy="4267200"/>
          </a:xfrm>
        </p:spPr>
        <p:txBody>
          <a:bodyPr/>
          <a:lstStyle/>
          <a:p>
            <a:pPr marL="255600" indent="-255600"/>
            <a:r>
              <a:rPr lang="en-US" sz="32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Mail order comes in two forms:</a:t>
            </a:r>
            <a:endParaRPr lang="en-US" sz="3200" dirty="0"/>
          </a:p>
          <a:p>
            <a:pPr marL="798750" lvl="1" indent="-342900"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Catalog: </a:t>
            </a:r>
            <a:r>
              <a:rPr lang="en-US" sz="32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a collection of products offered in book form, usually consisting of product descriptions and accompanied by photos of the item</a:t>
            </a:r>
          </a:p>
          <a:p>
            <a:pPr marL="798750" lvl="1" indent="-342900"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Direct mail: </a:t>
            </a:r>
            <a:r>
              <a:rPr lang="en-US" sz="32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a brochure/pamphlet offering a specific good or service at one point in time</a:t>
            </a:r>
            <a:endParaRPr lang="en-US" sz="3200" dirty="0">
              <a:solidFill>
                <a:schemeClr val="dk1"/>
              </a:solidFill>
              <a:sym typeface="Calibri"/>
            </a:endParaRPr>
          </a:p>
          <a:p>
            <a:pPr marL="455850" lvl="1" indent="0">
              <a:buNone/>
            </a:pPr>
            <a:r>
              <a:rPr lang="en-US" sz="3200" b="1" u="sng" dirty="0">
                <a:solidFill>
                  <a:schemeClr val="hlink"/>
                </a:solidFill>
                <a:ea typeface="Arial"/>
                <a:cs typeface="Arial"/>
                <a:sym typeface="Arial"/>
                <a:hlinkClick r:id="rId3"/>
              </a:rPr>
              <a:t>Catalog Choice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924434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54700"/>
            <a:ext cx="8305800" cy="1097280"/>
          </a:xfrm>
        </p:spPr>
        <p:txBody>
          <a:bodyPr/>
          <a:lstStyle/>
          <a:p>
            <a:r>
              <a:rPr lang="en-US" dirty="0">
                <a:sym typeface="Calibri"/>
              </a:rPr>
              <a:t>Telemarketing</a:t>
            </a:r>
            <a:endParaRPr lang="en-IN" dirty="0"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1981200" y="1600201"/>
            <a:ext cx="8229600" cy="3657600"/>
          </a:xfrm>
        </p:spPr>
        <p:txBody>
          <a:bodyPr/>
          <a:lstStyle/>
          <a:p>
            <a:pPr marL="255600" indent="-255600"/>
            <a:r>
              <a:rPr lang="en-US" sz="3200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Telemarketing: </a:t>
            </a:r>
            <a:r>
              <a:rPr lang="en-US" sz="32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The use of the telephone to sell directly to consumers and business customers.</a:t>
            </a:r>
            <a:endParaRPr lang="en-US" sz="3200" dirty="0"/>
          </a:p>
          <a:p>
            <a:pPr marL="798750" lvl="1" indent="-342900">
              <a:buFont typeface="Wingdings" panose="05000000000000000000" pitchFamily="2" charset="2"/>
              <a:buChar char="§"/>
            </a:pPr>
            <a:r>
              <a:rPr lang="en-US" sz="32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Profitable way for B2B marketers to keep in touch with small clients.</a:t>
            </a:r>
          </a:p>
          <a:p>
            <a:pPr marL="798750" lvl="1" indent="-342900">
              <a:buFont typeface="Wingdings" panose="05000000000000000000" pitchFamily="2" charset="2"/>
              <a:buChar char="§"/>
            </a:pPr>
            <a:r>
              <a:rPr lang="en-US" sz="32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FTC established the </a:t>
            </a:r>
            <a:r>
              <a:rPr lang="en-US" sz="3200" i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National Do Not Call Registry </a:t>
            </a:r>
            <a:r>
              <a:rPr lang="en-US" sz="32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to allow consumers to limit number of telemarketing calls they receive.</a:t>
            </a:r>
          </a:p>
          <a:p>
            <a:pPr marL="455850" lvl="1" indent="0">
              <a:buNone/>
            </a:pPr>
            <a:r>
              <a:rPr lang="en-US" sz="3200" b="1" u="sng" dirty="0">
                <a:solidFill>
                  <a:schemeClr val="hlink"/>
                </a:solidFill>
                <a:ea typeface="Arial"/>
                <a:cs typeface="Arial"/>
                <a:sym typeface="Arial"/>
                <a:hlinkClick r:id="rId3"/>
              </a:rPr>
              <a:t>Do Not Call Registry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370790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54700"/>
            <a:ext cx="8229600" cy="1097280"/>
          </a:xfrm>
        </p:spPr>
        <p:txBody>
          <a:bodyPr/>
          <a:lstStyle/>
          <a:p>
            <a:r>
              <a:rPr lang="en-US" dirty="0">
                <a:sym typeface="Calibri"/>
              </a:rPr>
              <a:t>Direct Response Advertising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600201"/>
            <a:ext cx="8077200" cy="4419599"/>
          </a:xfrm>
        </p:spPr>
        <p:txBody>
          <a:bodyPr/>
          <a:lstStyle/>
          <a:p>
            <a:pPr marL="255600" indent="-255600"/>
            <a:r>
              <a:rPr lang="en-US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Direct-response advertising </a:t>
            </a:r>
            <a:r>
              <a:rPr lang="en-US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allows consumer to respond by immediately contacting the provider with questions or an order.</a:t>
            </a:r>
            <a:endParaRPr lang="en-US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800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Direct-response TV (DRTV) </a:t>
            </a:r>
            <a:r>
              <a:rPr lang="en-US" sz="28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includes short commercials of less than 2 minutes, 30-minute or longer infomercials and home shopping networks.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800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Infomercials </a:t>
            </a:r>
            <a:r>
              <a:rPr lang="en-US" sz="28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are typically half-hour or hour-long commercials that resemble a talk show, often with heavy product demonstration elements.</a:t>
            </a:r>
            <a:endParaRPr lang="en-US" sz="2800" b="1" dirty="0">
              <a:solidFill>
                <a:schemeClr val="dk1"/>
              </a:solidFill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3219136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54700"/>
            <a:ext cx="8229600" cy="1040700"/>
          </a:xfrm>
        </p:spPr>
        <p:txBody>
          <a:bodyPr>
            <a:normAutofit fontScale="90000"/>
          </a:bodyPr>
          <a:lstStyle/>
          <a:p>
            <a:r>
              <a:rPr lang="en-US" dirty="0">
                <a:sym typeface="Calibri"/>
              </a:rPr>
              <a:t>Personal Selling: Adding the Personal Touch to the Promotion Mix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28800" y="1676401"/>
            <a:ext cx="8458200" cy="4343399"/>
          </a:xfrm>
        </p:spPr>
        <p:txBody>
          <a:bodyPr/>
          <a:lstStyle/>
          <a:p>
            <a:pPr marL="255600" lvl="1" indent="-255600">
              <a:spcBef>
                <a:spcPts val="1500"/>
              </a:spcBef>
              <a:buSzPct val="98666"/>
              <a:buFont typeface="Arial"/>
              <a:buChar char="•"/>
            </a:pPr>
            <a:r>
              <a:rPr lang="en-US" sz="2800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Personal selling </a:t>
            </a:r>
            <a:r>
              <a:rPr lang="en-US" sz="28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occurs when a company rep interacts directly with a customer or prospective customer to communicate about a good or service.</a:t>
            </a:r>
          </a:p>
          <a:p>
            <a:pPr marL="857250" lvl="2" indent="-463550">
              <a:spcBef>
                <a:spcPts val="518"/>
              </a:spcBef>
              <a:buSzPct val="99615"/>
            </a:pPr>
            <a:r>
              <a:rPr lang="en-US" sz="28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Far more intimate form of promotion compared to mass-media material</a:t>
            </a:r>
          </a:p>
          <a:p>
            <a:pPr marL="857250" lvl="2" indent="-463550">
              <a:spcBef>
                <a:spcPts val="518"/>
              </a:spcBef>
              <a:buSzPct val="99615"/>
            </a:pPr>
            <a:r>
              <a:rPr lang="en-US" sz="28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Salespeople are the eyes and ears of firm.</a:t>
            </a:r>
          </a:p>
        </p:txBody>
      </p:sp>
    </p:spTree>
    <p:extLst>
      <p:ext uri="{BB962C8B-B14F-4D97-AF65-F5344CB8AC3E}">
        <p14:creationId xmlns:p14="http://schemas.microsoft.com/office/powerpoint/2010/main" val="759328611"/>
      </p:ext>
    </p:extLst>
  </p:cSld>
  <p:clrMapOvr>
    <a:masterClrMapping/>
  </p:clrMapOvr>
</p:sld>
</file>

<file path=ppt/theme/theme1.xml><?xml version="1.0" encoding="utf-8"?>
<a:theme xmlns:a="http://schemas.openxmlformats.org/drawingml/2006/main" name="University of Roehampto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University of Roehampton PowerPoint Template [Compatibility Mode]" id="{E5B5E309-F8AA-487B-8D1A-F3FF829A02BB}" vid="{DF524CFD-4E3D-45F1-941A-862A0545FB0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2C08C9299421240B6D995644B6E3C3E" ma:contentTypeVersion="5" ma:contentTypeDescription="Create a new document." ma:contentTypeScope="" ma:versionID="f3baa54f500732990aa009a1c76f0bac">
  <xsd:schema xmlns:xsd="http://www.w3.org/2001/XMLSchema" xmlns:xs="http://www.w3.org/2001/XMLSchema" xmlns:p="http://schemas.microsoft.com/office/2006/metadata/properties" xmlns:ns3="8cba260e-3241-4289-a037-e391f31897a2" targetNamespace="http://schemas.microsoft.com/office/2006/metadata/properties" ma:root="true" ma:fieldsID="c255195508ac04f43878341bffda53dc" ns3:_="">
    <xsd:import namespace="8cba260e-3241-4289-a037-e391f31897a2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cba260e-3241-4289-a037-e391f31897a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LongProperties xmlns="http://schemas.microsoft.com/office/2006/metadata/longProperties"/>
</file>

<file path=customXml/item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84102284-805D-48E4-B876-F70B0CE2DC3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cba260e-3241-4289-a037-e391f31897a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C3D5511-235D-4507-82A9-D5CFF352CBE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0FF4E3E-C1B4-4C97-B492-9DE287D30438}">
  <ds:schemaRefs>
    <ds:schemaRef ds:uri="http://schemas.microsoft.com/office/2006/metadata/longProperties"/>
  </ds:schemaRefs>
</ds:datastoreItem>
</file>

<file path=customXml/itemProps4.xml><?xml version="1.0" encoding="utf-8"?>
<ds:datastoreItem xmlns:ds="http://schemas.openxmlformats.org/officeDocument/2006/customXml" ds:itemID="{0C23ED76-E48C-451E-B542-C2374254060F}">
  <ds:schemaRefs>
    <ds:schemaRef ds:uri="http://schemas.openxmlformats.org/package/2006/metadata/core-properties"/>
    <ds:schemaRef ds:uri="8cba260e-3241-4289-a037-e391f31897a2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purl.org/dc/terms/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Roehampton-Powerpoint-Template-2017-Brand (1)</Template>
  <TotalTime>0</TotalTime>
  <Words>1331</Words>
  <Application>Microsoft Office PowerPoint</Application>
  <PresentationFormat>Widescreen</PresentationFormat>
  <Paragraphs>163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40" baseType="lpstr">
      <vt:lpstr>ＭＳ Ｐゴシック</vt:lpstr>
      <vt:lpstr>Arial</vt:lpstr>
      <vt:lpstr>Calibri</vt:lpstr>
      <vt:lpstr>Calibri Light</vt:lpstr>
      <vt:lpstr>Times New Roman</vt:lpstr>
      <vt:lpstr>Wingdings</vt:lpstr>
      <vt:lpstr>ヒラギノ角ゴ Pro W3</vt:lpstr>
      <vt:lpstr>University of Roehampton</vt:lpstr>
      <vt:lpstr>  STRATEGIC MARKETING  </vt:lpstr>
      <vt:lpstr>Learning Objectives</vt:lpstr>
      <vt:lpstr>Communication Models in a Digital World That is “Always On”</vt:lpstr>
      <vt:lpstr>Integrated Marketing Communications (IMC)</vt:lpstr>
      <vt:lpstr>Integrated Marketing Communications Strategy</vt:lpstr>
      <vt:lpstr>The Traditional Promotional Mix</vt:lpstr>
      <vt:lpstr>Mass Communications:  The One-to-Many Model</vt:lpstr>
      <vt:lpstr>Personal Communications: The One-to-One Model</vt:lpstr>
      <vt:lpstr>Steps to Develop the Promotional Plan</vt:lpstr>
      <vt:lpstr>Step 1: Identify the Target Audience(s)</vt:lpstr>
      <vt:lpstr>Step 2: Establish the Communication Objectives</vt:lpstr>
      <vt:lpstr>Hierarchy of Effects </vt:lpstr>
      <vt:lpstr>Step 3: Determine the Marketing Communication Budget</vt:lpstr>
      <vt:lpstr>Determine the Total Marketing Communication Budget</vt:lpstr>
      <vt:lpstr>PowerPoint Presentation</vt:lpstr>
      <vt:lpstr>Step 4: Design the Promotion Mix</vt:lpstr>
      <vt:lpstr>Step 5: Evaluate the Effectiveness of the Communication Program</vt:lpstr>
      <vt:lpstr>Multichannel Promotion Strategies</vt:lpstr>
      <vt:lpstr>Promotion Planning</vt:lpstr>
      <vt:lpstr>Advertising (1 of 2)</vt:lpstr>
      <vt:lpstr>Advertising (2 of 2)</vt:lpstr>
      <vt:lpstr>Social Media Marketing</vt:lpstr>
      <vt:lpstr>Social Media</vt:lpstr>
      <vt:lpstr>Social Networks</vt:lpstr>
      <vt:lpstr>Public Relations </vt:lpstr>
      <vt:lpstr>Buzz Marketing</vt:lpstr>
      <vt:lpstr>Direct Marketing</vt:lpstr>
      <vt:lpstr> Key Forms of Direct Marketing</vt:lpstr>
      <vt:lpstr>Mail Order</vt:lpstr>
      <vt:lpstr>Telemarketing</vt:lpstr>
      <vt:lpstr>Direct Response Advertising</vt:lpstr>
      <vt:lpstr>Personal Selling: Adding the Personal Touch to the Promotion Mix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Dumebi Konwea</cp:lastModifiedBy>
  <cp:revision>109</cp:revision>
  <dcterms:created xsi:type="dcterms:W3CDTF">2017-12-14T05:23:46Z</dcterms:created>
  <dcterms:modified xsi:type="dcterms:W3CDTF">2025-07-09T08:50:49Z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dlc_DocId">
    <vt:lpwstr>EX52UCZS3WNW-50-7</vt:lpwstr>
  </property>
  <property fmtid="{D5CDD505-2E9C-101B-9397-08002B2CF9AE}" pid="3" name="_dlc_DocIdItemGuid">
    <vt:lpwstr>9921b913-4ad3-4564-a374-b22e9e4eb2ae</vt:lpwstr>
  </property>
  <property fmtid="{D5CDD505-2E9C-101B-9397-08002B2CF9AE}" pid="4" name="_dlc_DocIdUrl">
    <vt:lpwstr>https://portal.roehampton.ac.uk/information/_layouts/15/DocIdRedir.aspx?ID=EX52UCZS3WNW-50-7, EX52UCZS3WNW-50-7</vt:lpwstr>
  </property>
  <property fmtid="{D5CDD505-2E9C-101B-9397-08002B2CF9AE}" pid="5" name="ContentTypeId">
    <vt:lpwstr>0x01010002C08C9299421240B6D995644B6E3C3E</vt:lpwstr>
  </property>
</Properties>
</file>