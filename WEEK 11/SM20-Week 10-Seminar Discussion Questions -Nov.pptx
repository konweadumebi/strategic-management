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2" r:id="rId3"/>
    <p:sldId id="2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55" autoAdjust="0"/>
    <p:restoredTop sz="94660"/>
  </p:normalViewPr>
  <p:slideViewPr>
    <p:cSldViewPr snapToGrid="0">
      <p:cViewPr varScale="1">
        <p:scale>
          <a:sx n="75" d="100"/>
          <a:sy n="75" d="100"/>
        </p:scale>
        <p:origin x="64" y="8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252913"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solidFill>
                  <a:srgbClr val="063532"/>
                </a:solidFill>
              </a:defRPr>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6353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Tree>
    <p:extLst>
      <p:ext uri="{BB962C8B-B14F-4D97-AF65-F5344CB8AC3E}">
        <p14:creationId xmlns:p14="http://schemas.microsoft.com/office/powerpoint/2010/main" val="3184144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63532"/>
                </a:solidFill>
              </a:defRPr>
            </a:lvl1pPr>
          </a:lstStyle>
          <a:p>
            <a:r>
              <a:rPr lang="en-US"/>
              <a:t>Click to edit Master title style</a:t>
            </a:r>
            <a:endParaRPr lang="en-GB" dirty="0"/>
          </a:p>
        </p:txBody>
      </p:sp>
      <p:sp>
        <p:nvSpPr>
          <p:cNvPr id="3" name="Content Placeholder 2"/>
          <p:cNvSpPr>
            <a:spLocks noGrp="1"/>
          </p:cNvSpPr>
          <p:nvPr>
            <p:ph idx="1"/>
          </p:nvPr>
        </p:nvSpPr>
        <p:spPr/>
        <p:txBody>
          <a:bodyPr/>
          <a:lstStyle>
            <a:lvl1pPr>
              <a:defRPr>
                <a:solidFill>
                  <a:srgbClr val="063532"/>
                </a:solidFill>
              </a:defRPr>
            </a:lvl1pPr>
            <a:lvl2pPr>
              <a:defRPr>
                <a:solidFill>
                  <a:srgbClr val="063532"/>
                </a:solidFill>
              </a:defRPr>
            </a:lvl2pPr>
            <a:lvl3pPr>
              <a:defRPr>
                <a:solidFill>
                  <a:srgbClr val="063532"/>
                </a:solidFill>
              </a:defRPr>
            </a:lvl3pPr>
            <a:lvl4pPr>
              <a:defRPr>
                <a:solidFill>
                  <a:srgbClr val="063532"/>
                </a:solidFill>
              </a:defRPr>
            </a:lvl4pPr>
            <a:lvl5pPr>
              <a:defRPr>
                <a:solidFill>
                  <a:srgbClr val="06353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lvl1pPr>
              <a:defRPr/>
            </a:lvl1pPr>
          </a:lstStyle>
          <a:p>
            <a:pPr>
              <a:defRPr/>
            </a:pPr>
            <a:fld id="{1083CD2D-347F-417C-886D-273536740474}" type="datetimeFigureOut">
              <a:rPr lang="en-GB"/>
              <a:pPr>
                <a:defRPr/>
              </a:pPr>
              <a:t>09/07/2025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43D35F60-FE4A-4476-B52F-29F8950812DF}" type="slidenum">
              <a:rPr lang="en-GB"/>
              <a:pPr>
                <a:defRPr/>
              </a:pPr>
              <a:t>‹#›</a:t>
            </a:fld>
            <a:endParaRPr lang="en-GB"/>
          </a:p>
        </p:txBody>
      </p:sp>
    </p:spTree>
    <p:extLst>
      <p:ext uri="{BB962C8B-B14F-4D97-AF65-F5344CB8AC3E}">
        <p14:creationId xmlns:p14="http://schemas.microsoft.com/office/powerpoint/2010/main" val="2664219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BB69004D-800C-4230-8BED-3D981703420C}" type="datetimeFigureOut">
              <a:rPr lang="en-GB"/>
              <a:pPr>
                <a:defRPr/>
              </a:pPr>
              <a:t>09/07/2025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F425C34-A69D-4402-B7D8-BAB5A48CF0B5}" type="slidenum">
              <a:rPr lang="en-GB"/>
              <a:pPr>
                <a:defRPr/>
              </a:pPr>
              <a:t>‹#›</a:t>
            </a:fld>
            <a:endParaRPr lang="en-GB"/>
          </a:p>
        </p:txBody>
      </p:sp>
    </p:spTree>
    <p:extLst>
      <p:ext uri="{BB962C8B-B14F-4D97-AF65-F5344CB8AC3E}">
        <p14:creationId xmlns:p14="http://schemas.microsoft.com/office/powerpoint/2010/main" val="3772289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6EBAD35B-FA32-400E-B001-5FD5168C6B39}" type="datetimeFigureOut">
              <a:rPr lang="en-GB"/>
              <a:pPr>
                <a:defRPr/>
              </a:pPr>
              <a:t>09/07/2025</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0086A5D-7A97-4E2E-A328-5E1595936FF6}" type="slidenum">
              <a:rPr lang="en-GB"/>
              <a:pPr>
                <a:defRPr/>
              </a:pPr>
              <a:t>‹#›</a:t>
            </a:fld>
            <a:endParaRPr lang="en-GB"/>
          </a:p>
        </p:txBody>
      </p:sp>
    </p:spTree>
    <p:extLst>
      <p:ext uri="{BB962C8B-B14F-4D97-AF65-F5344CB8AC3E}">
        <p14:creationId xmlns:p14="http://schemas.microsoft.com/office/powerpoint/2010/main" val="3089424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98F702-7B2B-4191-AADB-9326B959CBB1}" type="datetimeFigureOut">
              <a:rPr lang="en-GB"/>
              <a:pPr>
                <a:defRPr/>
              </a:pPr>
              <a:t>09/07/2025</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FEDF13A9-6EEC-43E7-807C-7954534FE44F}" type="slidenum">
              <a:rPr lang="en-GB"/>
              <a:pPr>
                <a:defRPr/>
              </a:pPr>
              <a:t>‹#›</a:t>
            </a:fld>
            <a:endParaRPr lang="en-GB"/>
          </a:p>
        </p:txBody>
      </p:sp>
    </p:spTree>
    <p:extLst>
      <p:ext uri="{BB962C8B-B14F-4D97-AF65-F5344CB8AC3E}">
        <p14:creationId xmlns:p14="http://schemas.microsoft.com/office/powerpoint/2010/main" val="18023091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BEA"/>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rgbClr val="063532"/>
                </a:solidFill>
                <a:latin typeface="+mn-lt"/>
              </a:defRPr>
            </a:lvl1pPr>
          </a:lstStyle>
          <a:p>
            <a:pPr>
              <a:defRPr/>
            </a:pPr>
            <a:fld id="{CE7D3133-C8CC-49B1-BACB-6866EED8069D}" type="datetimeFigureOut">
              <a:rPr lang="en-GB"/>
              <a:pPr>
                <a:defRPr/>
              </a:pPr>
              <a:t>09/07/2025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rgbClr val="063532"/>
                </a:solidFill>
                <a:latin typeface="+mn-lt"/>
              </a:defRPr>
            </a:lvl1pPr>
          </a:lstStyle>
          <a:p>
            <a:pPr>
              <a:defRPr/>
            </a:pP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rgbClr val="063532"/>
                </a:solidFill>
                <a:latin typeface="+mn-lt"/>
              </a:defRPr>
            </a:lvl1pPr>
          </a:lstStyle>
          <a:p>
            <a:pPr>
              <a:defRPr/>
            </a:pPr>
            <a:fld id="{C8F75B9A-495D-4CA4-9D63-CBFCE0B35005}" type="slidenum">
              <a:rPr lang="en-GB"/>
              <a:pPr>
                <a:defRPr/>
              </a:pPr>
              <a:t>‹#›</a:t>
            </a:fld>
            <a:endParaRPr lang="en-GB"/>
          </a:p>
        </p:txBody>
      </p:sp>
    </p:spTree>
    <p:extLst>
      <p:ext uri="{BB962C8B-B14F-4D97-AF65-F5344CB8AC3E}">
        <p14:creationId xmlns:p14="http://schemas.microsoft.com/office/powerpoint/2010/main" val="33803627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rtl="0" eaLnBrk="0" fontAlgn="base" hangingPunct="0">
        <a:lnSpc>
          <a:spcPct val="90000"/>
        </a:lnSpc>
        <a:spcBef>
          <a:spcPct val="0"/>
        </a:spcBef>
        <a:spcAft>
          <a:spcPct val="0"/>
        </a:spcAft>
        <a:defRPr sz="4400" kern="1200">
          <a:solidFill>
            <a:srgbClr val="063532"/>
          </a:solidFill>
          <a:latin typeface="+mj-lt"/>
          <a:ea typeface="+mj-ea"/>
          <a:cs typeface="+mj-cs"/>
        </a:defRPr>
      </a:lvl1pPr>
      <a:lvl2pPr algn="l" rtl="0" eaLnBrk="0" fontAlgn="base" hangingPunct="0">
        <a:lnSpc>
          <a:spcPct val="90000"/>
        </a:lnSpc>
        <a:spcBef>
          <a:spcPct val="0"/>
        </a:spcBef>
        <a:spcAft>
          <a:spcPct val="0"/>
        </a:spcAft>
        <a:defRPr sz="4400">
          <a:solidFill>
            <a:srgbClr val="063532"/>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rgbClr val="063532"/>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rgbClr val="063532"/>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rgbClr val="063532"/>
          </a:solidFill>
          <a:latin typeface="Calibri Light" panose="020F0302020204030204" pitchFamily="34" charset="0"/>
        </a:defRPr>
      </a:lvl5pPr>
      <a:lvl6pPr marL="457200" algn="l" rtl="0" fontAlgn="base">
        <a:lnSpc>
          <a:spcPct val="90000"/>
        </a:lnSpc>
        <a:spcBef>
          <a:spcPct val="0"/>
        </a:spcBef>
        <a:spcAft>
          <a:spcPct val="0"/>
        </a:spcAft>
        <a:defRPr sz="4400">
          <a:solidFill>
            <a:srgbClr val="063532"/>
          </a:solidFill>
          <a:latin typeface="Calibri Light" panose="020F0302020204030204" pitchFamily="34" charset="0"/>
        </a:defRPr>
      </a:lvl6pPr>
      <a:lvl7pPr marL="914400" algn="l" rtl="0" fontAlgn="base">
        <a:lnSpc>
          <a:spcPct val="90000"/>
        </a:lnSpc>
        <a:spcBef>
          <a:spcPct val="0"/>
        </a:spcBef>
        <a:spcAft>
          <a:spcPct val="0"/>
        </a:spcAft>
        <a:defRPr sz="4400">
          <a:solidFill>
            <a:srgbClr val="063532"/>
          </a:solidFill>
          <a:latin typeface="Calibri Light" panose="020F0302020204030204" pitchFamily="34" charset="0"/>
        </a:defRPr>
      </a:lvl7pPr>
      <a:lvl8pPr marL="1371600" algn="l" rtl="0" fontAlgn="base">
        <a:lnSpc>
          <a:spcPct val="90000"/>
        </a:lnSpc>
        <a:spcBef>
          <a:spcPct val="0"/>
        </a:spcBef>
        <a:spcAft>
          <a:spcPct val="0"/>
        </a:spcAft>
        <a:defRPr sz="4400">
          <a:solidFill>
            <a:srgbClr val="063532"/>
          </a:solidFill>
          <a:latin typeface="Calibri Light" panose="020F0302020204030204" pitchFamily="34" charset="0"/>
        </a:defRPr>
      </a:lvl8pPr>
      <a:lvl9pPr marL="1828800" algn="l" rtl="0" fontAlgn="base">
        <a:lnSpc>
          <a:spcPct val="90000"/>
        </a:lnSpc>
        <a:spcBef>
          <a:spcPct val="0"/>
        </a:spcBef>
        <a:spcAft>
          <a:spcPct val="0"/>
        </a:spcAft>
        <a:defRPr sz="4400">
          <a:solidFill>
            <a:srgbClr val="063532"/>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rgbClr val="063532"/>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rgbClr val="063532"/>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rgbClr val="063532"/>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rgbClr val="063532"/>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rgbClr val="0635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p:txBody>
          <a:bodyPr/>
          <a:lstStyle/>
          <a:p>
            <a:pPr eaLnBrk="1" hangingPunct="1"/>
            <a:r>
              <a:rPr lang="en-US" altLang="en-US" dirty="0"/>
              <a:t>Strategic Marketing</a:t>
            </a:r>
          </a:p>
        </p:txBody>
      </p:sp>
      <p:sp>
        <p:nvSpPr>
          <p:cNvPr id="3075" name="Subtitle 2"/>
          <p:cNvSpPr>
            <a:spLocks noGrp="1"/>
          </p:cNvSpPr>
          <p:nvPr>
            <p:ph type="subTitle" idx="1"/>
          </p:nvPr>
        </p:nvSpPr>
        <p:spPr/>
        <p:txBody>
          <a:bodyPr/>
          <a:lstStyle/>
          <a:p>
            <a:pPr eaLnBrk="1" hangingPunct="1"/>
            <a:r>
              <a:rPr lang="en-US" altLang="en-US" sz="3600" dirty="0"/>
              <a:t>Week 10 – Seminar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BBA5C-211A-B346-857C-0C18C1D8B9D9}"/>
              </a:ext>
            </a:extLst>
          </p:cNvPr>
          <p:cNvSpPr>
            <a:spLocks noGrp="1"/>
          </p:cNvSpPr>
          <p:nvPr>
            <p:ph type="title"/>
          </p:nvPr>
        </p:nvSpPr>
        <p:spPr>
          <a:xfrm>
            <a:off x="838199" y="170656"/>
            <a:ext cx="11150601" cy="1082675"/>
          </a:xfrm>
        </p:spPr>
        <p:txBody>
          <a:bodyPr/>
          <a:lstStyle/>
          <a:p>
            <a:r>
              <a:rPr lang="en-GB" sz="3600" b="1" dirty="0"/>
              <a:t>Week 10: Seminar Discussion Questions – IKEA</a:t>
            </a:r>
            <a:endParaRPr lang="en-US" sz="3600" b="1" dirty="0"/>
          </a:p>
        </p:txBody>
      </p:sp>
      <p:sp>
        <p:nvSpPr>
          <p:cNvPr id="3" name="Content Placeholder 2">
            <a:extLst>
              <a:ext uri="{FF2B5EF4-FFF2-40B4-BE49-F238E27FC236}">
                <a16:creationId xmlns:a16="http://schemas.microsoft.com/office/drawing/2014/main" id="{96CB838D-80C5-3746-8530-90190060EDDC}"/>
              </a:ext>
            </a:extLst>
          </p:cNvPr>
          <p:cNvSpPr>
            <a:spLocks noGrp="1"/>
          </p:cNvSpPr>
          <p:nvPr>
            <p:ph idx="1"/>
          </p:nvPr>
        </p:nvSpPr>
        <p:spPr>
          <a:xfrm>
            <a:off x="838201" y="1253330"/>
            <a:ext cx="10515600" cy="5434013"/>
          </a:xfrm>
        </p:spPr>
        <p:txBody>
          <a:bodyPr/>
          <a:lstStyle/>
          <a:p>
            <a:pPr marL="0" indent="0">
              <a:lnSpc>
                <a:spcPct val="109000"/>
              </a:lnSpc>
              <a:spcAft>
                <a:spcPts val="1285"/>
              </a:spcAft>
              <a:buNone/>
            </a:pPr>
            <a:r>
              <a:rPr lang="en-GB" b="1" dirty="0">
                <a:solidFill>
                  <a:srgbClr val="000000"/>
                </a:solidFill>
                <a:effectLst/>
                <a:latin typeface="Arial" panose="020B0604020202020204" pitchFamily="34" charset="0"/>
                <a:ea typeface="Arial" panose="020B0604020202020204" pitchFamily="34" charset="0"/>
              </a:rPr>
              <a:t>Questions for discussion </a:t>
            </a:r>
          </a:p>
          <a:p>
            <a:pPr marL="514350" indent="-514350">
              <a:buFont typeface="+mj-lt"/>
              <a:buAutoNum type="arabicPeriod"/>
            </a:pPr>
            <a:r>
              <a:rPr lang="en-GB" b="1"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Does IKEA have a truly global strategy, or just a series of regional strategies? Explain.  </a:t>
            </a:r>
            <a:endParaRPr lang="en-GB"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14350" indent="-514350">
              <a:buFont typeface="+mj-lt"/>
              <a:buAutoNum type="arabicPeriod"/>
            </a:pPr>
            <a:r>
              <a:rPr lang="en-GB" b="1"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Discuss IKEA’s global strategy in terms of the five global product and communications strategies.  </a:t>
            </a:r>
            <a:endParaRPr lang="en-GB"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14350" indent="-514350">
              <a:buFont typeface="+mj-lt"/>
              <a:buAutoNum type="arabicPeriod"/>
            </a:pPr>
            <a:r>
              <a:rPr lang="en-GB" b="1"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If IKEA can sell a sofa in China for €140, why doesn’t it sell the product at that low price in all of its markets? </a:t>
            </a:r>
            <a:endParaRPr lang="en-GB"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14350" indent="-514350">
              <a:buFont typeface="+mj-lt"/>
              <a:buAutoNum type="arabicPeriod"/>
            </a:pPr>
            <a:r>
              <a:rPr lang="en-GB" b="1"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Can competitors easily duplicate IKEA’s strategy? Why or why not? </a:t>
            </a:r>
            <a:endParaRPr lang="en-GB"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14350" indent="-514350">
              <a:buFont typeface="+mj-lt"/>
              <a:buAutoNum type="arabicPeriod"/>
            </a:pPr>
            <a:r>
              <a:rPr lang="en-GB" b="1"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Should IKEA expand more rapidly than 20 to 25 stores per year? Explain. </a:t>
            </a:r>
            <a:endParaRPr lang="en-GB"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514350" indent="-514350">
              <a:buFont typeface="+mj-lt"/>
              <a:buAutoNum type="arabicPeriod"/>
            </a:pPr>
            <a:endParaRPr lang="en-GB" sz="2400" dirty="0"/>
          </a:p>
          <a:p>
            <a:pPr marL="514350" indent="-514350">
              <a:buFont typeface="+mj-lt"/>
              <a:buAutoNum type="arabicPeriod"/>
            </a:pPr>
            <a:endParaRPr lang="en-GB" sz="2400" dirty="0"/>
          </a:p>
          <a:p>
            <a:pPr marL="514350" indent="-514350">
              <a:buFont typeface="+mj-lt"/>
              <a:buAutoNum type="arabicPeriod"/>
            </a:pPr>
            <a:endParaRPr lang="en-GB" sz="2400" dirty="0"/>
          </a:p>
          <a:p>
            <a:pPr marL="514350" indent="-514350">
              <a:buFont typeface="+mj-lt"/>
              <a:buAutoNum type="arabicPeriod"/>
            </a:pPr>
            <a:endParaRPr lang="en-US" sz="2400" dirty="0"/>
          </a:p>
          <a:p>
            <a:endParaRPr lang="en-US" sz="2400" dirty="0"/>
          </a:p>
        </p:txBody>
      </p:sp>
    </p:spTree>
    <p:extLst>
      <p:ext uri="{BB962C8B-B14F-4D97-AF65-F5344CB8AC3E}">
        <p14:creationId xmlns:p14="http://schemas.microsoft.com/office/powerpoint/2010/main" val="2176792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4517-B19B-5849-B2B7-0C109D7FA5EE}"/>
              </a:ext>
            </a:extLst>
          </p:cNvPr>
          <p:cNvSpPr>
            <a:spLocks noGrp="1"/>
          </p:cNvSpPr>
          <p:nvPr>
            <p:ph type="title"/>
          </p:nvPr>
        </p:nvSpPr>
        <p:spPr>
          <a:xfrm>
            <a:off x="1009650" y="365125"/>
            <a:ext cx="10344150" cy="777875"/>
          </a:xfrm>
        </p:spPr>
        <p:txBody>
          <a:bodyPr/>
          <a:lstStyle/>
          <a:p>
            <a:pPr marL="6350" indent="-6350">
              <a:lnSpc>
                <a:spcPct val="104000"/>
              </a:lnSpc>
              <a:spcAft>
                <a:spcPts val="1075"/>
              </a:spcAft>
            </a:pPr>
            <a:r>
              <a:rPr lang="en-GB" sz="3200" b="1" i="1" dirty="0">
                <a:solidFill>
                  <a:srgbClr val="000000"/>
                </a:solidFill>
                <a:effectLst/>
                <a:latin typeface="Arial" panose="020B0604020202020204" pitchFamily="34" charset="0"/>
                <a:ea typeface="Arial" panose="020B0604020202020204" pitchFamily="34" charset="0"/>
              </a:rPr>
              <a:t>IKEA: making life better for the world’s many people </a:t>
            </a:r>
            <a:br>
              <a:rPr lang="en-GB" sz="3200" dirty="0">
                <a:solidFill>
                  <a:srgbClr val="000000"/>
                </a:solidFill>
                <a:effectLst/>
                <a:latin typeface="Times New Roman" panose="02020603050405020304" pitchFamily="18" charset="0"/>
                <a:ea typeface="Times New Roman" panose="02020603050405020304" pitchFamily="18" charset="0"/>
              </a:rPr>
            </a:br>
            <a:r>
              <a:rPr lang="en-GB" sz="3200" b="1" i="1" dirty="0">
                <a:solidFill>
                  <a:srgbClr val="000000"/>
                </a:solidFill>
                <a:effectLst/>
                <a:latin typeface="Arial" panose="020B0604020202020204" pitchFamily="34" charset="0"/>
                <a:ea typeface="Arial" panose="020B0604020202020204" pitchFamily="34" charset="0"/>
              </a:rPr>
              <a:t>-Synopsis </a:t>
            </a:r>
            <a:endParaRPr lang="en-GB" sz="3200" dirty="0">
              <a:solidFill>
                <a:srgbClr val="000000"/>
              </a:solidFill>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03421244-A769-1C47-9699-ADD757D867DE}"/>
              </a:ext>
            </a:extLst>
          </p:cNvPr>
          <p:cNvSpPr>
            <a:spLocks noGrp="1"/>
          </p:cNvSpPr>
          <p:nvPr>
            <p:ph idx="1"/>
          </p:nvPr>
        </p:nvSpPr>
        <p:spPr>
          <a:xfrm>
            <a:off x="716280" y="1476375"/>
            <a:ext cx="10515600" cy="5086350"/>
          </a:xfrm>
        </p:spPr>
        <p:txBody>
          <a:bodyPr/>
          <a:lstStyle/>
          <a:p>
            <a:pPr marL="6350" indent="-6350" algn="just">
              <a:lnSpc>
                <a:spcPct val="103000"/>
              </a:lnSpc>
              <a:spcAft>
                <a:spcPts val="1085"/>
              </a:spcAft>
            </a:pPr>
            <a:r>
              <a:rPr lang="en-GB" sz="1800" dirty="0">
                <a:solidFill>
                  <a:srgbClr val="000000"/>
                </a:solidFill>
                <a:effectLst/>
                <a:latin typeface="Times New Roman" panose="02020603050405020304" pitchFamily="18" charset="0"/>
                <a:ea typeface="Times New Roman" panose="02020603050405020304" pitchFamily="18" charset="0"/>
              </a:rPr>
              <a:t>IKEA is the largest furniture retailer. Last year, more than 684 million shoppers flocked to the Scandinavian retailer’s 303 huge stores in 26 countries, generating revenues of more than €29 billion. That’s an average of more than €95 million per store per year, about two-and-a-half times the average sales of a Walmart store. From Beijing to Cardiff to Barcelona, customers pour into IKEA’s stores for simple, practical furniture at affordable prices. IKEA is big and getting bigger – its sales have doubled during the past decade. But it’s also practical and methodical, growing by only 20 or so superstores each year. </a:t>
            </a:r>
          </a:p>
          <a:p>
            <a:pPr marL="6350" indent="-6350" algn="just">
              <a:lnSpc>
                <a:spcPct val="103000"/>
              </a:lnSpc>
              <a:spcAft>
                <a:spcPts val="1085"/>
              </a:spcAft>
            </a:pPr>
            <a:r>
              <a:rPr lang="en-GB" sz="1800" dirty="0">
                <a:solidFill>
                  <a:srgbClr val="000000"/>
                </a:solidFill>
                <a:effectLst/>
                <a:latin typeface="Times New Roman" panose="02020603050405020304" pitchFamily="18" charset="0"/>
                <a:ea typeface="Times New Roman" panose="02020603050405020304" pitchFamily="18" charset="0"/>
              </a:rPr>
              <a:t>Although most of IKEA’s standardised formula works in every market, the company has learned that one size does not fit all when it comes to global customers. So IKEA tweaks its marketing mix in different markets to better meet local consumer needs. The retailer seeks constant feedback from customers in stores, and it visits thousands more each year though </a:t>
            </a:r>
            <a:r>
              <a:rPr lang="en-GB" sz="1800" dirty="0" err="1">
                <a:solidFill>
                  <a:srgbClr val="000000"/>
                </a:solidFill>
                <a:effectLst/>
                <a:latin typeface="Times New Roman" panose="02020603050405020304" pitchFamily="18" charset="0"/>
                <a:ea typeface="Times New Roman" panose="02020603050405020304" pitchFamily="18" charset="0"/>
              </a:rPr>
              <a:t>inhome</a:t>
            </a:r>
            <a:r>
              <a:rPr lang="en-GB" sz="1800" dirty="0">
                <a:solidFill>
                  <a:srgbClr val="000000"/>
                </a:solidFill>
                <a:effectLst/>
                <a:latin typeface="Times New Roman" panose="02020603050405020304" pitchFamily="18" charset="0"/>
                <a:ea typeface="Times New Roman" panose="02020603050405020304" pitchFamily="18" charset="0"/>
              </a:rPr>
              <a:t> visits, observing how consumers live and asking about their dreams and challenges. </a:t>
            </a:r>
          </a:p>
          <a:p>
            <a:pPr marL="6350" indent="-6350" algn="just">
              <a:lnSpc>
                <a:spcPct val="103000"/>
              </a:lnSpc>
              <a:spcAft>
                <a:spcPts val="2300"/>
              </a:spcAft>
            </a:pPr>
            <a:r>
              <a:rPr lang="en-GB" sz="1800" dirty="0">
                <a:solidFill>
                  <a:srgbClr val="000000"/>
                </a:solidFill>
                <a:effectLst/>
                <a:latin typeface="Times New Roman" panose="02020603050405020304" pitchFamily="18" charset="0"/>
                <a:ea typeface="Times New Roman" panose="02020603050405020304" pitchFamily="18" charset="0"/>
              </a:rPr>
              <a:t>Some markets have required more changes. As IKEA has expanded into Asia, for example, it has learned that customer needs vary substantially from those in Europe and North America. Take China, for example. With some of the largest cities in the world, China has no shortage of customers. But most of China’s 1.3 billion people don’t buy home furnishings. So IKEA focuses instead on China’s exploding middle class – ‘the many people’ in growing urban populations who are more educated and fall into a 25- to 35-year-old age range. </a:t>
            </a:r>
          </a:p>
          <a:p>
            <a:pPr marL="6350" indent="125730" algn="just">
              <a:lnSpc>
                <a:spcPct val="103000"/>
              </a:lnSpc>
              <a:spcAft>
                <a:spcPts val="1085"/>
              </a:spcAft>
            </a:pPr>
            <a:endParaRPr lang="en-GB" sz="1800" dirty="0">
              <a:solidFill>
                <a:srgbClr val="000000"/>
              </a:solidFill>
              <a:effectLst/>
              <a:latin typeface="Times New Roman" panose="02020603050405020304" pitchFamily="18" charset="0"/>
              <a:ea typeface="Times New Roman" panose="02020603050405020304" pitchFamily="18" charset="0"/>
            </a:endParaRPr>
          </a:p>
          <a:p>
            <a:pPr marL="0" indent="0">
              <a:buNone/>
            </a:pPr>
            <a:endParaRPr lang="en-GB" sz="1800" dirty="0"/>
          </a:p>
        </p:txBody>
      </p:sp>
    </p:spTree>
    <p:extLst>
      <p:ext uri="{BB962C8B-B14F-4D97-AF65-F5344CB8AC3E}">
        <p14:creationId xmlns:p14="http://schemas.microsoft.com/office/powerpoint/2010/main" val="3966677353"/>
      </p:ext>
    </p:extLst>
  </p:cSld>
  <p:clrMapOvr>
    <a:masterClrMapping/>
  </p:clrMapOvr>
</p:sld>
</file>

<file path=ppt/theme/theme1.xml><?xml version="1.0" encoding="utf-8"?>
<a:theme xmlns:a="http://schemas.openxmlformats.org/drawingml/2006/main" name="University of Roehampt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ek 1- Seminar Discussion Questions.pot [Compatibility Mode]" id="{707DB747-BDAE-43B9-9D86-1EFC7F82B10D}" vid="{EFE640EC-0A76-4F5C-B490-EA066F06D30F}"/>
    </a:ext>
  </a:extLst>
</a:theme>
</file>

<file path=docProps/app.xml><?xml version="1.0" encoding="utf-8"?>
<Properties xmlns="http://schemas.openxmlformats.org/officeDocument/2006/extended-properties" xmlns:vt="http://schemas.openxmlformats.org/officeDocument/2006/docPropsVTypes">
  <TotalTime>489</TotalTime>
  <Words>412</Words>
  <Application>Microsoft Office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Times New Roman</vt:lpstr>
      <vt:lpstr>University of Roehampton</vt:lpstr>
      <vt:lpstr>Strategic Marketing</vt:lpstr>
      <vt:lpstr>Week 10: Seminar Discussion Questions – IKEA</vt:lpstr>
      <vt:lpstr>IKEA: making life better for the world’s many people  -Synopsis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Marketing</dc:title>
  <dc:creator>Mohammed Rafiq</dc:creator>
  <cp:lastModifiedBy>Dumebi Konwea</cp:lastModifiedBy>
  <cp:revision>34</cp:revision>
  <dcterms:created xsi:type="dcterms:W3CDTF">2020-09-10T09:09:59Z</dcterms:created>
  <dcterms:modified xsi:type="dcterms:W3CDTF">2025-07-09T10:42:59Z</dcterms:modified>
</cp:coreProperties>
</file>