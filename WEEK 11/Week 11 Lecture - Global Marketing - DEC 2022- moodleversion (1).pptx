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5" Type="http://purl.oclc.org/ooxml/officeDocument/relationships/customProperties" Target="docProps/custom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56" r:id="rId4"/>
  </p:sldMasterIdLst>
  <p:notesMasterIdLst>
    <p:notesMasterId r:id="rId34"/>
  </p:notesMasterIdLst>
  <p:sldIdLst>
    <p:sldId id="256" r:id="rId5"/>
    <p:sldId id="259" r:id="rId6"/>
    <p:sldId id="260" r:id="rId7"/>
    <p:sldId id="301" r:id="rId8"/>
    <p:sldId id="343" r:id="rId9"/>
    <p:sldId id="342" r:id="rId10"/>
    <p:sldId id="344" r:id="rId11"/>
    <p:sldId id="345" r:id="rId12"/>
    <p:sldId id="346" r:id="rId13"/>
    <p:sldId id="347" r:id="rId14"/>
    <p:sldId id="265" r:id="rId15"/>
    <p:sldId id="264" r:id="rId16"/>
    <p:sldId id="348" r:id="rId17"/>
    <p:sldId id="328" r:id="rId18"/>
    <p:sldId id="329" r:id="rId19"/>
    <p:sldId id="330" r:id="rId20"/>
    <p:sldId id="331" r:id="rId21"/>
    <p:sldId id="277" r:id="rId22"/>
    <p:sldId id="280" r:id="rId23"/>
    <p:sldId id="281" r:id="rId24"/>
    <p:sldId id="306" r:id="rId25"/>
    <p:sldId id="307" r:id="rId26"/>
    <p:sldId id="308" r:id="rId27"/>
    <p:sldId id="309" r:id="rId28"/>
    <p:sldId id="339" r:id="rId29"/>
    <p:sldId id="284" r:id="rId30"/>
    <p:sldId id="285" r:id="rId31"/>
    <p:sldId id="363" r:id="rId32"/>
    <p:sldId id="362" r:id="rId33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%"/>
      </a:spcBef>
      <a:spcAft>
        <a:spcPct val="0%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532"/>
    <a:srgbClr val="ECEBEA"/>
    <a:srgbClr val="00A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 horzBarState="maximized">
    <p:restoredLeft sz="15.959%" autoAdjust="0"/>
    <p:restoredTop sz="29.419%" autoAdjust="0"/>
  </p:normalViewPr>
  <p:slideViewPr>
    <p:cSldViewPr snapToGrid="0">
      <p:cViewPr varScale="1">
        <p:scale>
          <a:sx n="77" d="100"/>
          <a:sy n="77" d="100"/>
        </p:scale>
        <p:origin x="2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purl.oclc.org/ooxml/officeDocument/relationships/slide" Target="slides/slide9.xml"/><Relationship Id="rId18" Type="http://purl.oclc.org/ooxml/officeDocument/relationships/slide" Target="slides/slide14.xml"/><Relationship Id="rId26" Type="http://purl.oclc.org/ooxml/officeDocument/relationships/slide" Target="slides/slide22.xml"/><Relationship Id="rId21" Type="http://purl.oclc.org/ooxml/officeDocument/relationships/slide" Target="slides/slide17.xml"/><Relationship Id="rId34" Type="http://purl.oclc.org/ooxml/officeDocument/relationships/notesMaster" Target="notesMasters/notesMaster1.xml"/><Relationship Id="rId7" Type="http://purl.oclc.org/ooxml/officeDocument/relationships/slide" Target="slides/slide3.xml"/><Relationship Id="rId12" Type="http://purl.oclc.org/ooxml/officeDocument/relationships/slide" Target="slides/slide8.xml"/><Relationship Id="rId17" Type="http://purl.oclc.org/ooxml/officeDocument/relationships/slide" Target="slides/slide13.xml"/><Relationship Id="rId25" Type="http://purl.oclc.org/ooxml/officeDocument/relationships/slide" Target="slides/slide21.xml"/><Relationship Id="rId33" Type="http://purl.oclc.org/ooxml/officeDocument/relationships/slide" Target="slides/slide29.xml"/><Relationship Id="rId38" Type="http://purl.oclc.org/ooxml/officeDocument/relationships/tableStyles" Target="tableStyles.xml"/><Relationship Id="rId2" Type="http://purl.oclc.org/ooxml/officeDocument/relationships/customXml" Target="../customXml/item2.xml"/><Relationship Id="rId16" Type="http://purl.oclc.org/ooxml/officeDocument/relationships/slide" Target="slides/slide12.xml"/><Relationship Id="rId20" Type="http://purl.oclc.org/ooxml/officeDocument/relationships/slide" Target="slides/slide16.xml"/><Relationship Id="rId29" Type="http://purl.oclc.org/ooxml/officeDocument/relationships/slide" Target="slides/slide25.xml"/><Relationship Id="rId1" Type="http://purl.oclc.org/ooxml/officeDocument/relationships/customXml" Target="../customXml/item1.xml"/><Relationship Id="rId6" Type="http://purl.oclc.org/ooxml/officeDocument/relationships/slide" Target="slides/slide2.xml"/><Relationship Id="rId11" Type="http://purl.oclc.org/ooxml/officeDocument/relationships/slide" Target="slides/slide7.xml"/><Relationship Id="rId24" Type="http://purl.oclc.org/ooxml/officeDocument/relationships/slide" Target="slides/slide20.xml"/><Relationship Id="rId32" Type="http://purl.oclc.org/ooxml/officeDocument/relationships/slide" Target="slides/slide28.xml"/><Relationship Id="rId37" Type="http://purl.oclc.org/ooxml/officeDocument/relationships/theme" Target="theme/theme1.xml"/><Relationship Id="rId5" Type="http://purl.oclc.org/ooxml/officeDocument/relationships/slide" Target="slides/slide1.xml"/><Relationship Id="rId15" Type="http://purl.oclc.org/ooxml/officeDocument/relationships/slide" Target="slides/slide11.xml"/><Relationship Id="rId23" Type="http://purl.oclc.org/ooxml/officeDocument/relationships/slide" Target="slides/slide19.xml"/><Relationship Id="rId28" Type="http://purl.oclc.org/ooxml/officeDocument/relationships/slide" Target="slides/slide24.xml"/><Relationship Id="rId36" Type="http://purl.oclc.org/ooxml/officeDocument/relationships/viewProps" Target="viewProps.xml"/><Relationship Id="rId10" Type="http://purl.oclc.org/ooxml/officeDocument/relationships/slide" Target="slides/slide6.xml"/><Relationship Id="rId19" Type="http://purl.oclc.org/ooxml/officeDocument/relationships/slide" Target="slides/slide15.xml"/><Relationship Id="rId31" Type="http://purl.oclc.org/ooxml/officeDocument/relationships/slide" Target="slides/slide27.xml"/><Relationship Id="rId4" Type="http://purl.oclc.org/ooxml/officeDocument/relationships/slideMaster" Target="slideMasters/slideMaster1.xml"/><Relationship Id="rId9" Type="http://purl.oclc.org/ooxml/officeDocument/relationships/slide" Target="slides/slide5.xml"/><Relationship Id="rId14" Type="http://purl.oclc.org/ooxml/officeDocument/relationships/slide" Target="slides/slide10.xml"/><Relationship Id="rId22" Type="http://purl.oclc.org/ooxml/officeDocument/relationships/slide" Target="slides/slide18.xml"/><Relationship Id="rId27" Type="http://purl.oclc.org/ooxml/officeDocument/relationships/slide" Target="slides/slide23.xml"/><Relationship Id="rId30" Type="http://purl.oclc.org/ooxml/officeDocument/relationships/slide" Target="slides/slide26.xml"/><Relationship Id="rId35" Type="http://purl.oclc.org/ooxml/officeDocument/relationships/presProps" Target="presProps.xml"/><Relationship Id="rId8" Type="http://purl.oclc.org/ooxml/officeDocument/relationships/slide" Target="slides/slide4.xml"/><Relationship Id="rId3" Type="http://purl.oclc.org/ooxml/officeDocument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814AB-B154-4619-A50A-494FEF62AD98}" type="datetimeFigureOut">
              <a:rPr lang="en-GB" smtClean="0"/>
              <a:t>09/07/2025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2A16D-7D29-4AB2-A4C5-0E5BA96D5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1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1.xml"/><Relationship Id="rId1" Type="http://purl.oclc.org/ooxml/officeDocument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purl.oclc.org/ooxml/officeDocument/relationships/slide" Target="../slides/slide2.xml"/><Relationship Id="rId1" Type="http://purl.oclc.org/ooxml/officeDocument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purl.oclc.org/ooxml/officeDocument/relationships/slide" Target="../slides/slide3.xml"/><Relationship Id="rId1" Type="http://purl.oclc.org/ooxml/officeDocument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purl.oclc.org/ooxml/officeDocument/relationships/slide" Target="../slides/slide5.xml"/><Relationship Id="rId1" Type="http://purl.oclc.org/ooxml/officeDocument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purl.oclc.org/ooxml/officeDocument/relationships/slide" Target="../slides/slide6.xml"/><Relationship Id="rId1" Type="http://purl.oclc.org/ooxml/officeDocument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purl.oclc.org/ooxml/officeDocument/relationships/oleObject" Target="../embeddings/oleObject1.bin"/><Relationship Id="rId2" Type="http://purl.oclc.org/ooxml/officeDocument/relationships/slide" Target="../slides/slide7.xml"/><Relationship Id="rId1" Type="http://purl.oclc.org/ooxml/officeDocument/relationships/notesMaster" Target="../notesMasters/notesMaster1.xml"/><Relationship Id="rId4" Type="http://purl.oclc.org/ooxml/officeDocument/relationships/image" Target="../media/image4.wmf"/></Relationships>
</file>

<file path=ppt/notesSlides/_rels/notesSlide8.xml.rels><?xml version="1.0" encoding="UTF-8" standalone="yes"?>
<Relationships xmlns="http://schemas.openxmlformats.org/package/2006/relationships"><Relationship Id="rId2" Type="http://purl.oclc.org/ooxml/officeDocument/relationships/slide" Target="../slides/slide8.xml"/><Relationship Id="rId1" Type="http://purl.oclc.org/ooxml/officeDocument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purl.oclc.org/ooxml/officeDocument/relationships/oleObject" Target="../embeddings/oleObject1.bin"/><Relationship Id="rId2" Type="http://purl.oclc.org/ooxml/officeDocument/relationships/slide" Target="../slides/slide9.xml"/><Relationship Id="rId1" Type="http://purl.oclc.org/ooxml/officeDocument/relationships/notesMaster" Target="../notesMasters/notesMaster1.xml"/><Relationship Id="rId4" Type="http://purl.oclc.org/ooxml/officeDocument/relationships/image" Target="../media/image4.wmf"/></Relationships>
</file>

<file path=ppt/notesSlides/_rels/notesSlide10.xml.rels><?xml version="1.0" encoding="UTF-8" standalone="yes"?>
<Relationships xmlns="http://schemas.openxmlformats.org/package/2006/relationships"><Relationship Id="rId3" Type="http://purl.oclc.org/ooxml/officeDocument/relationships/oleObject" Target="../embeddings/oleObject1.bin"/><Relationship Id="rId2" Type="http://purl.oclc.org/ooxml/officeDocument/relationships/slide" Target="../slides/slide10.xml"/><Relationship Id="rId1" Type="http://purl.oclc.org/ooxml/officeDocument/relationships/notesMaster" Target="../notesMasters/notesMaster1.xml"/><Relationship Id="rId4" Type="http://purl.oclc.org/ooxml/officeDocument/relationships/image" Target="../media/image4.wmf"/></Relationships>
</file>

<file path=ppt/notesSlides/_rels/notesSlide11.xml.rels><?xml version="1.0" encoding="UTF-8" standalone="yes"?>
<Relationships xmlns="http://schemas.openxmlformats.org/package/2006/relationships"><Relationship Id="rId2" Type="http://purl.oclc.org/ooxml/officeDocument/relationships/slide" Target="../slides/slide11.xml"/><Relationship Id="rId1" Type="http://purl.oclc.org/ooxml/officeDocument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purl.oclc.org/ooxml/officeDocument/relationships/slide" Target="../slides/slide12.xml"/><Relationship Id="rId1" Type="http://purl.oclc.org/ooxml/officeDocument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purl.oclc.org/ooxml/officeDocument/relationships/slide" Target="../slides/slide13.xml"/><Relationship Id="rId1" Type="http://purl.oclc.org/ooxml/officeDocument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purl.oclc.org/ooxml/officeDocument/relationships/slide" Target="../slides/slide14.xml"/><Relationship Id="rId1" Type="http://purl.oclc.org/ooxml/officeDocument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purl.oclc.org/ooxml/officeDocument/relationships/slide" Target="../slides/slide15.xml"/><Relationship Id="rId1" Type="http://purl.oclc.org/ooxml/officeDocument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purl.oclc.org/ooxml/officeDocument/relationships/slide" Target="../slides/slide16.xml"/><Relationship Id="rId1" Type="http://purl.oclc.org/ooxml/officeDocument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purl.oclc.org/ooxml/officeDocument/relationships/slide" Target="../slides/slide17.xml"/><Relationship Id="rId1" Type="http://purl.oclc.org/ooxml/officeDocument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purl.oclc.org/ooxml/officeDocument/relationships/slide" Target="../slides/slide18.xml"/><Relationship Id="rId1" Type="http://purl.oclc.org/ooxml/officeDocument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purl.oclc.org/ooxml/officeDocument/relationships/slide" Target="../slides/slide19.xml"/><Relationship Id="rId1" Type="http://purl.oclc.org/ooxml/officeDocument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purl.oclc.org/ooxml/officeDocument/relationships/slide" Target="../slides/slide20.xml"/><Relationship Id="rId1" Type="http://purl.oclc.org/ooxml/officeDocument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purl.oclc.org/ooxml/officeDocument/relationships/slide" Target="../slides/slide21.xml"/><Relationship Id="rId1" Type="http://purl.oclc.org/ooxml/officeDocument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purl.oclc.org/ooxml/officeDocument/relationships/slide" Target="../slides/slide22.xml"/><Relationship Id="rId1" Type="http://purl.oclc.org/ooxml/officeDocument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purl.oclc.org/ooxml/officeDocument/relationships/slide" Target="../slides/slide23.xml"/><Relationship Id="rId1" Type="http://purl.oclc.org/ooxml/officeDocument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purl.oclc.org/ooxml/officeDocument/relationships/slide" Target="../slides/slide24.xml"/><Relationship Id="rId1" Type="http://purl.oclc.org/ooxml/officeDocument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purl.oclc.org/ooxml/officeDocument/relationships/slide" Target="../slides/slide25.xml"/><Relationship Id="rId1" Type="http://purl.oclc.org/ooxml/officeDocument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purl.oclc.org/ooxml/officeDocument/relationships/slide" Target="../slides/slide26.xml"/><Relationship Id="rId1" Type="http://purl.oclc.org/ooxml/officeDocument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purl.oclc.org/ooxml/officeDocument/relationships/slide" Target="../slides/slide27.xml"/><Relationship Id="rId1" Type="http://purl.oclc.org/ooxml/officeDocument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purl.oclc.org/ooxml/officeDocument/relationships/slide" Target="../slides/slide29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A16D-7D29-4AB2-A4C5-0E5BA96D5DE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136246"/>
      </p:ext>
    </p:extLst>
  </p:cSld>
  <p:clrMapOvr>
    <a:masterClrMapping/>
  </p:clrMapOvr>
</p:notes>
</file>

<file path=ppt/notesSlides/notesSlide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FEFC568B-66CA-4825-A3CE-959C7C5897AB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2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4099523672"/>
      </p:ext>
    </p:extLst>
  </p:cSld>
  <p:clrMapOvr>
    <a:masterClrMapping/>
  </p:clrMapOvr>
</p:notes>
</file>

<file path=ppt/notesSlides/notesSlide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E326F789-155C-4E1A-B5D1-4391C9CCC8F2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3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4104511522"/>
      </p:ext>
    </p:extLst>
  </p:cSld>
  <p:clrMapOvr>
    <a:masterClrMapping/>
  </p:clrMapOvr>
</p:notes>
</file>

<file path=ppt/notesSlides/notesSlide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705C0F03-BA30-49E3-94CA-2C058A59EC17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50418"/>
      </p:ext>
    </p:extLst>
  </p:cSld>
  <p:clrMapOvr>
    <a:masterClrMapping/>
  </p:clrMapOvr>
</p:notes>
</file>

<file path=ppt/notesSlides/notesSlide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A16D-7D29-4AB2-A4C5-0E5BA96D5D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612351"/>
      </p:ext>
    </p:extLst>
  </p:cSld>
  <p:clrMapOvr>
    <a:masterClrMapping/>
  </p:clrMapOvr>
</p:notes>
</file>

<file path=ppt/notesSlides/notesSlide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2</a:t>
            </a:r>
          </a:p>
        </p:txBody>
      </p: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367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6150" y="4362450"/>
            <a:ext cx="4962525" cy="40751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GB" altLang="en-US" dirty="0"/>
          </a:p>
        </p:txBody>
      </p:sp>
      <p:sp>
        <p:nvSpPr>
          <p:cNvPr id="113671" name="Rectangle 7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%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3207147444"/>
      </p:ext>
    </p:extLst>
  </p:cSld>
  <p:clrMapOvr>
    <a:masterClrMapping/>
  </p:clrMapOvr>
</p:notes>
</file>

<file path=ppt/notesSlides/notesSlide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008313" y="39688"/>
            <a:ext cx="4352925" cy="24495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%"/>
            <a:headEnd/>
            <a:tailEnd/>
          </a:ln>
        </p:spPr>
      </p:sp>
      <p:graphicFrame>
        <p:nvGraphicFramePr>
          <p:cNvPr id="92163" name="Object 3"/>
          <p:cNvGraphicFramePr>
            <a:graphicFrameLocks/>
          </p:cNvGraphicFramePr>
          <p:nvPr/>
        </p:nvGraphicFramePr>
        <p:xfrm>
          <a:off x="465138" y="2878138"/>
          <a:ext cx="5465762" cy="54848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name="Document" r:id="rId3" imgW="5486400" imgH="5494320" progId="Word.Document.8">
                  <p:embed/>
                </p:oleObj>
              </mc:Choice>
              <mc:Fallback>
                <p:oleObj name="Document" r:id="rId3" imgW="5486400" imgH="549432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2878138"/>
                        <a:ext cx="5465762" cy="548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D2914E9-6ED4-4BF8-8D80-5570B8DC3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1733922"/>
      </p:ext>
    </p:extLst>
  </p:cSld>
  <p:clrMapOvr>
    <a:masterClrMapping/>
  </p:clrMapOvr>
</p:notes>
</file>

<file path=ppt/notesSlides/notesSlide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A16D-7D29-4AB2-A4C5-0E5BA96D5DE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453534"/>
      </p:ext>
    </p:extLst>
  </p:cSld>
  <p:clrMapOvr>
    <a:masterClrMapping/>
  </p:clrMapOvr>
</p:notes>
</file>

<file path=ppt/notesSlides/notesSlide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008313" y="39688"/>
            <a:ext cx="4352925" cy="24495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%"/>
            <a:headEnd/>
            <a:tailEnd/>
          </a:ln>
        </p:spPr>
      </p:sp>
      <p:graphicFrame>
        <p:nvGraphicFramePr>
          <p:cNvPr id="95235" name="Object 3"/>
          <p:cNvGraphicFramePr>
            <a:graphicFrameLocks/>
          </p:cNvGraphicFramePr>
          <p:nvPr/>
        </p:nvGraphicFramePr>
        <p:xfrm>
          <a:off x="465138" y="2878138"/>
          <a:ext cx="5465762" cy="54848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name="Document" r:id="rId3" imgW="5486400" imgH="5494320" progId="Word.Document.8">
                  <p:embed/>
                </p:oleObj>
              </mc:Choice>
              <mc:Fallback>
                <p:oleObj name="Document" r:id="rId3" imgW="5486400" imgH="549432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2878138"/>
                        <a:ext cx="5465762" cy="548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47185EB-2AD7-4145-9A19-FFB8219D1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3047626"/>
      </p:ext>
    </p:extLst>
  </p:cSld>
  <p:clrMapOvr>
    <a:masterClrMapping/>
  </p:clrMapOvr>
</p:notes>
</file>

<file path=ppt/notesSlides/notesSlide1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008313" y="39688"/>
            <a:ext cx="4352925" cy="24495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%"/>
            <a:headEnd/>
            <a:tailEnd/>
          </a:ln>
        </p:spPr>
      </p:sp>
      <p:graphicFrame>
        <p:nvGraphicFramePr>
          <p:cNvPr id="97283" name="Object 3"/>
          <p:cNvGraphicFramePr>
            <a:graphicFrameLocks/>
          </p:cNvGraphicFramePr>
          <p:nvPr/>
        </p:nvGraphicFramePr>
        <p:xfrm>
          <a:off x="465138" y="2878138"/>
          <a:ext cx="5465762" cy="5484812"/>
        </p:xfrm>
        <a:graphic>
          <a:graphicData uri="http://purl.oclc.org/ooxml/officeDocument/oleObject">
            <mc:AlternateContent xmlns:mc="http://schemas.openxmlformats.org/markup-compatibility/2006">
              <mc:Choice xmlns:v="urn:schemas-microsoft-com:vml" Requires="v">
                <p:oleObj name="Document" r:id="rId3" imgW="5486400" imgH="5494320" progId="Word.Document.8">
                  <p:embed/>
                </p:oleObj>
              </mc:Choice>
              <mc:Fallback>
                <p:oleObj name="Document" r:id="rId3" imgW="5486400" imgH="5494320" progId="Word.Documen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2878138"/>
                        <a:ext cx="5465762" cy="548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%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48F1E2E-CF54-4943-B0EA-B2B229E94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323014"/>
      </p:ext>
    </p:extLst>
  </p:cSld>
  <p:clrMapOvr>
    <a:masterClrMapping/>
  </p:clrMapOvr>
</p:notes>
</file>

<file path=ppt/notesSlides/notesSlide1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620A47AC-B0BE-4EF5-8866-1A3AD6BACB58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400474"/>
      </p:ext>
    </p:extLst>
  </p:cSld>
  <p:clrMapOvr>
    <a:masterClrMapping/>
  </p:clrMapOvr>
</p:notes>
</file>

<file path=ppt/notesSlides/notesSlide1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7C452EDF-0147-4023-B614-F7F85C9DAD35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12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1576625042"/>
      </p:ext>
    </p:extLst>
  </p:cSld>
  <p:clrMapOvr>
    <a:masterClrMapping/>
  </p:clrMapOvr>
</p:notes>
</file>

<file path=ppt/notesSlides/notesSlide1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A16D-7D29-4AB2-A4C5-0E5BA96D5DE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620569"/>
      </p:ext>
    </p:extLst>
  </p:cSld>
  <p:clrMapOvr>
    <a:masterClrMapping/>
  </p:clrMapOvr>
</p:notes>
</file>

<file path=ppt/notesSlides/notesSlide1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3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9223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165999748"/>
      </p:ext>
    </p:extLst>
  </p:cSld>
  <p:clrMapOvr>
    <a:masterClrMapping/>
  </p:clrMapOvr>
</p:notes>
</file>

<file path=ppt/notesSlides/notesSlide1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4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11271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512441742"/>
      </p:ext>
    </p:extLst>
  </p:cSld>
  <p:clrMapOvr>
    <a:masterClrMapping/>
  </p:clrMapOvr>
</p:notes>
</file>

<file path=ppt/notesSlides/notesSlide1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5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13319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388475132"/>
      </p:ext>
    </p:extLst>
  </p:cSld>
  <p:clrMapOvr>
    <a:masterClrMapping/>
  </p:clrMapOvr>
</p:notes>
</file>

<file path=ppt/notesSlides/notesSlide1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6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15367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3319241953"/>
      </p:ext>
    </p:extLst>
  </p:cSld>
  <p:clrMapOvr>
    <a:masterClrMapping/>
  </p:clrMapOvr>
</p:notes>
</file>

<file path=ppt/notesSlides/notesSlide1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248358D2-8C81-4D1C-9018-B3514EFCB42C}" type="slidenum">
              <a:rPr lang="en-US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45927"/>
      </p:ext>
    </p:extLst>
  </p:cSld>
  <p:clrMapOvr>
    <a:masterClrMapping/>
  </p:clrMapOvr>
</p:notes>
</file>

<file path=ppt/notesSlides/notesSlide19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E51291B0-338A-4983-A44D-734186C0DE67}" type="slidenum">
              <a:rPr lang="en-US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193461"/>
      </p:ext>
    </p:extLst>
  </p:cSld>
  <p:clrMapOvr>
    <a:masterClrMapping/>
  </p:clrMapOvr>
</p:notes>
</file>

<file path=ppt/notesSlides/notesSlide20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F672C9B6-33B4-4CA1-8286-706BD7A0B3A5}" type="slidenum">
              <a:rPr lang="en-US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703420"/>
      </p:ext>
    </p:extLst>
  </p:cSld>
  <p:clrMapOvr>
    <a:masterClrMapping/>
  </p:clrMapOvr>
</p:notes>
</file>

<file path=ppt/notesSlides/notesSlide2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7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17415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4015527488"/>
      </p:ext>
    </p:extLst>
  </p:cSld>
  <p:clrMapOvr>
    <a:masterClrMapping/>
  </p:clrMapOvr>
</p:notes>
</file>

<file path=ppt/notesSlides/notesSlide22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8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19463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4287035269"/>
      </p:ext>
    </p:extLst>
  </p:cSld>
  <p:clrMapOvr>
    <a:masterClrMapping/>
  </p:clrMapOvr>
</p:notes>
</file>

<file path=ppt/notesSlides/notesSlide23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000" b="0" i="1"/>
              <a:t>9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GB" altLang="en-US" dirty="0"/>
          </a:p>
        </p:txBody>
      </p:sp>
      <p:sp>
        <p:nvSpPr>
          <p:cNvPr id="21511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</p:spTree>
    <p:extLst>
      <p:ext uri="{BB962C8B-B14F-4D97-AF65-F5344CB8AC3E}">
        <p14:creationId xmlns:p14="http://schemas.microsoft.com/office/powerpoint/2010/main" val="1290492438"/>
      </p:ext>
    </p:extLst>
  </p:cSld>
  <p:clrMapOvr>
    <a:masterClrMapping/>
  </p:clrMapOvr>
</p:notes>
</file>

<file path=ppt/notesSlides/notesSlide24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2A16D-7D29-4AB2-A4C5-0E5BA96D5DE8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194827"/>
      </p:ext>
    </p:extLst>
  </p:cSld>
  <p:clrMapOvr>
    <a:masterClrMapping/>
  </p:clrMapOvr>
</p:notes>
</file>

<file path=ppt/notesSlides/notesSlide25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809E8DD1-9AA9-42EB-BA3F-95CAC18C83DF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25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  <p:extLst>
      <p:ext uri="{BB962C8B-B14F-4D97-AF65-F5344CB8AC3E}">
        <p14:creationId xmlns:p14="http://schemas.microsoft.com/office/powerpoint/2010/main" val="3403112519"/>
      </p:ext>
    </p:extLst>
  </p:cSld>
  <p:clrMapOvr>
    <a:masterClrMapping/>
  </p:clrMapOvr>
</p:notes>
</file>

<file path=ppt/notesSlides/notesSlide26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0EB6A207-FEB6-4E1D-B225-5FD23B8506CD}" type="slidenum">
              <a:rPr lang="en-US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41256"/>
      </p:ext>
    </p:extLst>
  </p:cSld>
  <p:clrMapOvr>
    <a:masterClrMapping/>
  </p:clrMapOvr>
</p:notes>
</file>

<file path=ppt/notesSlides/notesSlide27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1F03F2C7-E936-4389-99BE-01D4B23E72E9}" type="slidenum">
              <a:rPr lang="en-US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73247"/>
      </p:ext>
    </p:extLst>
  </p:cSld>
  <p:clrMapOvr>
    <a:masterClrMapping/>
  </p:clrMapOvr>
</p:notes>
</file>

<file path=ppt/notesSlides/notesSlide28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%"/>
            <a:headEnd/>
            <a:tailEnd/>
          </a:ln>
        </p:spPr>
      </p:sp>
      <p:sp>
        <p:nvSpPr>
          <p:cNvPr id="819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GB" dirty="0">
              <a:ea typeface="ＭＳ Ｐゴシック"/>
            </a:endParaRPr>
          </a:p>
        </p:txBody>
      </p:sp>
      <p:sp>
        <p:nvSpPr>
          <p:cNvPr id="819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%"/>
            <a:headEnd/>
            <a:tailEnd/>
          </a:ln>
        </p:spPr>
        <p:txBody>
          <a:bodyPr/>
          <a:lstStyle/>
          <a:p>
            <a:fld id="{27437D80-B158-463E-9264-27A954C9B4C2}" type="slidenum">
              <a:rPr lang="en-US" smtClean="0">
                <a:latin typeface="Calibri" pitchFamily="34" charset="0"/>
                <a:ea typeface="ヒラギノ角ゴ Pro W3"/>
                <a:cs typeface="ヒラギノ角ゴ Pro W3"/>
              </a:rPr>
              <a:pPr/>
              <a:t>29</a:t>
            </a:fld>
            <a:endParaRPr lang="en-US" dirty="0">
              <a:latin typeface="Calibri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6008480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80774-F47A-4927-8555-10D4B9D64D1B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6EC16-F0E1-40B5-A501-7E66DE2CF5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207493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3970A-6209-4E06-935B-3F59D9DFCCD3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45FAD-4849-49D4-A0C3-598D3B0A77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707278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DDAB1-4AF1-4D83-B8E4-2CCB3CDF9B2B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FC2E3-E036-4822-87E5-FCF1FE0D82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586163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4DB8F-10B4-4194-AA86-F0EAB4C69B87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DC410-020D-4385-B096-911C1A422C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718963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219200" y="1371600"/>
            <a:ext cx="9550400" cy="381000"/>
          </a:xfrm>
        </p:spPr>
        <p:txBody>
          <a:bodyPr/>
          <a:lstStyle>
            <a:lvl1pPr algn="ctr">
              <a:buNone/>
              <a:defRPr sz="2800" b="1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4440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purl.oclc.org/ooxml/officeDocument/relationships/slideLayout" Target="../slideLayouts/slideLayout3.xml"/><Relationship Id="rId7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5" Type="http://purl.oclc.org/ooxml/officeDocument/relationships/slideLayout" Target="../slideLayouts/slideLayout5.xml"/><Relationship Id="rId4" Type="http://purl.oclc.org/ooxml/officeDocument/relationships/slideLayout" Target="../slideLayouts/slideLayout4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D1AEDDFB-F2EE-4EDD-B36A-FE9A9AD6B817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66ABD0E1-E46C-4EE7-BE14-35D5FED6CD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77" r:id="rId3"/>
    <p:sldLayoutId id="2147483678" r:id="rId4"/>
    <p:sldLayoutId id="2147483679" r:id="rId5"/>
    <p:sldLayoutId id="2147483682" r:id="rId6"/>
  </p:sldLayoutIdLst>
  <p:txStyles>
    <p:titleStyle>
      <a:lvl1pPr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%"/>
        </a:lnSpc>
        <a:spcBef>
          <a:spcPct val="0%"/>
        </a:spcBef>
        <a:spcAft>
          <a:spcPct val="0%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%"/>
        </a:lnSpc>
        <a:spcBef>
          <a:spcPts val="1000"/>
        </a:spcBef>
        <a:spcAft>
          <a:spcPct val="0%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%"/>
        </a:lnSpc>
        <a:spcBef>
          <a:spcPts val="500"/>
        </a:spcBef>
        <a:spcAft>
          <a:spcPct val="0%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%"/>
        </a:lnSpc>
        <a:spcBef>
          <a:spcPts val="500"/>
        </a:spcBef>
        <a:spcAft>
          <a:spcPct val="0%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%"/>
        </a:lnSpc>
        <a:spcBef>
          <a:spcPts val="500"/>
        </a:spcBef>
        <a:spcAft>
          <a:spcPct val="0%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%"/>
        </a:lnSpc>
        <a:spcBef>
          <a:spcPts val="500"/>
        </a:spcBef>
        <a:spcAft>
          <a:spcPct val="0%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.xml"/><Relationship Id="rId1" Type="http://purl.oclc.org/ooxml/officeDocument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.xml"/><Relationship Id="rId1" Type="http://purl.oclc.org/ooxml/officeDocument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3.xml"/><Relationship Id="rId1" Type="http://purl.oclc.org/ooxml/officeDocument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purl.oclc.org/ooxml/officeDocument/relationships/image" Target="../media/image2.emf"/><Relationship Id="rId2" Type="http://purl.oclc.org/ooxml/officeDocument/relationships/notesSlide" Target="../notesSlides/notesSlide4.xml"/><Relationship Id="rId1" Type="http://purl.oclc.org/ooxml/officeDocument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5.xml"/><Relationship Id="rId1" Type="http://purl.oclc.org/ooxml/officeDocument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6.xml"/><Relationship Id="rId1" Type="http://purl.oclc.org/ooxml/officeDocument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purl.oclc.org/ooxml/officeDocument/relationships/image" Target="../media/image3.wmf"/><Relationship Id="rId2" Type="http://purl.oclc.org/ooxml/officeDocument/relationships/notesSlide" Target="../notesSlides/notesSlide7.xml"/><Relationship Id="rId1" Type="http://purl.oclc.org/ooxml/officeDocument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purl.oclc.org/ooxml/officeDocument/relationships/image" Target="../media/image5.png"/><Relationship Id="rId2" Type="http://purl.oclc.org/ooxml/officeDocument/relationships/notesSlide" Target="../notesSlides/notesSlide8.xml"/><Relationship Id="rId1" Type="http://purl.oclc.org/ooxml/officeDocument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purl.oclc.org/ooxml/officeDocument/relationships/image" Target="../media/image6.wmf"/><Relationship Id="rId2" Type="http://purl.oclc.org/ooxml/officeDocument/relationships/notesSlide" Target="../notesSlides/notesSlide9.xml"/><Relationship Id="rId1" Type="http://purl.oclc.org/ooxml/officeDocument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purl.oclc.org/ooxml/officeDocument/relationships/image" Target="../media/image7.wmf"/><Relationship Id="rId2" Type="http://purl.oclc.org/ooxml/officeDocument/relationships/notesSlide" Target="../notesSlides/notesSlide10.xml"/><Relationship Id="rId1" Type="http://purl.oclc.org/ooxml/officeDocument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purl.oclc.org/ooxml/officeDocument/relationships/image" Target="../media/image8.jpeg"/><Relationship Id="rId2" Type="http://purl.oclc.org/ooxml/officeDocument/relationships/notesSlide" Target="../notesSlides/notesSlide11.xml"/><Relationship Id="rId1" Type="http://purl.oclc.org/ooxml/officeDocument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2.xml"/><Relationship Id="rId1" Type="http://purl.oclc.org/ooxml/officeDocument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3.xml"/><Relationship Id="rId1" Type="http://purl.oclc.org/ooxml/officeDocument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4.xml"/><Relationship Id="rId1" Type="http://purl.oclc.org/ooxml/officeDocument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5.xml"/><Relationship Id="rId1" Type="http://purl.oclc.org/ooxml/officeDocument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purl.oclc.org/ooxml/officeDocument/relationships/image" Target="../media/image9.png"/><Relationship Id="rId2" Type="http://purl.oclc.org/ooxml/officeDocument/relationships/notesSlide" Target="../notesSlides/notesSlide16.xml"/><Relationship Id="rId1" Type="http://purl.oclc.org/ooxml/officeDocument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7.xml"/><Relationship Id="rId1" Type="http://purl.oclc.org/ooxml/officeDocument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8.xml"/><Relationship Id="rId1" Type="http://purl.oclc.org/ooxml/officeDocument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19.xml"/><Relationship Id="rId1" Type="http://purl.oclc.org/ooxml/officeDocument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0.xml"/><Relationship Id="rId1" Type="http://purl.oclc.org/ooxml/officeDocument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purl.oclc.org/ooxml/officeDocument/relationships/image" Target="../media/image10.png"/><Relationship Id="rId2" Type="http://purl.oclc.org/ooxml/officeDocument/relationships/notesSlide" Target="../notesSlides/notesSlide21.xml"/><Relationship Id="rId1" Type="http://purl.oclc.org/ooxml/officeDocument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purl.oclc.org/ooxml/officeDocument/relationships/image" Target="../media/image10.png"/><Relationship Id="rId2" Type="http://purl.oclc.org/ooxml/officeDocument/relationships/notesSlide" Target="../notesSlides/notesSlide22.xml"/><Relationship Id="rId1" Type="http://purl.oclc.org/ooxml/officeDocument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purl.oclc.org/ooxml/officeDocument/relationships/image" Target="../media/image10.png"/><Relationship Id="rId2" Type="http://purl.oclc.org/ooxml/officeDocument/relationships/notesSlide" Target="../notesSlides/notesSlide23.xml"/><Relationship Id="rId1" Type="http://purl.oclc.org/ooxml/officeDocument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4.xml"/><Relationship Id="rId1" Type="http://purl.oclc.org/ooxml/officeDocument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purl.oclc.org/ooxml/officeDocument/relationships/image" Target="../media/image11.gif"/><Relationship Id="rId2" Type="http://purl.oclc.org/ooxml/officeDocument/relationships/notesSlide" Target="../notesSlides/notesSlide25.xml"/><Relationship Id="rId1" Type="http://purl.oclc.org/ooxml/officeDocument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6.xml"/><Relationship Id="rId1" Type="http://purl.oclc.org/ooxml/officeDocument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7.xml"/><Relationship Id="rId1" Type="http://purl.oclc.org/ooxml/officeDocument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purl.oclc.org/ooxml/officeDocument/relationships/image" Target="../media/image12.png"/><Relationship Id="rId1" Type="http://purl.oclc.org/ooxml/officeDocument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purl.oclc.org/ooxml/officeDocument/relationships/notesSlide" Target="../notesSlides/notesSlide28.xml"/><Relationship Id="rId1" Type="http://purl.oclc.org/ooxml/officeDocument/relationships/slideLayout" Target="../slideLayouts/slideLayout6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Strategic Marketing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4000" y="3878262"/>
            <a:ext cx="9144000" cy="2387599"/>
          </a:xfrm>
        </p:spPr>
        <p:txBody>
          <a:bodyPr/>
          <a:lstStyle/>
          <a:p>
            <a:pPr eaLnBrk="1" hangingPunct="1"/>
            <a:r>
              <a:rPr lang="en-GB" altLang="en-US" sz="4400" dirty="0">
                <a:solidFill>
                  <a:srgbClr val="FF0000"/>
                </a:solidFill>
              </a:rPr>
              <a:t>Global Marketing</a:t>
            </a:r>
          </a:p>
          <a:p>
            <a:r>
              <a:rPr lang="en-GB" altLang="x-none" sz="4000" dirty="0">
                <a:solidFill>
                  <a:srgbClr val="7030A0"/>
                </a:solidFill>
              </a:rPr>
              <a:t>Prof. Mohammed Rafiq</a:t>
            </a:r>
          </a:p>
          <a:p>
            <a:r>
              <a:rPr lang="en-GB" altLang="x-none" sz="4000" dirty="0">
                <a:solidFill>
                  <a:srgbClr val="7030A0"/>
                </a:solidFill>
              </a:rPr>
              <a:t>Professor of Marketing</a:t>
            </a:r>
          </a:p>
          <a:p>
            <a:pPr eaLnBrk="1" hangingPunct="1"/>
            <a:endParaRPr lang="en-GB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39256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7FA3"/>
                </a:solidFill>
              </a:rPr>
              <a:t>The global marketplace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1720312" y="1751308"/>
            <a:ext cx="8652243" cy="4623651"/>
          </a:xfrm>
        </p:spPr>
        <p:txBody>
          <a:bodyPr/>
          <a:lstStyle/>
          <a:p>
            <a:pPr>
              <a:buClr>
                <a:srgbClr val="000000"/>
              </a:buClr>
              <a:buSzPts val="1050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Discuss how the international trade system and economic, political-legal and cultural environments affect a company’s international marketing decisions. </a:t>
            </a:r>
          </a:p>
          <a:p>
            <a:pPr>
              <a:buClr>
                <a:srgbClr val="000000"/>
              </a:buClr>
              <a:buSzPts val="1050"/>
            </a:pPr>
            <a:r>
              <a:rPr lang="en-GB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Describe three key approaches to entering international markets. </a:t>
            </a:r>
          </a:p>
          <a:p>
            <a:r>
              <a:rPr lang="en-GB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 how companies adapt their marketing strategies and mixes for international markets</a:t>
            </a:r>
            <a:endParaRPr lang="en-US" sz="3200" dirty="0"/>
          </a:p>
        </p:txBody>
      </p:sp>
      <p:sp>
        <p:nvSpPr>
          <p:cNvPr id="1536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359617" y="1034251"/>
            <a:ext cx="7162800" cy="381000"/>
          </a:xfrm>
        </p:spPr>
        <p:txBody>
          <a:bodyPr/>
          <a:lstStyle/>
          <a:p>
            <a:pPr>
              <a:spcBef>
                <a:spcPct val="0%"/>
              </a:spcBef>
            </a:pPr>
            <a:r>
              <a:rPr lang="en-US" dirty="0"/>
              <a:t>Topic outline</a:t>
            </a:r>
          </a:p>
        </p:txBody>
      </p:sp>
    </p:spTree>
    <p:extLst>
      <p:ext uri="{BB962C8B-B14F-4D97-AF65-F5344CB8AC3E}">
        <p14:creationId xmlns:p14="http://schemas.microsoft.com/office/powerpoint/2010/main" val="1216644591"/>
      </p:ext>
    </p:extLst>
  </p:cSld>
  <p:clrMapOvr>
    <a:masterClrMapping/>
  </p:clrMapOvr>
  <p:transition/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48492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7FA3"/>
                </a:solidFill>
              </a:rPr>
              <a:t>Global marketing today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2771690" y="1459661"/>
            <a:ext cx="7792007" cy="4572000"/>
          </a:xfrm>
        </p:spPr>
        <p:txBody>
          <a:bodyPr/>
          <a:lstStyle/>
          <a:p>
            <a:pPr>
              <a:spcBef>
                <a:spcPct val="0%"/>
              </a:spcBef>
              <a:buFontTx/>
              <a:buNone/>
            </a:pPr>
            <a:r>
              <a:rPr lang="en-US" b="1" dirty="0"/>
              <a:t>A global firm </a:t>
            </a:r>
          </a:p>
          <a:p>
            <a:pPr marL="369888" indent="-369888">
              <a:spcBef>
                <a:spcPct val="0%"/>
              </a:spcBef>
            </a:pPr>
            <a:r>
              <a:rPr lang="en-US" dirty="0"/>
              <a:t>Operates in more than one country.</a:t>
            </a:r>
          </a:p>
          <a:p>
            <a:pPr marL="369888" indent="-369888">
              <a:spcBef>
                <a:spcPct val="0%"/>
              </a:spcBef>
            </a:pPr>
            <a:r>
              <a:rPr lang="en-US" dirty="0"/>
              <a:t>Gains marketing, production, R&amp;D and financial advantages not available to purely domestic competitors.</a:t>
            </a:r>
          </a:p>
          <a:p>
            <a:pPr marL="369888" indent="-369888">
              <a:spcBef>
                <a:spcPct val="0%"/>
              </a:spcBef>
            </a:pPr>
            <a:r>
              <a:rPr lang="en-US" dirty="0"/>
              <a:t>Sees the world as one market.</a:t>
            </a:r>
          </a:p>
        </p:txBody>
      </p:sp>
    </p:spTree>
    <p:extLst>
      <p:ext uri="{BB962C8B-B14F-4D97-AF65-F5344CB8AC3E}">
        <p14:creationId xmlns:p14="http://schemas.microsoft.com/office/powerpoint/2010/main" val="3077249354"/>
      </p:ext>
    </p:extLst>
  </p:cSld>
  <p:clrMapOvr>
    <a:masterClrMapping/>
  </p:clrMapOvr>
  <p:transition/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935142" y="228600"/>
            <a:ext cx="10363200" cy="6477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+mn-lt"/>
              </a:rPr>
              <a:t>Global Marketing Today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370" y="2505043"/>
            <a:ext cx="10886744" cy="19059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401304178"/>
      </p:ext>
    </p:extLst>
  </p:cSld>
  <p:clrMapOvr>
    <a:masterClrMapping/>
  </p:clrMapOvr>
  <p:transition/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 dirty="0"/>
              <a:t>The  marketing task in the domestic environment</a:t>
            </a:r>
            <a:endParaRPr lang="en-GB" altLang="en-US" sz="6600" dirty="0"/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3124200" y="2286000"/>
            <a:ext cx="6324600" cy="4114800"/>
          </a:xfrm>
          <a:prstGeom prst="rect">
            <a:avLst/>
          </a:prstGeom>
          <a:noFill/>
          <a:ln w="9525">
            <a:solidFill>
              <a:schemeClr val="tx2"/>
            </a:solidFill>
            <a:miter lim="800%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GB" altLang="en-US" sz="1800">
              <a:solidFill>
                <a:schemeClr val="tx2"/>
              </a:solidFill>
            </a:endParaRPr>
          </a:p>
        </p:txBody>
      </p:sp>
      <p:sp>
        <p:nvSpPr>
          <p:cNvPr id="69636" name="Oval 4"/>
          <p:cNvSpPr>
            <a:spLocks noChangeArrowheads="1"/>
          </p:cNvSpPr>
          <p:nvPr/>
        </p:nvSpPr>
        <p:spPr bwMode="auto">
          <a:xfrm>
            <a:off x="4267200" y="2819400"/>
            <a:ext cx="3657600" cy="3048000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4267200" y="4343400"/>
            <a:ext cx="3733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9638" name="Line 6"/>
          <p:cNvSpPr>
            <a:spLocks noChangeShapeType="1"/>
          </p:cNvSpPr>
          <p:nvPr/>
        </p:nvSpPr>
        <p:spPr bwMode="auto">
          <a:xfrm>
            <a:off x="6096000" y="2819400"/>
            <a:ext cx="0" cy="3048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4495801" y="3429001"/>
            <a:ext cx="14126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/>
              <a:t>P</a:t>
            </a:r>
            <a:r>
              <a:rPr lang="en-GB" altLang="en-US" sz="2400">
                <a:solidFill>
                  <a:schemeClr val="tx2"/>
                </a:solidFill>
              </a:rPr>
              <a:t>RODUCT</a:t>
            </a:r>
          </a:p>
          <a:p>
            <a:endParaRPr lang="en-GB" altLang="en-US" sz="2400"/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6324601" y="3352801"/>
            <a:ext cx="9012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PRICE</a:t>
            </a:r>
          </a:p>
        </p:txBody>
      </p:sp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4114800" y="4724401"/>
            <a:ext cx="17988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PROMOTION</a:t>
            </a:r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6248400" y="4724401"/>
            <a:ext cx="9630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PLACE</a:t>
            </a:r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4784725" y="2327275"/>
            <a:ext cx="3767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Social/ Cultural Environment</a:t>
            </a:r>
          </a:p>
        </p:txBody>
      </p:sp>
      <p:sp>
        <p:nvSpPr>
          <p:cNvPr id="69644" name="Text Box 12"/>
          <p:cNvSpPr txBox="1">
            <a:spLocks noChangeArrowheads="1"/>
          </p:cNvSpPr>
          <p:nvPr/>
        </p:nvSpPr>
        <p:spPr bwMode="auto">
          <a:xfrm rot="-5449590">
            <a:off x="7969443" y="4203057"/>
            <a:ext cx="17395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Competition</a:t>
            </a:r>
          </a:p>
        </p:txBody>
      </p:sp>
      <p:sp>
        <p:nvSpPr>
          <p:cNvPr id="69645" name="Text Box 13"/>
          <p:cNvSpPr txBox="1">
            <a:spLocks noChangeArrowheads="1"/>
          </p:cNvSpPr>
          <p:nvPr/>
        </p:nvSpPr>
        <p:spPr bwMode="auto">
          <a:xfrm rot="-5456457">
            <a:off x="1882776" y="4054476"/>
            <a:ext cx="308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Economic</a:t>
            </a:r>
            <a:r>
              <a:rPr lang="en-GB" altLang="en-US" sz="2400"/>
              <a:t> </a:t>
            </a:r>
            <a:r>
              <a:rPr lang="en-GB" altLang="en-US" sz="2400">
                <a:solidFill>
                  <a:schemeClr val="tx2"/>
                </a:solidFill>
              </a:rPr>
              <a:t>Environment</a:t>
            </a:r>
          </a:p>
        </p:txBody>
      </p:sp>
      <p:sp>
        <p:nvSpPr>
          <p:cNvPr id="69646" name="Text Box 14"/>
          <p:cNvSpPr txBox="1">
            <a:spLocks noChangeArrowheads="1"/>
          </p:cNvSpPr>
          <p:nvPr/>
        </p:nvSpPr>
        <p:spPr bwMode="auto">
          <a:xfrm rot="21637104">
            <a:off x="4724400" y="5948363"/>
            <a:ext cx="3714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400">
                <a:solidFill>
                  <a:schemeClr val="tx2"/>
                </a:solidFill>
              </a:rPr>
              <a:t>Political/ Legal Environment</a:t>
            </a:r>
          </a:p>
        </p:txBody>
      </p:sp>
    </p:spTree>
    <p:extLst>
      <p:ext uri="{BB962C8B-B14F-4D97-AF65-F5344CB8AC3E}">
        <p14:creationId xmlns:p14="http://schemas.microsoft.com/office/powerpoint/2010/main" val="2792457511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4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87249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/>
            <a:endParaRPr lang="en-US" altLang="en-US" sz="1000" dirty="0">
              <a:latin typeface="Arial" panose="020B0604020202020204" pitchFamily="34" charset="0"/>
            </a:endParaRPr>
          </a:p>
        </p:txBody>
      </p:sp>
      <p:sp>
        <p:nvSpPr>
          <p:cNvPr id="112646" name="Line 6"/>
          <p:cNvSpPr>
            <a:spLocks noChangeShapeType="1"/>
          </p:cNvSpPr>
          <p:nvPr/>
        </p:nvSpPr>
        <p:spPr bwMode="auto">
          <a:xfrm>
            <a:off x="6096000" y="1887539"/>
            <a:ext cx="0" cy="1252537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auto">
          <a:xfrm>
            <a:off x="4010025" y="3165475"/>
            <a:ext cx="4171950" cy="2757488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48" name="Rectangle 8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Going international</a:t>
            </a:r>
          </a:p>
        </p:txBody>
      </p:sp>
      <p:sp>
        <p:nvSpPr>
          <p:cNvPr id="112649" name="Rectangle 9"/>
          <p:cNvSpPr>
            <a:spLocks noChangeArrowheads="1"/>
          </p:cNvSpPr>
          <p:nvPr/>
        </p:nvSpPr>
        <p:spPr bwMode="auto">
          <a:xfrm>
            <a:off x="4051300" y="2549526"/>
            <a:ext cx="203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265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4170363" y="3254375"/>
            <a:ext cx="3886200" cy="26543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Saturated domestic markets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Small domestic markets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Low growth domestic markets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Customer drivers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Competitive forces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Cost factors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/>
              <a:t>Portfolio balance</a:t>
            </a:r>
          </a:p>
        </p:txBody>
      </p:sp>
      <p:sp>
        <p:nvSpPr>
          <p:cNvPr id="112651" name="Rectangle 11"/>
          <p:cNvSpPr>
            <a:spLocks noChangeArrowheads="1"/>
          </p:cNvSpPr>
          <p:nvPr/>
        </p:nvSpPr>
        <p:spPr bwMode="auto">
          <a:xfrm>
            <a:off x="4035425" y="1563689"/>
            <a:ext cx="4121150" cy="587375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Internationalization</a:t>
            </a:r>
          </a:p>
        </p:txBody>
      </p:sp>
    </p:spTree>
    <p:extLst>
      <p:ext uri="{BB962C8B-B14F-4D97-AF65-F5344CB8AC3E}">
        <p14:creationId xmlns:p14="http://schemas.microsoft.com/office/powerpoint/2010/main" val="954709152"/>
      </p:ext>
    </p:extLst>
  </p:cSld>
  <p:clrMapOvr>
    <a:masterClrMapping/>
  </p:clrMapOvr>
  <p:transition>
    <p:wipe/>
  </p:transition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Environmental Forces in International Markets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9675" y="2006600"/>
            <a:ext cx="8772525" cy="4622800"/>
          </a:xfrm>
        </p:spPr>
        <p:txBody>
          <a:bodyPr/>
          <a:lstStyle/>
          <a:p>
            <a:r>
              <a:rPr lang="en-US" altLang="en-US" sz="3200" dirty="0">
                <a:solidFill>
                  <a:schemeClr val="tx2"/>
                </a:solidFill>
              </a:rPr>
              <a:t>Cultural, Social, and Ethical Forces</a:t>
            </a:r>
          </a:p>
          <a:p>
            <a:pPr lvl="1"/>
            <a:r>
              <a:rPr lang="en-US" altLang="en-US" sz="2800" dirty="0">
                <a:solidFill>
                  <a:schemeClr val="tx2"/>
                </a:solidFill>
              </a:rPr>
              <a:t>Beliefs and values about:</a:t>
            </a:r>
          </a:p>
          <a:p>
            <a:pPr lvl="2"/>
            <a:r>
              <a:rPr lang="en-US" altLang="en-US" sz="2800" dirty="0">
                <a:solidFill>
                  <a:schemeClr val="tx2"/>
                </a:solidFill>
              </a:rPr>
              <a:t>Family</a:t>
            </a:r>
          </a:p>
          <a:p>
            <a:pPr lvl="2"/>
            <a:r>
              <a:rPr lang="en-US" altLang="en-US" sz="2800" dirty="0">
                <a:solidFill>
                  <a:schemeClr val="tx2"/>
                </a:solidFill>
              </a:rPr>
              <a:t>Religion</a:t>
            </a:r>
          </a:p>
          <a:p>
            <a:pPr lvl="2"/>
            <a:r>
              <a:rPr lang="en-US" altLang="en-US" sz="2800" dirty="0">
                <a:solidFill>
                  <a:schemeClr val="tx2"/>
                </a:solidFill>
              </a:rPr>
              <a:t>Education</a:t>
            </a:r>
          </a:p>
          <a:p>
            <a:pPr lvl="2"/>
            <a:r>
              <a:rPr lang="en-US" altLang="en-US" sz="2800" dirty="0">
                <a:solidFill>
                  <a:schemeClr val="tx2"/>
                </a:solidFill>
              </a:rPr>
              <a:t>Health</a:t>
            </a:r>
          </a:p>
          <a:p>
            <a:pPr lvl="2"/>
            <a:r>
              <a:rPr lang="en-US" altLang="en-US" sz="2800" dirty="0">
                <a:solidFill>
                  <a:schemeClr val="tx2"/>
                </a:solidFill>
              </a:rPr>
              <a:t>Recreation</a:t>
            </a:r>
          </a:p>
          <a:p>
            <a:pPr lvl="1"/>
            <a:endParaRPr lang="en-US" altLang="en-US" dirty="0">
              <a:solidFill>
                <a:schemeClr val="tx2"/>
              </a:solidFill>
            </a:endParaRPr>
          </a:p>
        </p:txBody>
      </p:sp>
      <p:pic>
        <p:nvPicPr>
          <p:cNvPr id="91140" name="Picture 4" descr="C:\WINDOWS\Application Data\Microsoft\Media Catalog\Downloaded Clips\cl2\bd05524_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90800"/>
            <a:ext cx="3671888" cy="343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648605"/>
      </p:ext>
    </p:extLst>
  </p:cSld>
  <p:clrMapOvr>
    <a:masterClrMapping/>
  </p:clrMapOvr>
  <p:transition>
    <p:cut thruBlk="1"/>
  </p:transition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Picture 2" descr="c:\documents and settings\mirandj\desktop\out\table05_01.gif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"/>
            <a:ext cx="8839200" cy="632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0596428"/>
      </p:ext>
    </p:extLst>
  </p:cSld>
  <p:clrMapOvr>
    <a:masterClrMapping/>
  </p:clrMapOvr>
  <p:transition>
    <p:cut thruBlk="1"/>
  </p:transition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Environmental Forces in International Markets (cont’d)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138364"/>
            <a:ext cx="7772400" cy="3957637"/>
          </a:xfrm>
          <a:solidFill>
            <a:srgbClr val="FFFF99"/>
          </a:solidFill>
        </p:spPr>
        <p:txBody>
          <a:bodyPr/>
          <a:lstStyle/>
          <a:p>
            <a:r>
              <a:rPr lang="en-US" altLang="en-US"/>
              <a:t>Economic Differences Affecting International Marketing</a:t>
            </a:r>
          </a:p>
          <a:p>
            <a:pPr lvl="1"/>
            <a:r>
              <a:rPr lang="en-US" altLang="en-US"/>
              <a:t>Standards of living</a:t>
            </a:r>
          </a:p>
          <a:p>
            <a:pPr lvl="1"/>
            <a:r>
              <a:rPr lang="en-US" altLang="en-US"/>
              <a:t>Credit</a:t>
            </a:r>
          </a:p>
          <a:p>
            <a:pPr lvl="1"/>
            <a:r>
              <a:rPr lang="en-US" altLang="en-US"/>
              <a:t>Buying power</a:t>
            </a:r>
          </a:p>
          <a:p>
            <a:pPr lvl="1"/>
            <a:r>
              <a:rPr lang="en-US" altLang="en-US"/>
              <a:t>Income distribution</a:t>
            </a:r>
          </a:p>
          <a:p>
            <a:pPr lvl="1"/>
            <a:r>
              <a:rPr lang="en-US" altLang="en-US"/>
              <a:t>National resources</a:t>
            </a:r>
          </a:p>
          <a:p>
            <a:pPr lvl="1"/>
            <a:r>
              <a:rPr lang="en-US" altLang="en-US"/>
              <a:t>Exchange rates</a:t>
            </a:r>
          </a:p>
          <a:p>
            <a:pPr lvl="1"/>
            <a:endParaRPr lang="en-US" altLang="en-US"/>
          </a:p>
        </p:txBody>
      </p:sp>
      <p:pic>
        <p:nvPicPr>
          <p:cNvPr id="94212" name="Picture 4" descr="C:\WINDOWS\Application Data\Microsoft\Media Catalog\Downloaded Clips\cl1\bd04964_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2743200"/>
            <a:ext cx="3470275" cy="349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388939"/>
      </p:ext>
    </p:extLst>
  </p:cSld>
  <p:clrMapOvr>
    <a:masterClrMapping/>
  </p:clrMapOvr>
  <p:transition>
    <p:cut thruBlk="1"/>
  </p:transition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Environmental Forces in International Markets (cont’d)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138364"/>
            <a:ext cx="7772400" cy="3957637"/>
          </a:xfrm>
          <a:solidFill>
            <a:srgbClr val="FFFF99"/>
          </a:solidFill>
        </p:spPr>
        <p:txBody>
          <a:bodyPr/>
          <a:lstStyle/>
          <a:p>
            <a:pPr>
              <a:lnSpc>
                <a:spcPct val="90%"/>
              </a:lnSpc>
            </a:pPr>
            <a:r>
              <a:rPr lang="en-US" altLang="en-US" dirty="0"/>
              <a:t>Trade Restrictions Affecting International Marketing</a:t>
            </a:r>
          </a:p>
          <a:p>
            <a:pPr lvl="1">
              <a:lnSpc>
                <a:spcPct val="90%"/>
              </a:lnSpc>
            </a:pPr>
            <a:r>
              <a:rPr lang="en-US" altLang="en-US" dirty="0"/>
              <a:t>Import tariff</a:t>
            </a:r>
          </a:p>
          <a:p>
            <a:pPr lvl="2">
              <a:lnSpc>
                <a:spcPct val="90%"/>
              </a:lnSpc>
            </a:pPr>
            <a:r>
              <a:rPr lang="en-US" altLang="en-US" dirty="0"/>
              <a:t>A duty levied by a nation </a:t>
            </a:r>
            <a:br>
              <a:rPr lang="en-US" altLang="en-US" dirty="0"/>
            </a:br>
            <a:r>
              <a:rPr lang="en-US" altLang="en-US" dirty="0"/>
              <a:t>on goods bought outside </a:t>
            </a:r>
            <a:br>
              <a:rPr lang="en-US" altLang="en-US" dirty="0"/>
            </a:br>
            <a:r>
              <a:rPr lang="en-US" altLang="en-US" dirty="0"/>
              <a:t>its borders and brought in</a:t>
            </a:r>
          </a:p>
          <a:p>
            <a:pPr lvl="1">
              <a:lnSpc>
                <a:spcPct val="90%"/>
              </a:lnSpc>
            </a:pPr>
            <a:r>
              <a:rPr lang="en-US" altLang="en-US" dirty="0"/>
              <a:t>Quota</a:t>
            </a:r>
          </a:p>
          <a:p>
            <a:pPr lvl="2">
              <a:lnSpc>
                <a:spcPct val="90%"/>
              </a:lnSpc>
            </a:pPr>
            <a:r>
              <a:rPr lang="en-US" altLang="en-US" dirty="0"/>
              <a:t>A limit on the amount of </a:t>
            </a:r>
            <a:br>
              <a:rPr lang="en-US" altLang="en-US" dirty="0"/>
            </a:br>
            <a:r>
              <a:rPr lang="en-US" altLang="en-US" dirty="0"/>
              <a:t>goods an importing country</a:t>
            </a:r>
            <a:br>
              <a:rPr lang="en-US" altLang="en-US" dirty="0"/>
            </a:br>
            <a:r>
              <a:rPr lang="en-US" altLang="en-US" dirty="0"/>
              <a:t>will accept for certain product </a:t>
            </a:r>
            <a:br>
              <a:rPr lang="en-US" altLang="en-US" dirty="0"/>
            </a:br>
            <a:r>
              <a:rPr lang="en-US" altLang="en-US" dirty="0"/>
              <a:t>categories in a specific period of time</a:t>
            </a:r>
          </a:p>
        </p:txBody>
      </p:sp>
      <p:grpSp>
        <p:nvGrpSpPr>
          <p:cNvPr id="96260" name="Group 4"/>
          <p:cNvGrpSpPr>
            <a:grpSpLocks/>
          </p:cNvGrpSpPr>
          <p:nvPr/>
        </p:nvGrpSpPr>
        <p:grpSpPr bwMode="auto">
          <a:xfrm>
            <a:off x="6960096" y="2564905"/>
            <a:ext cx="3581400" cy="2282825"/>
            <a:chOff x="3046" y="1826"/>
            <a:chExt cx="2426" cy="1438"/>
          </a:xfrm>
        </p:grpSpPr>
        <p:pic>
          <p:nvPicPr>
            <p:cNvPr id="96261" name="Picture 5" descr="C:\WINDOWS\Application Data\Microsoft\Media Catalog\Downloaded Clips\cl24\j0090018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6" y="1826"/>
              <a:ext cx="2426" cy="1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262" name="Text Box 6"/>
            <p:cNvSpPr txBox="1">
              <a:spLocks noChangeArrowheads="1"/>
            </p:cNvSpPr>
            <p:nvPr/>
          </p:nvSpPr>
          <p:spPr bwMode="auto">
            <a:xfrm rot="521768">
              <a:off x="3777" y="2016"/>
              <a:ext cx="8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%"/>
                </a:spcBef>
              </a:pPr>
              <a:r>
                <a:rPr lang="en-US" altLang="en-US" sz="2400">
                  <a:solidFill>
                    <a:schemeClr val="bg1"/>
                  </a:solidFill>
                  <a:latin typeface="Arial" panose="020B0604020202020204" pitchFamily="34" charset="0"/>
                </a:rPr>
                <a:t>Border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9897514"/>
      </p:ext>
    </p:extLst>
  </p:cSld>
  <p:clrMapOvr>
    <a:masterClrMapping/>
  </p:clrMapOvr>
  <p:transition>
    <p:cut thruBlk="1"/>
  </p:transition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5"/>
          <p:cNvSpPr>
            <a:spLocks noGrp="1"/>
          </p:cNvSpPr>
          <p:nvPr>
            <p:ph idx="1"/>
          </p:nvPr>
        </p:nvSpPr>
        <p:spPr>
          <a:xfrm>
            <a:off x="1183105" y="2013284"/>
            <a:ext cx="5012979" cy="4447674"/>
          </a:xfrm>
        </p:spPr>
        <p:txBody>
          <a:bodyPr>
            <a:normAutofit fontScale="85%" lnSpcReduction="20%"/>
          </a:bodyPr>
          <a:lstStyle/>
          <a:p>
            <a:pPr marL="341313" indent="-341313">
              <a:spcBef>
                <a:spcPct val="0%"/>
              </a:spcBef>
              <a:buNone/>
            </a:pPr>
            <a:r>
              <a:rPr lang="en-US" sz="3300" dirty="0">
                <a:ea typeface="ＭＳ Ｐゴシック" charset="-128"/>
              </a:rPr>
              <a:t>Certain countries have formed </a:t>
            </a:r>
            <a:r>
              <a:rPr lang="en-US" sz="3300" i="1" dirty="0">
                <a:ea typeface="ＭＳ Ｐゴシック" charset="-128"/>
              </a:rPr>
              <a:t>free trade zones</a:t>
            </a:r>
            <a:r>
              <a:rPr lang="en-US" sz="3300" dirty="0">
                <a:ea typeface="ＭＳ Ｐゴシック" charset="-128"/>
              </a:rPr>
              <a:t> or </a:t>
            </a:r>
            <a:r>
              <a:rPr lang="en-US" sz="3300" b="1" dirty="0">
                <a:ea typeface="ＭＳ Ｐゴシック" charset="-128"/>
              </a:rPr>
              <a:t>economic communities</a:t>
            </a:r>
            <a:r>
              <a:rPr lang="en-US" sz="3300" dirty="0">
                <a:ea typeface="ＭＳ Ｐゴシック" charset="-128"/>
              </a:rPr>
              <a:t>. </a:t>
            </a:r>
          </a:p>
          <a:p>
            <a:pPr marL="0" indent="0" algn="ctr">
              <a:spcBef>
                <a:spcPct val="0%"/>
              </a:spcBef>
              <a:buNone/>
            </a:pPr>
            <a:endParaRPr lang="en-US" sz="3000" dirty="0">
              <a:latin typeface="Calibri" charset="0"/>
            </a:endParaRPr>
          </a:p>
          <a:p>
            <a:pPr>
              <a:spcBef>
                <a:spcPct val="0%"/>
              </a:spcBef>
            </a:pPr>
            <a:r>
              <a:rPr lang="en-US" sz="3000" dirty="0">
                <a:latin typeface="Calibri" charset="0"/>
              </a:rPr>
              <a:t>European Union (EU)</a:t>
            </a:r>
          </a:p>
          <a:p>
            <a:pPr>
              <a:spcBef>
                <a:spcPct val="0%"/>
              </a:spcBef>
            </a:pPr>
            <a:endParaRPr lang="en-US" sz="3000" dirty="0">
              <a:latin typeface="Calibri" charset="0"/>
            </a:endParaRPr>
          </a:p>
          <a:p>
            <a:pPr>
              <a:spcBef>
                <a:spcPct val="0%"/>
              </a:spcBef>
            </a:pPr>
            <a:r>
              <a:rPr lang="en-US" sz="3000" dirty="0">
                <a:latin typeface="Calibri" charset="0"/>
              </a:rPr>
              <a:t>North American Free Trade Agreement (NAFTA)</a:t>
            </a:r>
          </a:p>
          <a:p>
            <a:pPr>
              <a:spcBef>
                <a:spcPct val="0%"/>
              </a:spcBef>
            </a:pPr>
            <a:endParaRPr lang="en-US" sz="3000" dirty="0">
              <a:latin typeface="Calibri" charset="0"/>
            </a:endParaRPr>
          </a:p>
          <a:p>
            <a:pPr>
              <a:spcBef>
                <a:spcPct val="0%"/>
              </a:spcBef>
            </a:pPr>
            <a:r>
              <a:rPr lang="en-US" sz="3000" dirty="0">
                <a:latin typeface="Calibri" charset="0"/>
              </a:rPr>
              <a:t>Central American Free Trade Association (CAFTA)</a:t>
            </a:r>
            <a:r>
              <a:rPr lang="en-US" sz="3200" dirty="0">
                <a:ea typeface="ＭＳ Ｐゴシック" charset="-128"/>
              </a:rPr>
              <a:t> </a:t>
            </a:r>
          </a:p>
          <a:p>
            <a:pPr>
              <a:spcBef>
                <a:spcPct val="0%"/>
              </a:spcBef>
            </a:pPr>
            <a:endParaRPr lang="en-US" sz="3200" dirty="0">
              <a:ea typeface="ＭＳ Ｐゴシック" charset="-128"/>
            </a:endParaRPr>
          </a:p>
          <a:p>
            <a:pPr>
              <a:spcBef>
                <a:spcPct val="0%"/>
              </a:spcBef>
            </a:pPr>
            <a:r>
              <a:rPr lang="en-US" sz="3200" dirty="0">
                <a:ea typeface="ＭＳ Ｐゴシック" charset="-128"/>
              </a:rPr>
              <a:t>Union of South American Nations (UNASUR</a:t>
            </a:r>
            <a:endParaRPr lang="en-US" sz="3000" dirty="0">
              <a:latin typeface="Calibri" charset="0"/>
            </a:endParaRPr>
          </a:p>
          <a:p>
            <a:pPr>
              <a:spcBef>
                <a:spcPct val="0%"/>
              </a:spcBef>
            </a:pPr>
            <a:endParaRPr lang="en-US" sz="2200" dirty="0">
              <a:latin typeface="Calibri" charset="0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1183106" y="1295400"/>
            <a:ext cx="9550400" cy="381000"/>
          </a:xfrm>
        </p:spPr>
        <p:txBody>
          <a:bodyPr>
            <a:noAutofit/>
          </a:bodyPr>
          <a:lstStyle/>
          <a:p>
            <a:pPr>
              <a:spcBef>
                <a:spcPct val="0%"/>
              </a:spcBef>
            </a:pPr>
            <a:r>
              <a:rPr lang="en-US" sz="3200" dirty="0">
                <a:solidFill>
                  <a:schemeClr val="accent2"/>
                </a:solidFill>
                <a:latin typeface="Calibri" charset="0"/>
              </a:rPr>
              <a:t>The International Trade System</a:t>
            </a:r>
          </a:p>
        </p:txBody>
      </p:sp>
      <p:pic>
        <p:nvPicPr>
          <p:cNvPr id="31749" name="Picture 5" descr="international flags picture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65233" y="2053389"/>
            <a:ext cx="3376613" cy="327660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171450"/>
            <a:ext cx="10363200" cy="647700"/>
          </a:xfrm>
        </p:spPr>
        <p:txBody>
          <a:bodyPr anchor="b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Looking at the Global Marketing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717377837"/>
      </p:ext>
    </p:extLst>
  </p:cSld>
  <p:clrMapOvr>
    <a:masterClrMapping/>
  </p:clrMapOvr>
  <p:transition/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2775164" y="2116995"/>
            <a:ext cx="7772400" cy="4114800"/>
          </a:xfrm>
        </p:spPr>
        <p:txBody>
          <a:bodyPr/>
          <a:lstStyle/>
          <a:p>
            <a:pPr marL="381000" indent="-381000">
              <a:spcBef>
                <a:spcPct val="0%"/>
              </a:spcBef>
              <a:buNone/>
            </a:pPr>
            <a:r>
              <a:rPr lang="en-US" b="1" dirty="0"/>
              <a:t>Exchange controls</a:t>
            </a:r>
            <a:r>
              <a:rPr lang="en-US" dirty="0"/>
              <a:t> are a limit on the amount of foreign exchange and the exchange rate against other currencies.</a:t>
            </a:r>
          </a:p>
          <a:p>
            <a:pPr marL="533400" indent="-533400">
              <a:spcBef>
                <a:spcPct val="0%"/>
              </a:spcBef>
              <a:buNone/>
            </a:pPr>
            <a:endParaRPr lang="en-US" dirty="0"/>
          </a:p>
          <a:p>
            <a:pPr marL="381000" indent="-381000">
              <a:spcBef>
                <a:spcPct val="0%"/>
              </a:spcBef>
              <a:buNone/>
            </a:pPr>
            <a:r>
              <a:rPr lang="en-US" b="1" dirty="0"/>
              <a:t>Non-tariff trade barriers</a:t>
            </a:r>
            <a:r>
              <a:rPr lang="en-US" dirty="0"/>
              <a:t> are biases against bids or restrictive product standards that go against foreign companies.</a:t>
            </a:r>
          </a:p>
        </p:txBody>
      </p:sp>
      <p:sp>
        <p:nvSpPr>
          <p:cNvPr id="25603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514600" y="1434971"/>
            <a:ext cx="7162800" cy="381000"/>
          </a:xfrm>
        </p:spPr>
        <p:txBody>
          <a:bodyPr/>
          <a:lstStyle/>
          <a:p>
            <a:pPr>
              <a:spcBef>
                <a:spcPct val="0%"/>
              </a:spcBef>
            </a:pPr>
            <a:r>
              <a:rPr lang="en-US" dirty="0"/>
              <a:t>The international trade system</a:t>
            </a:r>
          </a:p>
          <a:p>
            <a:pPr>
              <a:spcBef>
                <a:spcPct val="0%"/>
              </a:spcBef>
            </a:pPr>
            <a:endParaRPr lang="en-US" dirty="0"/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219547"/>
            <a:ext cx="7772400" cy="1143000"/>
          </a:xfrm>
        </p:spPr>
        <p:txBody>
          <a:bodyPr/>
          <a:lstStyle/>
          <a:p>
            <a:r>
              <a:rPr lang="en-US" sz="3200" dirty="0">
                <a:solidFill>
                  <a:srgbClr val="007FA3"/>
                </a:solidFill>
              </a:rPr>
              <a:t>Looking at the global </a:t>
            </a:r>
            <a:br>
              <a:rPr lang="en-US" sz="3200" dirty="0">
                <a:solidFill>
                  <a:srgbClr val="007FA3"/>
                </a:solidFill>
              </a:rPr>
            </a:br>
            <a:r>
              <a:rPr lang="en-US" sz="3200" dirty="0">
                <a:solidFill>
                  <a:srgbClr val="007FA3"/>
                </a:solidFill>
              </a:rPr>
              <a:t>marketing environment (Continued)</a:t>
            </a:r>
          </a:p>
        </p:txBody>
      </p:sp>
    </p:spTree>
    <p:extLst>
      <p:ext uri="{BB962C8B-B14F-4D97-AF65-F5344CB8AC3E}">
        <p14:creationId xmlns:p14="http://schemas.microsoft.com/office/powerpoint/2010/main" val="3635734620"/>
      </p:ext>
    </p:extLst>
  </p:cSld>
  <p:clrMapOvr>
    <a:masterClrMapping/>
  </p:clrMapOvr>
  <p:transition/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Environmental Forces in International Markets (cont’d)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006600"/>
            <a:ext cx="7772400" cy="4089400"/>
          </a:xfrm>
          <a:solidFill>
            <a:srgbClr val="FFFF99"/>
          </a:solidFill>
        </p:spPr>
        <p:txBody>
          <a:bodyPr/>
          <a:lstStyle/>
          <a:p>
            <a:r>
              <a:rPr lang="en-US" altLang="en-US" dirty="0"/>
              <a:t>Political and Legal Forces</a:t>
            </a:r>
          </a:p>
          <a:p>
            <a:pPr lvl="1"/>
            <a:r>
              <a:rPr lang="en-US" altLang="en-US" dirty="0"/>
              <a:t>Governmental policies, laws, and regulations</a:t>
            </a:r>
          </a:p>
          <a:p>
            <a:pPr lvl="1"/>
            <a:r>
              <a:rPr lang="en-US" altLang="en-US" dirty="0"/>
              <a:t>Import barriers (quotas, port-of-entry taxes)</a:t>
            </a:r>
          </a:p>
          <a:p>
            <a:pPr lvl="1"/>
            <a:r>
              <a:rPr lang="en-US" altLang="en-US" dirty="0"/>
              <a:t>Standards of ethics (payoffs, bribes)</a:t>
            </a:r>
          </a:p>
          <a:p>
            <a:r>
              <a:rPr lang="en-US" altLang="en-US" dirty="0"/>
              <a:t>Technological Forces</a:t>
            </a:r>
          </a:p>
          <a:p>
            <a:pPr lvl="1"/>
            <a:r>
              <a:rPr lang="en-US" altLang="en-US" dirty="0"/>
              <a:t>Telecommunications (e-mail, cell phones, Internet)</a:t>
            </a:r>
          </a:p>
          <a:p>
            <a:pPr lvl="1"/>
            <a:r>
              <a:rPr lang="en-US" altLang="en-US" dirty="0"/>
              <a:t>Extent of technological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771272500"/>
      </p:ext>
    </p:extLst>
  </p:cSld>
  <p:clrMapOvr>
    <a:masterClrMapping/>
  </p:clrMapOvr>
  <p:transition>
    <p:cut thruBlk="1"/>
  </p:transition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87249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/>
            <a:endParaRPr lang="en-US" altLang="en-US" sz="1000" dirty="0">
              <a:latin typeface="Arial" panose="020B0604020202020204" pitchFamily="34" charset="0"/>
            </a:endParaRPr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 flipV="1">
            <a:off x="6096000" y="4243389"/>
            <a:ext cx="0" cy="839787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6096000" y="2301875"/>
            <a:ext cx="0" cy="788988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17551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Selecting foreign markets</a:t>
            </a:r>
          </a:p>
        </p:txBody>
      </p:sp>
      <p:grpSp>
        <p:nvGrpSpPr>
          <p:cNvPr id="8203" name="Group 11"/>
          <p:cNvGrpSpPr>
            <a:grpSpLocks/>
          </p:cNvGrpSpPr>
          <p:nvPr/>
        </p:nvGrpSpPr>
        <p:grpSpPr bwMode="auto">
          <a:xfrm>
            <a:off x="4913313" y="3121026"/>
            <a:ext cx="2366962" cy="1139825"/>
            <a:chOff x="2135" y="1966"/>
            <a:chExt cx="1491" cy="718"/>
          </a:xfrm>
        </p:grpSpPr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2135" y="1966"/>
              <a:ext cx="1491" cy="718"/>
            </a:xfrm>
            <a:prstGeom prst="ellipse">
              <a:avLst/>
            </a:prstGeom>
            <a:solidFill>
              <a:srgbClr val="FFFFCC"/>
            </a:solidFill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02" name="Rectangle 10"/>
            <p:cNvSpPr>
              <a:spLocks noChangeArrowheads="1"/>
            </p:cNvSpPr>
            <p:nvPr/>
          </p:nvSpPr>
          <p:spPr bwMode="auto">
            <a:xfrm>
              <a:off x="2493" y="2034"/>
              <a:ext cx="775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1800">
                  <a:latin typeface="Arial" panose="020B0604020202020204" pitchFamily="34" charset="0"/>
                </a:rPr>
                <a:t>Foreign market selection</a:t>
              </a:r>
            </a:p>
          </p:txBody>
        </p:sp>
      </p:grpSp>
      <p:grpSp>
        <p:nvGrpSpPr>
          <p:cNvPr id="8214" name="Group 22"/>
          <p:cNvGrpSpPr>
            <a:grpSpLocks/>
          </p:cNvGrpSpPr>
          <p:nvPr/>
        </p:nvGrpSpPr>
        <p:grpSpPr bwMode="auto">
          <a:xfrm>
            <a:off x="4090989" y="996951"/>
            <a:ext cx="4010025" cy="5389563"/>
            <a:chOff x="1617" y="628"/>
            <a:chExt cx="2526" cy="3395"/>
          </a:xfrm>
        </p:grpSpPr>
        <p:grpSp>
          <p:nvGrpSpPr>
            <p:cNvPr id="8208" name="Group 16"/>
            <p:cNvGrpSpPr>
              <a:grpSpLocks/>
            </p:cNvGrpSpPr>
            <p:nvPr/>
          </p:nvGrpSpPr>
          <p:grpSpPr bwMode="auto">
            <a:xfrm>
              <a:off x="1617" y="628"/>
              <a:ext cx="2526" cy="1026"/>
              <a:chOff x="1617" y="628"/>
              <a:chExt cx="2526" cy="1026"/>
            </a:xfrm>
          </p:grpSpPr>
          <p:sp>
            <p:nvSpPr>
              <p:cNvPr id="8204" name="Rectangle 12"/>
              <p:cNvSpPr>
                <a:spLocks noChangeArrowheads="1"/>
              </p:cNvSpPr>
              <p:nvPr/>
            </p:nvSpPr>
            <p:spPr bwMode="auto">
              <a:xfrm>
                <a:off x="1617" y="628"/>
                <a:ext cx="2526" cy="1026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chemeClr val="accent2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207" name="Group 15"/>
              <p:cNvGrpSpPr>
                <a:grpSpLocks/>
              </p:cNvGrpSpPr>
              <p:nvPr/>
            </p:nvGrpSpPr>
            <p:grpSpPr bwMode="auto">
              <a:xfrm>
                <a:off x="1766" y="682"/>
                <a:ext cx="2081" cy="923"/>
                <a:chOff x="1766" y="682"/>
                <a:chExt cx="2081" cy="923"/>
              </a:xfrm>
            </p:grpSpPr>
            <p:sp>
              <p:nvSpPr>
                <p:cNvPr id="8205" name="Rectangle 13"/>
                <p:cNvSpPr>
                  <a:spLocks noChangeArrowheads="1"/>
                </p:cNvSpPr>
                <p:nvPr/>
              </p:nvSpPr>
              <p:spPr bwMode="auto">
                <a:xfrm>
                  <a:off x="2334" y="965"/>
                  <a:ext cx="1092" cy="6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571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714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286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432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004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576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148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en-US" sz="2000">
                      <a:latin typeface="Arial" panose="020B0604020202020204" pitchFamily="34" charset="0"/>
                    </a:rPr>
                    <a:t>Economic</a:t>
                  </a:r>
                </a:p>
                <a:p>
                  <a:pPr algn="ctr"/>
                  <a:r>
                    <a:rPr lang="en-US" altLang="en-US" sz="2000">
                      <a:latin typeface="Arial" panose="020B0604020202020204" pitchFamily="34" charset="0"/>
                    </a:rPr>
                    <a:t>Socio-cultural</a:t>
                  </a:r>
                </a:p>
                <a:p>
                  <a:pPr algn="ctr"/>
                  <a:r>
                    <a:rPr lang="en-US" altLang="en-US" sz="2000">
                      <a:latin typeface="Arial" panose="020B0604020202020204" pitchFamily="34" charset="0"/>
                    </a:rPr>
                    <a:t>Political-legal</a:t>
                  </a:r>
                </a:p>
              </p:txBody>
            </p:sp>
            <p:sp>
              <p:nvSpPr>
                <p:cNvPr id="8206" name="Rectangle 14"/>
                <p:cNvSpPr>
                  <a:spLocks noChangeArrowheads="1"/>
                </p:cNvSpPr>
                <p:nvPr/>
              </p:nvSpPr>
              <p:spPr bwMode="auto">
                <a:xfrm>
                  <a:off x="1766" y="682"/>
                  <a:ext cx="208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571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714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286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432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004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576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148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2000">
                      <a:latin typeface="Arial" panose="020B0604020202020204" pitchFamily="34" charset="0"/>
                    </a:rPr>
                    <a:t>Macroenvironmental issues</a:t>
                  </a:r>
                </a:p>
              </p:txBody>
            </p:sp>
          </p:grpSp>
        </p:grpSp>
        <p:grpSp>
          <p:nvGrpSpPr>
            <p:cNvPr id="8213" name="Group 21"/>
            <p:cNvGrpSpPr>
              <a:grpSpLocks/>
            </p:cNvGrpSpPr>
            <p:nvPr/>
          </p:nvGrpSpPr>
          <p:grpSpPr bwMode="auto">
            <a:xfrm>
              <a:off x="1617" y="2997"/>
              <a:ext cx="2526" cy="1026"/>
              <a:chOff x="1617" y="2997"/>
              <a:chExt cx="2526" cy="1026"/>
            </a:xfrm>
          </p:grpSpPr>
          <p:sp>
            <p:nvSpPr>
              <p:cNvPr id="8209" name="Rectangle 17"/>
              <p:cNvSpPr>
                <a:spLocks noChangeArrowheads="1"/>
              </p:cNvSpPr>
              <p:nvPr/>
            </p:nvSpPr>
            <p:spPr bwMode="auto">
              <a:xfrm>
                <a:off x="1617" y="2997"/>
                <a:ext cx="2526" cy="1026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chemeClr val="accent2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8212" name="Group 20"/>
              <p:cNvGrpSpPr>
                <a:grpSpLocks/>
              </p:cNvGrpSpPr>
              <p:nvPr/>
            </p:nvGrpSpPr>
            <p:grpSpPr bwMode="auto">
              <a:xfrm>
                <a:off x="1788" y="3129"/>
                <a:ext cx="2092" cy="715"/>
                <a:chOff x="1788" y="3129"/>
                <a:chExt cx="2092" cy="715"/>
              </a:xfrm>
            </p:grpSpPr>
            <p:sp>
              <p:nvSpPr>
                <p:cNvPr id="8210" name="Rectangle 18"/>
                <p:cNvSpPr>
                  <a:spLocks noChangeArrowheads="1"/>
                </p:cNvSpPr>
                <p:nvPr/>
              </p:nvSpPr>
              <p:spPr bwMode="auto">
                <a:xfrm>
                  <a:off x="1788" y="3129"/>
                  <a:ext cx="202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571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714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286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432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004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576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148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2000">
                      <a:latin typeface="Arial" panose="020B0604020202020204" pitchFamily="34" charset="0"/>
                    </a:rPr>
                    <a:t>Microenvironmental issues</a:t>
                  </a:r>
                </a:p>
              </p:txBody>
            </p:sp>
            <p:sp>
              <p:nvSpPr>
                <p:cNvPr id="8211" name="Rectangle 19"/>
                <p:cNvSpPr>
                  <a:spLocks noChangeArrowheads="1"/>
                </p:cNvSpPr>
                <p:nvPr/>
              </p:nvSpPr>
              <p:spPr bwMode="auto">
                <a:xfrm>
                  <a:off x="1881" y="3396"/>
                  <a:ext cx="1999" cy="4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571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714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286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432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004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576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148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en-US" sz="2000">
                      <a:latin typeface="Arial" panose="020B0604020202020204" pitchFamily="34" charset="0"/>
                    </a:rPr>
                    <a:t>Market attractiveness</a:t>
                  </a:r>
                </a:p>
                <a:p>
                  <a:pPr algn="ctr"/>
                  <a:r>
                    <a:rPr lang="en-US" altLang="en-US" sz="2000">
                      <a:latin typeface="Arial" panose="020B0604020202020204" pitchFamily="34" charset="0"/>
                    </a:rPr>
                    <a:t>Company capability profile</a:t>
                  </a:r>
                </a:p>
              </p:txBody>
            </p:sp>
          </p:grpSp>
        </p:grpSp>
      </p:grpSp>
      <p:grpSp>
        <p:nvGrpSpPr>
          <p:cNvPr id="8217" name="Group 25"/>
          <p:cNvGrpSpPr>
            <a:grpSpLocks/>
          </p:cNvGrpSpPr>
          <p:nvPr/>
        </p:nvGrpSpPr>
        <p:grpSpPr bwMode="auto">
          <a:xfrm>
            <a:off x="1538288" y="25400"/>
            <a:ext cx="107950" cy="82550"/>
            <a:chOff x="9" y="16"/>
            <a:chExt cx="68" cy="52"/>
          </a:xfrm>
        </p:grpSpPr>
        <p:sp>
          <p:nvSpPr>
            <p:cNvPr id="8215" name="Line 23"/>
            <p:cNvSpPr>
              <a:spLocks noChangeShapeType="1"/>
            </p:cNvSpPr>
            <p:nvPr/>
          </p:nvSpPr>
          <p:spPr bwMode="auto">
            <a:xfrm>
              <a:off x="43" y="16"/>
              <a:ext cx="0" cy="52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8216" name="Line 24"/>
            <p:cNvSpPr>
              <a:spLocks noChangeShapeType="1"/>
            </p:cNvSpPr>
            <p:nvPr/>
          </p:nvSpPr>
          <p:spPr bwMode="auto">
            <a:xfrm flipH="1">
              <a:off x="9" y="42"/>
              <a:ext cx="68" cy="0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54442075"/>
      </p:ext>
    </p:extLst>
  </p:cSld>
  <p:clrMapOvr>
    <a:masterClrMapping/>
  </p:clrMapOvr>
  <p:transition>
    <p:wipe/>
  </p:transition>
</p:sld>
</file>

<file path=ppt/slides/slide1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6" name="Oval 6"/>
          <p:cNvSpPr>
            <a:spLocks noChangeArrowheads="1"/>
          </p:cNvSpPr>
          <p:nvPr/>
        </p:nvSpPr>
        <p:spPr bwMode="auto">
          <a:xfrm>
            <a:off x="4913313" y="3121026"/>
            <a:ext cx="2366962" cy="1139825"/>
          </a:xfrm>
          <a:prstGeom prst="ellipse">
            <a:avLst/>
          </a:prstGeom>
          <a:solidFill>
            <a:srgbClr val="FFFFCC"/>
          </a:solidFill>
          <a:ln w="25400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6096000" y="2301875"/>
            <a:ext cx="0" cy="788988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651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Selecting foreign markets</a:t>
            </a:r>
          </a:p>
        </p:txBody>
      </p:sp>
      <p:grpSp>
        <p:nvGrpSpPr>
          <p:cNvPr id="10253" name="Group 13"/>
          <p:cNvGrpSpPr>
            <a:grpSpLocks/>
          </p:cNvGrpSpPr>
          <p:nvPr/>
        </p:nvGrpSpPr>
        <p:grpSpPr bwMode="auto">
          <a:xfrm>
            <a:off x="4090989" y="996951"/>
            <a:ext cx="4010025" cy="1628775"/>
            <a:chOff x="1617" y="628"/>
            <a:chExt cx="2526" cy="1026"/>
          </a:xfrm>
        </p:grpSpPr>
        <p:sp>
          <p:nvSpPr>
            <p:cNvPr id="10249" name="Rectangle 9"/>
            <p:cNvSpPr>
              <a:spLocks noChangeArrowheads="1"/>
            </p:cNvSpPr>
            <p:nvPr/>
          </p:nvSpPr>
          <p:spPr bwMode="auto">
            <a:xfrm>
              <a:off x="1617" y="628"/>
              <a:ext cx="2526" cy="1026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accent2"/>
              </a:solidFill>
              <a:miter lim="800%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10252" name="Group 12"/>
            <p:cNvGrpSpPr>
              <a:grpSpLocks/>
            </p:cNvGrpSpPr>
            <p:nvPr/>
          </p:nvGrpSpPr>
          <p:grpSpPr bwMode="auto">
            <a:xfrm>
              <a:off x="1766" y="682"/>
              <a:ext cx="2081" cy="923"/>
              <a:chOff x="1766" y="682"/>
              <a:chExt cx="2081" cy="923"/>
            </a:xfrm>
          </p:grpSpPr>
          <p:sp>
            <p:nvSpPr>
              <p:cNvPr id="10250" name="Rectangle 10"/>
              <p:cNvSpPr>
                <a:spLocks noChangeArrowheads="1"/>
              </p:cNvSpPr>
              <p:nvPr/>
            </p:nvSpPr>
            <p:spPr bwMode="auto">
              <a:xfrm>
                <a:off x="2334" y="965"/>
                <a:ext cx="1092" cy="6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altLang="en-US" sz="2000">
                    <a:latin typeface="Arial" panose="020B0604020202020204" pitchFamily="34" charset="0"/>
                  </a:rPr>
                  <a:t>Economic</a:t>
                </a:r>
              </a:p>
              <a:p>
                <a:pPr algn="ctr"/>
                <a:r>
                  <a:rPr lang="en-US" altLang="en-US" sz="2000">
                    <a:latin typeface="Arial" panose="020B0604020202020204" pitchFamily="34" charset="0"/>
                  </a:rPr>
                  <a:t>Socio-cultural</a:t>
                </a:r>
              </a:p>
              <a:p>
                <a:pPr algn="ctr"/>
                <a:r>
                  <a:rPr lang="en-US" altLang="en-US" sz="2000">
                    <a:latin typeface="Arial" panose="020B0604020202020204" pitchFamily="34" charset="0"/>
                  </a:rPr>
                  <a:t>Political-legal</a:t>
                </a:r>
              </a:p>
            </p:txBody>
          </p:sp>
          <p:sp>
            <p:nvSpPr>
              <p:cNvPr id="10251" name="Rectangle 11"/>
              <p:cNvSpPr>
                <a:spLocks noChangeArrowheads="1"/>
              </p:cNvSpPr>
              <p:nvPr/>
            </p:nvSpPr>
            <p:spPr bwMode="auto">
              <a:xfrm>
                <a:off x="1766" y="682"/>
                <a:ext cx="2081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>
                    <a:latin typeface="Arial" panose="020B0604020202020204" pitchFamily="34" charset="0"/>
                  </a:rPr>
                  <a:t>Macroenvironmental issues</a:t>
                </a:r>
              </a:p>
            </p:txBody>
          </p:sp>
        </p:grpSp>
      </p:grp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2306639" y="3305176"/>
            <a:ext cx="7507287" cy="2981325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4051300" y="3432175"/>
            <a:ext cx="3831178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Microenvironmental issues</a:t>
            </a:r>
          </a:p>
        </p:txBody>
      </p:sp>
      <p:grpSp>
        <p:nvGrpSpPr>
          <p:cNvPr id="10260" name="Group 20"/>
          <p:cNvGrpSpPr>
            <a:grpSpLocks/>
          </p:cNvGrpSpPr>
          <p:nvPr/>
        </p:nvGrpSpPr>
        <p:grpSpPr bwMode="auto">
          <a:xfrm>
            <a:off x="2438401" y="3963988"/>
            <a:ext cx="7459663" cy="2297112"/>
            <a:chOff x="576" y="2497"/>
            <a:chExt cx="4699" cy="1447"/>
          </a:xfrm>
        </p:grpSpPr>
        <p:sp>
          <p:nvSpPr>
            <p:cNvPr id="10256" name="Rectangle 16"/>
            <p:cNvSpPr>
              <a:spLocks noChangeArrowheads="1"/>
            </p:cNvSpPr>
            <p:nvPr/>
          </p:nvSpPr>
          <p:spPr bwMode="auto">
            <a:xfrm>
              <a:off x="576" y="2497"/>
              <a:ext cx="164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 sz="2000">
                  <a:solidFill>
                    <a:srgbClr val="FF0033"/>
                  </a:solidFill>
                  <a:latin typeface="Arial" panose="020B0604020202020204" pitchFamily="34" charset="0"/>
                </a:rPr>
                <a:t>Market attractiveness</a:t>
              </a:r>
            </a:p>
          </p:txBody>
        </p:sp>
        <p:sp>
          <p:nvSpPr>
            <p:cNvPr id="10257" name="Rectangle 17"/>
            <p:cNvSpPr>
              <a:spLocks noChangeArrowheads="1"/>
            </p:cNvSpPr>
            <p:nvPr/>
          </p:nvSpPr>
          <p:spPr bwMode="auto">
            <a:xfrm>
              <a:off x="3041" y="2497"/>
              <a:ext cx="201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000">
                  <a:solidFill>
                    <a:srgbClr val="FF0033"/>
                  </a:solidFill>
                  <a:latin typeface="Arial" panose="020B0604020202020204" pitchFamily="34" charset="0"/>
                </a:rPr>
                <a:t>Company capability profile</a:t>
              </a:r>
            </a:p>
          </p:txBody>
        </p:sp>
        <p:sp>
          <p:nvSpPr>
            <p:cNvPr id="10258" name="Rectangle 18"/>
            <p:cNvSpPr>
              <a:spLocks noChangeArrowheads="1"/>
            </p:cNvSpPr>
            <p:nvPr/>
          </p:nvSpPr>
          <p:spPr bwMode="auto">
            <a:xfrm>
              <a:off x="580" y="2769"/>
              <a:ext cx="2374" cy="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621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981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384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8956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3528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100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market size and growth rate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competition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costs of serving the market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profit potential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market access</a:t>
              </a:r>
            </a:p>
          </p:txBody>
        </p:sp>
        <p:sp>
          <p:nvSpPr>
            <p:cNvPr id="10259" name="Rectangle 19"/>
            <p:cNvSpPr>
              <a:spLocks noChangeArrowheads="1"/>
            </p:cNvSpPr>
            <p:nvPr/>
          </p:nvSpPr>
          <p:spPr bwMode="auto">
            <a:xfrm>
              <a:off x="3044" y="2769"/>
              <a:ext cx="2231" cy="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/>
            <a:lstStyle>
              <a:lvl1pPr marL="342900" indent="-3429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5621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981200" indent="-2286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4384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8956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3528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10000" indent="-228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skills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resources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product adaptation</a:t>
              </a:r>
            </a:p>
            <a:p>
              <a:pPr>
                <a:spcBef>
                  <a:spcPct val="20%"/>
                </a:spcBef>
                <a:buClr>
                  <a:schemeClr val="accent2"/>
                </a:buClr>
                <a:buSzPct val="60%"/>
                <a:buFont typeface="Wingdings" panose="05000000000000000000" pitchFamily="2" charset="2"/>
                <a:buChar char="Ø"/>
              </a:pPr>
              <a:r>
                <a:rPr lang="en-US" altLang="en-US" sz="2000" dirty="0">
                  <a:latin typeface="Arial" panose="020B0604020202020204" pitchFamily="34" charset="0"/>
                </a:rPr>
                <a:t>competitive advantage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738515"/>
      </p:ext>
    </p:extLst>
  </p:cSld>
  <p:clrMapOvr>
    <a:masterClrMapping/>
  </p:clrMapOvr>
  <p:transition>
    <p:zoom/>
  </p:transition>
</p:sld>
</file>

<file path=ppt/slides/slide1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 flipV="1">
            <a:off x="6096000" y="2189163"/>
            <a:ext cx="0" cy="863600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 flipH="1" flipV="1">
            <a:off x="7324725" y="1962150"/>
            <a:ext cx="1716088" cy="954088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 flipV="1">
            <a:off x="3176589" y="1962150"/>
            <a:ext cx="1665287" cy="954088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33414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Foreign market entry strategies</a:t>
            </a:r>
          </a:p>
        </p:txBody>
      </p:sp>
      <p:grpSp>
        <p:nvGrpSpPr>
          <p:cNvPr id="12314" name="Group 26"/>
          <p:cNvGrpSpPr>
            <a:grpSpLocks/>
          </p:cNvGrpSpPr>
          <p:nvPr/>
        </p:nvGrpSpPr>
        <p:grpSpPr bwMode="auto">
          <a:xfrm>
            <a:off x="2055814" y="2841625"/>
            <a:ext cx="8078787" cy="1041400"/>
            <a:chOff x="335" y="1790"/>
            <a:chExt cx="5089" cy="656"/>
          </a:xfrm>
        </p:grpSpPr>
        <p:grpSp>
          <p:nvGrpSpPr>
            <p:cNvPr id="12302" name="Group 14"/>
            <p:cNvGrpSpPr>
              <a:grpSpLocks/>
            </p:cNvGrpSpPr>
            <p:nvPr/>
          </p:nvGrpSpPr>
          <p:grpSpPr bwMode="auto">
            <a:xfrm>
              <a:off x="2118" y="1790"/>
              <a:ext cx="1523" cy="656"/>
              <a:chOff x="2118" y="1790"/>
              <a:chExt cx="1523" cy="656"/>
            </a:xfrm>
          </p:grpSpPr>
          <p:sp>
            <p:nvSpPr>
              <p:cNvPr id="12298" name="Rectangle 10"/>
              <p:cNvSpPr>
                <a:spLocks noChangeArrowheads="1"/>
              </p:cNvSpPr>
              <p:nvPr/>
            </p:nvSpPr>
            <p:spPr bwMode="auto">
              <a:xfrm>
                <a:off x="2118" y="1792"/>
                <a:ext cx="1523" cy="639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chemeClr val="accent2"/>
                </a:solidFill>
                <a:miter lim="800%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grpSp>
            <p:nvGrpSpPr>
              <p:cNvPr id="12301" name="Group 13"/>
              <p:cNvGrpSpPr>
                <a:grpSpLocks/>
              </p:cNvGrpSpPr>
              <p:nvPr/>
            </p:nvGrpSpPr>
            <p:grpSpPr bwMode="auto">
              <a:xfrm>
                <a:off x="2137" y="1790"/>
                <a:ext cx="1120" cy="656"/>
                <a:chOff x="2137" y="1790"/>
                <a:chExt cx="1120" cy="656"/>
              </a:xfrm>
            </p:grpSpPr>
            <p:sp>
              <p:nvSpPr>
                <p:cNvPr id="12299" name="Rectangle 11"/>
                <p:cNvSpPr>
                  <a:spLocks noChangeArrowheads="1"/>
                </p:cNvSpPr>
                <p:nvPr/>
              </p:nvSpPr>
              <p:spPr bwMode="auto">
                <a:xfrm>
                  <a:off x="2137" y="1790"/>
                  <a:ext cx="112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571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714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286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432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004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576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148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2000" dirty="0">
                      <a:latin typeface="Arial" panose="020B0604020202020204" pitchFamily="34" charset="0"/>
                    </a:rPr>
                    <a:t>Joint ventures</a:t>
                  </a:r>
                </a:p>
              </p:txBody>
            </p:sp>
            <p:sp>
              <p:nvSpPr>
                <p:cNvPr id="12300" name="Rectangle 12"/>
                <p:cNvSpPr>
                  <a:spLocks noChangeArrowheads="1"/>
                </p:cNvSpPr>
                <p:nvPr/>
              </p:nvSpPr>
              <p:spPr bwMode="auto">
                <a:xfrm>
                  <a:off x="2137" y="2036"/>
                  <a:ext cx="1018" cy="4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%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571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7145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286000" defTabSz="7620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7432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32004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6576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4114800" defTabSz="762000" eaLnBrk="0" fontAlgn="base" hangingPunct="0">
                    <a:spcBef>
                      <a:spcPct val="0%"/>
                    </a:spcBef>
                    <a:spcAft>
                      <a:spcPct val="0%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latin typeface="Arial" panose="020B0604020202020204" pitchFamily="34" charset="0"/>
                    </a:rPr>
                    <a:t>Licensing</a:t>
                  </a:r>
                </a:p>
                <a:p>
                  <a:r>
                    <a:rPr lang="en-US" altLang="en-US" sz="1800">
                      <a:latin typeface="Arial" panose="020B0604020202020204" pitchFamily="34" charset="0"/>
                    </a:rPr>
                    <a:t>Joint ventures</a:t>
                  </a:r>
                </a:p>
              </p:txBody>
            </p:sp>
          </p:grpSp>
        </p:grpSp>
        <p:grpSp>
          <p:nvGrpSpPr>
            <p:cNvPr id="12313" name="Group 25"/>
            <p:cNvGrpSpPr>
              <a:grpSpLocks/>
            </p:cNvGrpSpPr>
            <p:nvPr/>
          </p:nvGrpSpPr>
          <p:grpSpPr bwMode="auto">
            <a:xfrm>
              <a:off x="335" y="1790"/>
              <a:ext cx="5089" cy="656"/>
              <a:chOff x="335" y="1790"/>
              <a:chExt cx="5089" cy="656"/>
            </a:xfrm>
          </p:grpSpPr>
          <p:grpSp>
            <p:nvGrpSpPr>
              <p:cNvPr id="12307" name="Group 19"/>
              <p:cNvGrpSpPr>
                <a:grpSpLocks/>
              </p:cNvGrpSpPr>
              <p:nvPr/>
            </p:nvGrpSpPr>
            <p:grpSpPr bwMode="auto">
              <a:xfrm>
                <a:off x="3901" y="1790"/>
                <a:ext cx="1523" cy="656"/>
                <a:chOff x="3901" y="1790"/>
                <a:chExt cx="1523" cy="656"/>
              </a:xfrm>
            </p:grpSpPr>
            <p:sp>
              <p:nvSpPr>
                <p:cNvPr id="12303" name="Rectangle 15"/>
                <p:cNvSpPr>
                  <a:spLocks noChangeArrowheads="1"/>
                </p:cNvSpPr>
                <p:nvPr/>
              </p:nvSpPr>
              <p:spPr bwMode="auto">
                <a:xfrm>
                  <a:off x="3901" y="1792"/>
                  <a:ext cx="1523" cy="639"/>
                </a:xfrm>
                <a:prstGeom prst="rect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miter lim="800%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2306" name="Group 18"/>
                <p:cNvGrpSpPr>
                  <a:grpSpLocks/>
                </p:cNvGrpSpPr>
                <p:nvPr/>
              </p:nvGrpSpPr>
              <p:grpSpPr bwMode="auto">
                <a:xfrm>
                  <a:off x="3919" y="1790"/>
                  <a:ext cx="1362" cy="656"/>
                  <a:chOff x="3919" y="1790"/>
                  <a:chExt cx="1362" cy="656"/>
                </a:xfrm>
              </p:grpSpPr>
              <p:sp>
                <p:nvSpPr>
                  <p:cNvPr id="12304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919" y="1790"/>
                    <a:ext cx="136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%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571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714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286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432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004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576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148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r>
                      <a:rPr lang="en-US" altLang="en-US" sz="2000">
                        <a:latin typeface="Arial" panose="020B0604020202020204" pitchFamily="34" charset="0"/>
                      </a:rPr>
                      <a:t>Direct investment</a:t>
                    </a:r>
                  </a:p>
                </p:txBody>
              </p:sp>
              <p:sp>
                <p:nvSpPr>
                  <p:cNvPr id="12305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919" y="2036"/>
                    <a:ext cx="962" cy="4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%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571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714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286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432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004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576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148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r>
                      <a:rPr lang="en-US" altLang="en-US" sz="1800">
                        <a:latin typeface="Arial" panose="020B0604020202020204" pitchFamily="34" charset="0"/>
                      </a:rPr>
                      <a:t>New facilities</a:t>
                    </a:r>
                  </a:p>
                  <a:p>
                    <a:r>
                      <a:rPr lang="en-US" altLang="en-US" sz="1800">
                        <a:latin typeface="Arial" panose="020B0604020202020204" pitchFamily="34" charset="0"/>
                      </a:rPr>
                      <a:t>Acquisitions</a:t>
                    </a:r>
                  </a:p>
                </p:txBody>
              </p:sp>
            </p:grpSp>
          </p:grpSp>
          <p:grpSp>
            <p:nvGrpSpPr>
              <p:cNvPr id="12312" name="Group 24"/>
              <p:cNvGrpSpPr>
                <a:grpSpLocks/>
              </p:cNvGrpSpPr>
              <p:nvPr/>
            </p:nvGrpSpPr>
            <p:grpSpPr bwMode="auto">
              <a:xfrm>
                <a:off x="335" y="1790"/>
                <a:ext cx="1523" cy="656"/>
                <a:chOff x="335" y="1790"/>
                <a:chExt cx="1523" cy="656"/>
              </a:xfrm>
            </p:grpSpPr>
            <p:sp>
              <p:nvSpPr>
                <p:cNvPr id="12308" name="Rectangle 20"/>
                <p:cNvSpPr>
                  <a:spLocks noChangeArrowheads="1"/>
                </p:cNvSpPr>
                <p:nvPr/>
              </p:nvSpPr>
              <p:spPr bwMode="auto">
                <a:xfrm>
                  <a:off x="335" y="1792"/>
                  <a:ext cx="1523" cy="639"/>
                </a:xfrm>
                <a:prstGeom prst="rect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miter lim="800%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grpSp>
              <p:nvGrpSpPr>
                <p:cNvPr id="12311" name="Group 23"/>
                <p:cNvGrpSpPr>
                  <a:grpSpLocks/>
                </p:cNvGrpSpPr>
                <p:nvPr/>
              </p:nvGrpSpPr>
              <p:grpSpPr bwMode="auto">
                <a:xfrm>
                  <a:off x="354" y="1790"/>
                  <a:ext cx="798" cy="656"/>
                  <a:chOff x="354" y="1790"/>
                  <a:chExt cx="798" cy="656"/>
                </a:xfrm>
              </p:grpSpPr>
              <p:sp>
                <p:nvSpPr>
                  <p:cNvPr id="12309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54" y="1790"/>
                    <a:ext cx="79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%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571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714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286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432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004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576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148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r>
                      <a:rPr lang="en-US" altLang="en-US" sz="2000">
                        <a:latin typeface="Arial" panose="020B0604020202020204" pitchFamily="34" charset="0"/>
                      </a:rPr>
                      <a:t>Exporting</a:t>
                    </a:r>
                  </a:p>
                </p:txBody>
              </p:sp>
              <p:sp>
                <p:nvSpPr>
                  <p:cNvPr id="12310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354" y="2036"/>
                    <a:ext cx="594" cy="4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chemeClr val="tx1"/>
                        </a:solidFill>
                        <a:miter lim="800%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488" tIns="44450" rIns="90488" bIns="44450">
                    <a:spAutoFit/>
                  </a:bodyPr>
                  <a:lstStyle>
                    <a:lvl1pPr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marL="571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marL="1143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marL="17145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marL="2286000" defTabSz="762000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marL="27432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marL="32004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marL="36576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marL="4114800" defTabSz="762000" eaLnBrk="0" fontAlgn="base" hangingPunct="0">
                      <a:spcBef>
                        <a:spcPct val="0%"/>
                      </a:spcBef>
                      <a:spcAft>
                        <a:spcPct val="0%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r>
                      <a:rPr lang="en-US" altLang="en-US" sz="1800">
                        <a:latin typeface="Arial" panose="020B0604020202020204" pitchFamily="34" charset="0"/>
                      </a:rPr>
                      <a:t>Indirect</a:t>
                    </a:r>
                  </a:p>
                  <a:p>
                    <a:r>
                      <a:rPr lang="en-US" altLang="en-US" sz="1800">
                        <a:latin typeface="Arial" panose="020B0604020202020204" pitchFamily="34" charset="0"/>
                      </a:rPr>
                      <a:t>Direct</a:t>
                    </a:r>
                  </a:p>
                </p:txBody>
              </p:sp>
            </p:grpSp>
          </p:grpSp>
        </p:grpSp>
      </p:grp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4886326" y="1177926"/>
            <a:ext cx="2417763" cy="1014413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4949825" y="1373188"/>
            <a:ext cx="22923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Arial" panose="020B0604020202020204" pitchFamily="34" charset="0"/>
              </a:rPr>
              <a:t>Foreign market entry</a:t>
            </a:r>
          </a:p>
        </p:txBody>
      </p:sp>
      <p:grpSp>
        <p:nvGrpSpPr>
          <p:cNvPr id="12319" name="Group 31"/>
          <p:cNvGrpSpPr>
            <a:grpSpLocks/>
          </p:cNvGrpSpPr>
          <p:nvPr/>
        </p:nvGrpSpPr>
        <p:grpSpPr bwMode="auto">
          <a:xfrm>
            <a:off x="1538288" y="25400"/>
            <a:ext cx="107950" cy="82550"/>
            <a:chOff x="9" y="16"/>
            <a:chExt cx="68" cy="52"/>
          </a:xfrm>
        </p:grpSpPr>
        <p:sp>
          <p:nvSpPr>
            <p:cNvPr id="12317" name="Line 29"/>
            <p:cNvSpPr>
              <a:spLocks noChangeShapeType="1"/>
            </p:cNvSpPr>
            <p:nvPr/>
          </p:nvSpPr>
          <p:spPr bwMode="auto">
            <a:xfrm>
              <a:off x="43" y="16"/>
              <a:ext cx="0" cy="52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318" name="Line 30"/>
            <p:cNvSpPr>
              <a:spLocks noChangeShapeType="1"/>
            </p:cNvSpPr>
            <p:nvPr/>
          </p:nvSpPr>
          <p:spPr bwMode="auto">
            <a:xfrm flipH="1">
              <a:off x="9" y="42"/>
              <a:ext cx="68" cy="0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DAB28F4-5094-4043-B480-C258C0506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179" y="4246563"/>
            <a:ext cx="8089422" cy="116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20144"/>
      </p:ext>
    </p:extLst>
  </p:cSld>
  <p:clrMapOvr>
    <a:masterClrMapping/>
  </p:clrMapOvr>
  <p:transition>
    <p:wipe/>
  </p:transition>
</p:sld>
</file>

<file path=ppt/slides/slide1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6096000" y="2189163"/>
            <a:ext cx="0" cy="863600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 flipH="1" flipV="1">
            <a:off x="7324725" y="1962150"/>
            <a:ext cx="1716088" cy="954088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 flipV="1">
            <a:off x="3176589" y="1962150"/>
            <a:ext cx="1665287" cy="954088"/>
          </a:xfrm>
          <a:prstGeom prst="line">
            <a:avLst/>
          </a:prstGeom>
          <a:noFill/>
          <a:ln w="25400">
            <a:solidFill>
              <a:srgbClr val="66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5" name="Rectangle 9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Foreign market entry strategies</a:t>
            </a:r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4886326" y="2844801"/>
            <a:ext cx="2417763" cy="1014413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4916489" y="2841626"/>
            <a:ext cx="156613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solidFill>
                  <a:schemeClr val="bg2"/>
                </a:solidFill>
                <a:latin typeface="Arial" panose="020B0604020202020204" pitchFamily="34" charset="0"/>
              </a:rPr>
              <a:t>Cooperative</a:t>
            </a: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7716838" y="2844801"/>
            <a:ext cx="2417762" cy="1014413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7745413" y="2841626"/>
            <a:ext cx="216245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solidFill>
                  <a:schemeClr val="bg2"/>
                </a:solidFill>
                <a:latin typeface="Arial" panose="020B0604020202020204" pitchFamily="34" charset="0"/>
              </a:rPr>
              <a:t>Direct investment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2055813" y="2844801"/>
            <a:ext cx="2417762" cy="1014413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2085976" y="2841626"/>
            <a:ext cx="126637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latin typeface="Arial" panose="020B0604020202020204" pitchFamily="34" charset="0"/>
              </a:rPr>
              <a:t>Exporting</a:t>
            </a:r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4886326" y="1177926"/>
            <a:ext cx="2417763" cy="1014413"/>
          </a:xfrm>
          <a:prstGeom prst="rect">
            <a:avLst/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4949825" y="1373188"/>
            <a:ext cx="22923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latin typeface="Arial" panose="020B0604020202020204" pitchFamily="34" charset="0"/>
              </a:rPr>
              <a:t>Foreign market entry</a:t>
            </a:r>
          </a:p>
        </p:txBody>
      </p:sp>
      <p:grpSp>
        <p:nvGrpSpPr>
          <p:cNvPr id="14362" name="Group 26"/>
          <p:cNvGrpSpPr>
            <a:grpSpLocks/>
          </p:cNvGrpSpPr>
          <p:nvPr/>
        </p:nvGrpSpPr>
        <p:grpSpPr bwMode="auto">
          <a:xfrm>
            <a:off x="2211388" y="3267075"/>
            <a:ext cx="8058150" cy="3081338"/>
            <a:chOff x="433" y="2058"/>
            <a:chExt cx="5076" cy="1941"/>
          </a:xfrm>
        </p:grpSpPr>
        <p:sp>
          <p:nvSpPr>
            <p:cNvPr id="14354" name="Rectangle 18"/>
            <p:cNvSpPr>
              <a:spLocks noChangeArrowheads="1"/>
            </p:cNvSpPr>
            <p:nvPr/>
          </p:nvSpPr>
          <p:spPr bwMode="auto">
            <a:xfrm>
              <a:off x="433" y="2058"/>
              <a:ext cx="4855" cy="1941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accent2"/>
              </a:solidFill>
              <a:miter lim="800%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355" name="Rectangle 19"/>
            <p:cNvSpPr>
              <a:spLocks noChangeArrowheads="1"/>
            </p:cNvSpPr>
            <p:nvPr/>
          </p:nvSpPr>
          <p:spPr bwMode="auto">
            <a:xfrm>
              <a:off x="2350" y="2117"/>
              <a:ext cx="1072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%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571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7145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286000" defTabSz="7620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7432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32004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6576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4114800" defTabSz="762000" eaLnBrk="0" fontAlgn="base" hangingPunct="0">
                <a:spcBef>
                  <a:spcPct val="0%"/>
                </a:spcBef>
                <a:spcAft>
                  <a:spcPct val="0%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2800">
                  <a:latin typeface="Arial" panose="020B0604020202020204" pitchFamily="34" charset="0"/>
                </a:rPr>
                <a:t>Exporting</a:t>
              </a:r>
            </a:p>
          </p:txBody>
        </p:sp>
        <p:grpSp>
          <p:nvGrpSpPr>
            <p:cNvPr id="14358" name="Group 22"/>
            <p:cNvGrpSpPr>
              <a:grpSpLocks/>
            </p:cNvGrpSpPr>
            <p:nvPr/>
          </p:nvGrpSpPr>
          <p:grpSpPr bwMode="auto">
            <a:xfrm>
              <a:off x="490" y="2473"/>
              <a:ext cx="2673" cy="1447"/>
              <a:chOff x="490" y="2473"/>
              <a:chExt cx="2673" cy="1447"/>
            </a:xfrm>
          </p:grpSpPr>
          <p:sp>
            <p:nvSpPr>
              <p:cNvPr id="14356" name="Rectangle 20"/>
              <p:cNvSpPr>
                <a:spLocks noChangeArrowheads="1"/>
              </p:cNvSpPr>
              <p:nvPr/>
            </p:nvSpPr>
            <p:spPr bwMode="auto">
              <a:xfrm>
                <a:off x="490" y="2473"/>
                <a:ext cx="6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FF0033"/>
                    </a:solidFill>
                    <a:latin typeface="Arial" panose="020B0604020202020204" pitchFamily="34" charset="0"/>
                  </a:rPr>
                  <a:t>Indirect</a:t>
                </a:r>
              </a:p>
            </p:txBody>
          </p:sp>
          <p:sp>
            <p:nvSpPr>
              <p:cNvPr id="14357" name="Rectangle 21"/>
              <p:cNvSpPr>
                <a:spLocks noChangeArrowheads="1"/>
              </p:cNvSpPr>
              <p:nvPr/>
            </p:nvSpPr>
            <p:spPr bwMode="auto">
              <a:xfrm>
                <a:off x="492" y="2745"/>
                <a:ext cx="2671" cy="11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/>
              <a:lstStyle>
                <a:lvl1pPr marL="342900" indent="-3429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5621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9812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4384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8956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3528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100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domestic-based export merchants</a:t>
                </a:r>
              </a:p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domestic-based export agents</a:t>
                </a:r>
              </a:p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piggybacking</a:t>
                </a:r>
              </a:p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cooperative organizations</a:t>
                </a:r>
              </a:p>
            </p:txBody>
          </p:sp>
        </p:grpSp>
        <p:grpSp>
          <p:nvGrpSpPr>
            <p:cNvPr id="14361" name="Group 25"/>
            <p:cNvGrpSpPr>
              <a:grpSpLocks/>
            </p:cNvGrpSpPr>
            <p:nvPr/>
          </p:nvGrpSpPr>
          <p:grpSpPr bwMode="auto">
            <a:xfrm>
              <a:off x="3089" y="2473"/>
              <a:ext cx="2420" cy="1447"/>
              <a:chOff x="3089" y="2473"/>
              <a:chExt cx="2420" cy="1447"/>
            </a:xfrm>
          </p:grpSpPr>
          <p:sp>
            <p:nvSpPr>
              <p:cNvPr id="14359" name="Rectangle 23"/>
              <p:cNvSpPr>
                <a:spLocks noChangeArrowheads="1"/>
              </p:cNvSpPr>
              <p:nvPr/>
            </p:nvSpPr>
            <p:spPr bwMode="auto">
              <a:xfrm>
                <a:off x="3089" y="2473"/>
                <a:ext cx="53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000">
                    <a:solidFill>
                      <a:srgbClr val="FF0033"/>
                    </a:solidFill>
                    <a:latin typeface="Arial" panose="020B0604020202020204" pitchFamily="34" charset="0"/>
                  </a:rPr>
                  <a:t>Direct</a:t>
                </a:r>
              </a:p>
            </p:txBody>
          </p:sp>
          <p:sp>
            <p:nvSpPr>
              <p:cNvPr id="14360" name="Rectangle 24"/>
              <p:cNvSpPr>
                <a:spLocks noChangeArrowheads="1"/>
              </p:cNvSpPr>
              <p:nvPr/>
            </p:nvSpPr>
            <p:spPr bwMode="auto">
              <a:xfrm>
                <a:off x="3092" y="2745"/>
                <a:ext cx="2417" cy="11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/>
              <a:lstStyle>
                <a:lvl1pPr marL="342900" indent="-3429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5621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1981200" indent="-2286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4384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8956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3528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10000" indent="-228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foreign-based agents or distributors</a:t>
                </a:r>
              </a:p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domestic-based sales representatives</a:t>
                </a:r>
              </a:p>
              <a:p>
                <a:pPr>
                  <a:spcBef>
                    <a:spcPct val="20%"/>
                  </a:spcBef>
                  <a:buClr>
                    <a:schemeClr val="accent2"/>
                  </a:buClr>
                  <a:buSzPct val="60%"/>
                  <a:buFont typeface="Wingdings" panose="05000000000000000000" pitchFamily="2" charset="2"/>
                  <a:buChar char="Ø"/>
                </a:pPr>
                <a:r>
                  <a:rPr lang="en-US" altLang="en-US" sz="2000">
                    <a:latin typeface="Arial" panose="020B0604020202020204" pitchFamily="34" charset="0"/>
                  </a:rPr>
                  <a:t>overseas sales/marketing office or subsidiary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7974330"/>
      </p:ext>
    </p:extLst>
  </p:cSld>
  <p:clrMapOvr>
    <a:masterClrMapping/>
  </p:clrMapOvr>
  <p:transition>
    <p:zoom/>
  </p:transition>
</p:sld>
</file>

<file path=ppt/slides/slide1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Content Placeholder 6"/>
          <p:cNvSpPr>
            <a:spLocks noGrp="1"/>
          </p:cNvSpPr>
          <p:nvPr>
            <p:ph idx="1"/>
          </p:nvPr>
        </p:nvSpPr>
        <p:spPr>
          <a:xfrm>
            <a:off x="461727" y="1994407"/>
            <a:ext cx="11268545" cy="2869186"/>
          </a:xfrm>
        </p:spPr>
        <p:txBody>
          <a:bodyPr>
            <a:normAutofit/>
          </a:bodyPr>
          <a:lstStyle/>
          <a:p>
            <a:pPr>
              <a:spcBef>
                <a:spcPct val="0%"/>
              </a:spcBef>
              <a:buFontTx/>
              <a:buNone/>
            </a:pPr>
            <a:r>
              <a:rPr lang="en-US" sz="3200" b="1" dirty="0">
                <a:latin typeface="Calibri" charset="0"/>
              </a:rPr>
              <a:t>Licensing</a:t>
            </a:r>
            <a:r>
              <a:rPr lang="en-US" sz="3200" dirty="0">
                <a:latin typeface="Calibri" charset="0"/>
              </a:rPr>
              <a:t> is when a firm enters into an agreement with a licensee in a foreign market. For a fee or royalty, the licensee buys the right to use the company’s process, trademark, patent, trade secret, or other item of value.</a:t>
            </a:r>
          </a:p>
          <a:p>
            <a:pPr>
              <a:spcBef>
                <a:spcPct val="0%"/>
              </a:spcBef>
            </a:pPr>
            <a:endParaRPr lang="en-US" sz="3600" dirty="0">
              <a:latin typeface="Calibri" charset="0"/>
            </a:endParaRP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 fontScale="85%" lnSpcReduction="20%"/>
          </a:bodyPr>
          <a:lstStyle/>
          <a:p>
            <a:pPr>
              <a:spcBef>
                <a:spcPct val="0%"/>
              </a:spcBef>
            </a:pPr>
            <a:endParaRPr lang="en-US" dirty="0">
              <a:latin typeface="Calibri" charset="0"/>
            </a:endParaRPr>
          </a:p>
          <a:p>
            <a:pPr>
              <a:spcBef>
                <a:spcPct val="0%"/>
              </a:spcBef>
            </a:pPr>
            <a:endParaRPr lang="en-US" dirty="0">
              <a:latin typeface="Calibri" charset="0"/>
            </a:endParaRPr>
          </a:p>
          <a:p>
            <a:pPr>
              <a:spcBef>
                <a:spcPct val="0%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60421" name="Text Box 9"/>
          <p:cNvSpPr txBox="1">
            <a:spLocks noChangeArrowheads="1"/>
          </p:cNvSpPr>
          <p:nvPr/>
        </p:nvSpPr>
        <p:spPr bwMode="auto">
          <a:xfrm>
            <a:off x="3619500" y="990685"/>
            <a:ext cx="4953000" cy="763286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0%"/>
              </a:lnSpc>
              <a:spcBef>
                <a:spcPct val="20%"/>
              </a:spcBef>
              <a:buClr>
                <a:schemeClr val="folHlink"/>
              </a:buClr>
              <a:buSzPct val="60%"/>
              <a:buFont typeface="Wingdings" charset="2"/>
              <a:buNone/>
            </a:pPr>
            <a:r>
              <a:rPr lang="en-US" sz="3200" b="1" dirty="0">
                <a:solidFill>
                  <a:schemeClr val="accent2"/>
                </a:solidFill>
              </a:rPr>
              <a:t>Joint Venturing</a:t>
            </a:r>
          </a:p>
          <a:p>
            <a:pPr algn="ctr"/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10363200" cy="78898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n-lt"/>
              </a:rPr>
              <a:t>Deciding How to Enter 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425633491"/>
      </p:ext>
    </p:extLst>
  </p:cSld>
  <p:clrMapOvr>
    <a:masterClrMapping/>
  </p:clrMapOvr>
  <p:transition/>
</p:sld>
</file>

<file path=ppt/slides/slide1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057400"/>
            <a:ext cx="7772400" cy="4572000"/>
          </a:xfrm>
        </p:spPr>
        <p:txBody>
          <a:bodyPr/>
          <a:lstStyle/>
          <a:p>
            <a:pPr marL="533400" indent="-533400">
              <a:spcBef>
                <a:spcPct val="0%"/>
              </a:spcBef>
              <a:buNone/>
            </a:pPr>
            <a:r>
              <a:rPr lang="en-US" b="1" dirty="0">
                <a:latin typeface="Calibri" charset="0"/>
              </a:rPr>
              <a:t>Joint ownership</a:t>
            </a:r>
            <a:r>
              <a:rPr lang="en-US" dirty="0">
                <a:latin typeface="Calibri" charset="0"/>
              </a:rPr>
              <a:t> is when one company joins forces with foreign investors to create a local business in which they share joint ownership and control. Joint ownership is sometimes required for economic or political reasons.</a:t>
            </a:r>
          </a:p>
          <a:p>
            <a:pPr marL="533400" indent="-533400">
              <a:spcBef>
                <a:spcPct val="0%"/>
              </a:spcBef>
              <a:buNone/>
            </a:pPr>
            <a:endParaRPr lang="en-US" sz="2400" dirty="0">
              <a:latin typeface="Calibri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619500" y="990685"/>
            <a:ext cx="4953000" cy="763286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0%"/>
              </a:lnSpc>
              <a:spcBef>
                <a:spcPct val="20%"/>
              </a:spcBef>
              <a:buClr>
                <a:schemeClr val="folHlink"/>
              </a:buClr>
              <a:buSzPct val="60%"/>
              <a:buFont typeface="Wingdings" charset="2"/>
              <a:buNone/>
            </a:pPr>
            <a:r>
              <a:rPr lang="en-US" sz="3200" b="1" dirty="0">
                <a:solidFill>
                  <a:schemeClr val="accent2"/>
                </a:solidFill>
              </a:rPr>
              <a:t>Joint Venturing</a:t>
            </a:r>
          </a:p>
          <a:p>
            <a:pPr algn="ctr"/>
            <a:endParaRPr 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10363200" cy="78898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n-lt"/>
              </a:rPr>
              <a:t>Deciding How to Enter the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736141957"/>
      </p:ext>
    </p:extLst>
  </p:cSld>
  <p:clrMapOvr>
    <a:masterClrMapping/>
  </p:clrMapOvr>
  <p:transition/>
</p:sld>
</file>

<file path=ppt/slides/slide2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1937289" y="1828800"/>
            <a:ext cx="8044912" cy="4343400"/>
          </a:xfrm>
        </p:spPr>
        <p:txBody>
          <a:bodyPr>
            <a:normAutofit/>
          </a:bodyPr>
          <a:lstStyle/>
          <a:p>
            <a:pPr marL="533400" indent="-533400">
              <a:spcBef>
                <a:spcPct val="0%"/>
              </a:spcBef>
              <a:buNone/>
            </a:pPr>
            <a:r>
              <a:rPr lang="en-US" b="1" dirty="0">
                <a:latin typeface="Calibri" charset="0"/>
              </a:rPr>
              <a:t>Direct investment </a:t>
            </a:r>
            <a:r>
              <a:rPr lang="en-US" dirty="0">
                <a:latin typeface="Calibri" charset="0"/>
              </a:rPr>
              <a:t>is the development of foreign-based assembly or manufacturing facilities. It offers a number of advantages including:</a:t>
            </a:r>
          </a:p>
          <a:p>
            <a:pPr marL="990600" lvl="1" indent="-533400">
              <a:spcBef>
                <a:spcPct val="0%"/>
              </a:spcBef>
            </a:pPr>
            <a:r>
              <a:rPr lang="en-US" sz="2800" dirty="0">
                <a:latin typeface="Calibri" charset="0"/>
              </a:rPr>
              <a:t>Labor</a:t>
            </a:r>
          </a:p>
          <a:p>
            <a:pPr marL="990600" lvl="1" indent="-533400">
              <a:spcBef>
                <a:spcPct val="0%"/>
              </a:spcBef>
            </a:pPr>
            <a:r>
              <a:rPr lang="en-US" sz="2800" dirty="0">
                <a:latin typeface="Calibri" charset="0"/>
              </a:rPr>
              <a:t>Logistics </a:t>
            </a:r>
          </a:p>
          <a:p>
            <a:pPr marL="990600" lvl="1" indent="-533400">
              <a:spcBef>
                <a:spcPct val="0%"/>
              </a:spcBef>
            </a:pPr>
            <a:r>
              <a:rPr lang="en-US" sz="2800" dirty="0">
                <a:latin typeface="Calibri" charset="0"/>
              </a:rPr>
              <a:t>Control</a:t>
            </a:r>
          </a:p>
          <a:p>
            <a:pPr marL="990600" lvl="1" indent="-533400">
              <a:spcBef>
                <a:spcPct val="0%"/>
              </a:spcBef>
            </a:pPr>
            <a:r>
              <a:rPr lang="en-US" sz="2800" dirty="0">
                <a:latin typeface="Calibri" charset="0"/>
              </a:rPr>
              <a:t>Government incentives</a:t>
            </a:r>
          </a:p>
          <a:p>
            <a:pPr marL="990600" lvl="1" indent="-533400">
              <a:spcBef>
                <a:spcPct val="0%"/>
              </a:spcBef>
            </a:pPr>
            <a:r>
              <a:rPr lang="en-US" sz="2800" dirty="0">
                <a:latin typeface="Calibri" charset="0"/>
              </a:rPr>
              <a:t>Lower costs</a:t>
            </a:r>
          </a:p>
          <a:p>
            <a:pPr marL="990600" lvl="1" indent="-533400">
              <a:spcBef>
                <a:spcPct val="0%"/>
              </a:spcBef>
            </a:pPr>
            <a:r>
              <a:rPr lang="en-US" sz="2800" dirty="0">
                <a:latin typeface="Calibri" charset="0"/>
              </a:rPr>
              <a:t>Raw materials</a:t>
            </a:r>
          </a:p>
          <a:p>
            <a:pPr marL="533400" indent="-533400">
              <a:spcBef>
                <a:spcPct val="0%"/>
              </a:spcBef>
              <a:buNone/>
            </a:pPr>
            <a:endParaRPr lang="en-US" dirty="0">
              <a:latin typeface="Calibri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619500" y="990685"/>
            <a:ext cx="4953000" cy="763286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0%"/>
              </a:lnSpc>
              <a:spcBef>
                <a:spcPct val="20%"/>
              </a:spcBef>
              <a:buClr>
                <a:schemeClr val="folHlink"/>
              </a:buClr>
              <a:buSzPct val="60%"/>
              <a:buFont typeface="Wingdings" charset="2"/>
              <a:buNone/>
            </a:pPr>
            <a:r>
              <a:rPr lang="en-US" sz="3200" b="1" dirty="0">
                <a:solidFill>
                  <a:schemeClr val="accent2"/>
                </a:solidFill>
              </a:rPr>
              <a:t>Direct Investment</a:t>
            </a:r>
          </a:p>
          <a:p>
            <a:pPr algn="ctr"/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10363200" cy="78898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+mn-lt"/>
              </a:rPr>
              <a:t>Deciding How to Enter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501013902"/>
      </p:ext>
    </p:extLst>
  </p:cSld>
  <p:clrMapOvr>
    <a:masterClrMapping/>
  </p:clrMapOvr>
  <p:transition/>
</p:sld>
</file>

<file path=ppt/slides/slide2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87249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/>
            <a:endParaRPr lang="en-US" altLang="en-US" sz="1000" dirty="0">
              <a:latin typeface="Arial" panose="020B0604020202020204" pitchFamily="34" charset="0"/>
            </a:endParaRPr>
          </a:p>
        </p:txBody>
      </p:sp>
      <p:pic>
        <p:nvPicPr>
          <p:cNvPr id="16390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2790825"/>
            <a:ext cx="2208212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1" name="AutoShape 7"/>
          <p:cNvSpPr>
            <a:spLocks noChangeArrowheads="1"/>
          </p:cNvSpPr>
          <p:nvPr/>
        </p:nvSpPr>
        <p:spPr bwMode="auto">
          <a:xfrm>
            <a:off x="4141788" y="3605213"/>
            <a:ext cx="3783012" cy="550862"/>
          </a:xfrm>
          <a:prstGeom prst="rightArrow">
            <a:avLst>
              <a:gd name="adj1" fmla="val 50000"/>
              <a:gd name="adj2" fmla="val 110610"/>
            </a:avLst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latin typeface="Arial" panose="020B0604020202020204" pitchFamily="34" charset="0"/>
              </a:rPr>
              <a:t>Undifferentiated</a:t>
            </a:r>
          </a:p>
        </p:txBody>
      </p:sp>
      <p:sp>
        <p:nvSpPr>
          <p:cNvPr id="16392" name="Rectangle 8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90%"/>
              </a:lnSpc>
            </a:pPr>
            <a:r>
              <a:rPr lang="en-US" altLang="en-US"/>
              <a:t>Approaches to developing international marketing strategies</a:t>
            </a:r>
          </a:p>
        </p:txBody>
      </p:sp>
      <p:grpSp>
        <p:nvGrpSpPr>
          <p:cNvPr id="16396" name="Group 12"/>
          <p:cNvGrpSpPr>
            <a:grpSpLocks/>
          </p:cNvGrpSpPr>
          <p:nvPr/>
        </p:nvGrpSpPr>
        <p:grpSpPr bwMode="auto">
          <a:xfrm>
            <a:off x="1981201" y="3124200"/>
            <a:ext cx="2543175" cy="1512888"/>
            <a:chOff x="267" y="1972"/>
            <a:chExt cx="1602" cy="953"/>
          </a:xfrm>
        </p:grpSpPr>
        <p:sp>
          <p:nvSpPr>
            <p:cNvPr id="16393" name="Oval 9"/>
            <p:cNvSpPr>
              <a:spLocks noChangeArrowheads="1"/>
            </p:cNvSpPr>
            <p:nvPr/>
          </p:nvSpPr>
          <p:spPr bwMode="auto">
            <a:xfrm>
              <a:off x="267" y="1972"/>
              <a:ext cx="1602" cy="953"/>
            </a:xfrm>
            <a:prstGeom prst="ellipse">
              <a:avLst/>
            </a:prstGeom>
            <a:solidFill>
              <a:srgbClr val="FFFFCC"/>
            </a:solidFill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394" name="Line 10"/>
            <p:cNvSpPr>
              <a:spLocks noChangeShapeType="1"/>
            </p:cNvSpPr>
            <p:nvPr/>
          </p:nvSpPr>
          <p:spPr bwMode="auto">
            <a:xfrm>
              <a:off x="1067" y="1974"/>
              <a:ext cx="0" cy="948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395" name="Line 11"/>
            <p:cNvSpPr>
              <a:spLocks noChangeShapeType="1"/>
            </p:cNvSpPr>
            <p:nvPr/>
          </p:nvSpPr>
          <p:spPr bwMode="auto">
            <a:xfrm>
              <a:off x="276" y="2448"/>
              <a:ext cx="1584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2243172" y="3581401"/>
            <a:ext cx="977833" cy="477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70%"/>
              </a:lnSpc>
            </a:pPr>
            <a:r>
              <a:rPr lang="en-US" altLang="en-US" sz="1800">
                <a:latin typeface="Arial" panose="020B0604020202020204" pitchFamily="34" charset="0"/>
              </a:rPr>
              <a:t>Product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2377823" y="3962401"/>
            <a:ext cx="708528" cy="477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70%"/>
              </a:lnSpc>
            </a:pPr>
            <a:r>
              <a:rPr lang="en-US" altLang="en-US" sz="1800">
                <a:latin typeface="Arial" panose="020B0604020202020204" pitchFamily="34" charset="0"/>
              </a:rPr>
              <a:t>Price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3245232" y="3581401"/>
            <a:ext cx="1234313" cy="477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70%"/>
              </a:lnSpc>
            </a:pPr>
            <a:r>
              <a:rPr lang="en-US" altLang="en-US" sz="1800">
                <a:latin typeface="Arial" panose="020B0604020202020204" pitchFamily="34" charset="0"/>
              </a:rPr>
              <a:t>Promotion</a:t>
            </a:r>
            <a:br>
              <a:rPr lang="en-US" altLang="en-US" sz="1800">
                <a:latin typeface="Arial" panose="020B0604020202020204" pitchFamily="34" charset="0"/>
              </a:rPr>
            </a:b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3352801" y="3962401"/>
            <a:ext cx="777875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%"/>
              </a:lnSpc>
            </a:pPr>
            <a:r>
              <a:rPr lang="en-US" altLang="en-US" sz="1800">
                <a:latin typeface="Arial" panose="020B0604020202020204" pitchFamily="34" charset="0"/>
              </a:rPr>
              <a:t>Place</a:t>
            </a:r>
          </a:p>
          <a:p>
            <a:pPr latinLnBrk="1">
              <a:lnSpc>
                <a:spcPct val="70%"/>
              </a:lnSpc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16404" name="Group 20"/>
          <p:cNvGrpSpPr>
            <a:grpSpLocks/>
          </p:cNvGrpSpPr>
          <p:nvPr/>
        </p:nvGrpSpPr>
        <p:grpSpPr bwMode="auto">
          <a:xfrm>
            <a:off x="1538288" y="25400"/>
            <a:ext cx="107950" cy="82550"/>
            <a:chOff x="9" y="16"/>
            <a:chExt cx="68" cy="52"/>
          </a:xfrm>
        </p:grpSpPr>
        <p:sp>
          <p:nvSpPr>
            <p:cNvPr id="16402" name="Line 18"/>
            <p:cNvSpPr>
              <a:spLocks noChangeShapeType="1"/>
            </p:cNvSpPr>
            <p:nvPr/>
          </p:nvSpPr>
          <p:spPr bwMode="auto">
            <a:xfrm>
              <a:off x="43" y="16"/>
              <a:ext cx="0" cy="52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403" name="Line 19"/>
            <p:cNvSpPr>
              <a:spLocks noChangeShapeType="1"/>
            </p:cNvSpPr>
            <p:nvPr/>
          </p:nvSpPr>
          <p:spPr bwMode="auto">
            <a:xfrm flipH="1">
              <a:off x="9" y="42"/>
              <a:ext cx="68" cy="0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6405" name="Rectangle 21"/>
          <p:cNvSpPr>
            <a:spLocks noChangeArrowheads="1"/>
          </p:cNvSpPr>
          <p:nvPr/>
        </p:nvSpPr>
        <p:spPr bwMode="auto">
          <a:xfrm>
            <a:off x="3862388" y="1848645"/>
            <a:ext cx="442912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%"/>
              </a:spcBef>
            </a:pPr>
            <a:r>
              <a:rPr lang="en-US" altLang="en-US" sz="2800" dirty="0">
                <a:solidFill>
                  <a:srgbClr val="FF0033"/>
                </a:solidFill>
                <a:latin typeface="Arial" panose="020B0604020202020204" pitchFamily="34" charset="0"/>
              </a:rPr>
              <a:t>Undifferentiated market</a:t>
            </a:r>
          </a:p>
        </p:txBody>
      </p:sp>
    </p:spTree>
    <p:extLst>
      <p:ext uri="{BB962C8B-B14F-4D97-AF65-F5344CB8AC3E}">
        <p14:creationId xmlns:p14="http://schemas.microsoft.com/office/powerpoint/2010/main" val="1562066098"/>
      </p:ext>
    </p:extLst>
  </p:cSld>
  <p:clrMapOvr>
    <a:masterClrMapping/>
  </p:clrMapOvr>
  <p:transition>
    <p:wipe/>
  </p:transition>
</p:sld>
</file>

<file path=ppt/slides/slide2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87249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/>
            <a:endParaRPr lang="en-US" altLang="en-US" sz="1000" dirty="0">
              <a:latin typeface="Arial" panose="020B0604020202020204" pitchFamily="34" charset="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1524001" y="6629401"/>
            <a:ext cx="4213225" cy="22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US" altLang="en-US" sz="1000" dirty="0">
              <a:latin typeface="Arial" panose="020B0604020202020204" pitchFamily="34" charset="0"/>
            </a:endParaRPr>
          </a:p>
        </p:txBody>
      </p:sp>
      <p:pic>
        <p:nvPicPr>
          <p:cNvPr id="18438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2790825"/>
            <a:ext cx="2208212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9" name="AutoShape 7"/>
          <p:cNvSpPr>
            <a:spLocks noChangeArrowheads="1"/>
          </p:cNvSpPr>
          <p:nvPr/>
        </p:nvSpPr>
        <p:spPr bwMode="auto">
          <a:xfrm rot="1140000">
            <a:off x="4344988" y="2503488"/>
            <a:ext cx="3783012" cy="552450"/>
          </a:xfrm>
          <a:prstGeom prst="rightArrow">
            <a:avLst>
              <a:gd name="adj1" fmla="val 50000"/>
              <a:gd name="adj2" fmla="val 110292"/>
            </a:avLst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latin typeface="Arial" panose="020B0604020202020204" pitchFamily="34" charset="0"/>
              </a:rPr>
              <a:t>Target 1</a:t>
            </a:r>
          </a:p>
        </p:txBody>
      </p:sp>
      <p:sp>
        <p:nvSpPr>
          <p:cNvPr id="18440" name="AutoShape 8"/>
          <p:cNvSpPr>
            <a:spLocks noChangeArrowheads="1"/>
          </p:cNvSpPr>
          <p:nvPr/>
        </p:nvSpPr>
        <p:spPr bwMode="auto">
          <a:xfrm rot="20520000">
            <a:off x="4360863" y="4735513"/>
            <a:ext cx="3783012" cy="550862"/>
          </a:xfrm>
          <a:prstGeom prst="rightArrow">
            <a:avLst>
              <a:gd name="adj1" fmla="val 50000"/>
              <a:gd name="adj2" fmla="val 110610"/>
            </a:avLst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latin typeface="Arial" panose="020B0604020202020204" pitchFamily="34" charset="0"/>
              </a:rPr>
              <a:t>Target 3</a:t>
            </a:r>
          </a:p>
        </p:txBody>
      </p:sp>
      <p:sp>
        <p:nvSpPr>
          <p:cNvPr id="18441" name="AutoShape 9"/>
          <p:cNvSpPr>
            <a:spLocks noChangeArrowheads="1"/>
          </p:cNvSpPr>
          <p:nvPr/>
        </p:nvSpPr>
        <p:spPr bwMode="auto">
          <a:xfrm>
            <a:off x="4141788" y="3605213"/>
            <a:ext cx="3783012" cy="550862"/>
          </a:xfrm>
          <a:prstGeom prst="rightArrow">
            <a:avLst>
              <a:gd name="adj1" fmla="val 50000"/>
              <a:gd name="adj2" fmla="val 110610"/>
            </a:avLst>
          </a:prstGeom>
          <a:solidFill>
            <a:srgbClr val="FFFFCC"/>
          </a:solidFill>
          <a:ln w="25400">
            <a:solidFill>
              <a:schemeClr val="accent2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800">
                <a:latin typeface="Arial" panose="020B0604020202020204" pitchFamily="34" charset="0"/>
              </a:rPr>
              <a:t>Target 2</a:t>
            </a:r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title"/>
          </p:nvPr>
        </p:nvSpPr>
        <p:spPr>
          <a:xfrm>
            <a:off x="838200" y="135732"/>
            <a:ext cx="10515600" cy="13255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90%"/>
              </a:lnSpc>
            </a:pPr>
            <a:r>
              <a:rPr lang="en-US" altLang="en-US" dirty="0"/>
              <a:t>Approaches to developing international marketing strategies</a:t>
            </a:r>
          </a:p>
        </p:txBody>
      </p:sp>
      <p:grpSp>
        <p:nvGrpSpPr>
          <p:cNvPr id="18470" name="Group 38"/>
          <p:cNvGrpSpPr>
            <a:grpSpLocks/>
          </p:cNvGrpSpPr>
          <p:nvPr/>
        </p:nvGrpSpPr>
        <p:grpSpPr bwMode="auto">
          <a:xfrm>
            <a:off x="2073275" y="1512494"/>
            <a:ext cx="2543175" cy="4900612"/>
            <a:chOff x="267" y="905"/>
            <a:chExt cx="1602" cy="3087"/>
          </a:xfrm>
        </p:grpSpPr>
        <p:grpSp>
          <p:nvGrpSpPr>
            <p:cNvPr id="18451" name="Group 19"/>
            <p:cNvGrpSpPr>
              <a:grpSpLocks/>
            </p:cNvGrpSpPr>
            <p:nvPr/>
          </p:nvGrpSpPr>
          <p:grpSpPr bwMode="auto">
            <a:xfrm>
              <a:off x="267" y="905"/>
              <a:ext cx="1602" cy="953"/>
              <a:chOff x="267" y="905"/>
              <a:chExt cx="1602" cy="953"/>
            </a:xfrm>
          </p:grpSpPr>
          <p:grpSp>
            <p:nvGrpSpPr>
              <p:cNvPr id="18446" name="Group 14"/>
              <p:cNvGrpSpPr>
                <a:grpSpLocks/>
              </p:cNvGrpSpPr>
              <p:nvPr/>
            </p:nvGrpSpPr>
            <p:grpSpPr bwMode="auto">
              <a:xfrm>
                <a:off x="267" y="905"/>
                <a:ext cx="1602" cy="953"/>
                <a:chOff x="267" y="905"/>
                <a:chExt cx="1602" cy="953"/>
              </a:xfrm>
            </p:grpSpPr>
            <p:sp>
              <p:nvSpPr>
                <p:cNvPr id="18443" name="Oval 11"/>
                <p:cNvSpPr>
                  <a:spLocks noChangeArrowheads="1"/>
                </p:cNvSpPr>
                <p:nvPr/>
              </p:nvSpPr>
              <p:spPr bwMode="auto">
                <a:xfrm>
                  <a:off x="267" y="905"/>
                  <a:ext cx="1602" cy="953"/>
                </a:xfrm>
                <a:prstGeom prst="ellipse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44" name="Line 12"/>
                <p:cNvSpPr>
                  <a:spLocks noChangeShapeType="1"/>
                </p:cNvSpPr>
                <p:nvPr/>
              </p:nvSpPr>
              <p:spPr bwMode="auto">
                <a:xfrm>
                  <a:off x="1067" y="907"/>
                  <a:ext cx="0" cy="948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45" name="Line 13"/>
                <p:cNvSpPr>
                  <a:spLocks noChangeShapeType="1"/>
                </p:cNvSpPr>
                <p:nvPr/>
              </p:nvSpPr>
              <p:spPr bwMode="auto">
                <a:xfrm>
                  <a:off x="276" y="1381"/>
                  <a:ext cx="1584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8447" name="Rectangle 15"/>
              <p:cNvSpPr>
                <a:spLocks noChangeArrowheads="1"/>
              </p:cNvSpPr>
              <p:nvPr/>
            </p:nvSpPr>
            <p:spPr bwMode="auto">
              <a:xfrm>
                <a:off x="422" y="1099"/>
                <a:ext cx="61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Product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448" name="Rectangle 16"/>
              <p:cNvSpPr>
                <a:spLocks noChangeArrowheads="1"/>
              </p:cNvSpPr>
              <p:nvPr/>
            </p:nvSpPr>
            <p:spPr bwMode="auto">
              <a:xfrm>
                <a:off x="507" y="1450"/>
                <a:ext cx="44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Price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449" name="Rectangle 17"/>
              <p:cNvSpPr>
                <a:spLocks noChangeArrowheads="1"/>
              </p:cNvSpPr>
              <p:nvPr/>
            </p:nvSpPr>
            <p:spPr bwMode="auto">
              <a:xfrm>
                <a:off x="1035" y="1099"/>
                <a:ext cx="77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 dirty="0">
                    <a:latin typeface="Arial" panose="020B0604020202020204" pitchFamily="34" charset="0"/>
                  </a:rPr>
                  <a:t>Promotion</a:t>
                </a:r>
                <a:br>
                  <a:rPr lang="en-US" altLang="en-US" sz="1800" dirty="0">
                    <a:latin typeface="Arial" panose="020B0604020202020204" pitchFamily="34" charset="0"/>
                  </a:rPr>
                </a:br>
                <a:r>
                  <a:rPr lang="en-US" altLang="en-US" sz="1800" dirty="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450" name="Rectangle 18"/>
              <p:cNvSpPr>
                <a:spLocks noChangeArrowheads="1"/>
              </p:cNvSpPr>
              <p:nvPr/>
            </p:nvSpPr>
            <p:spPr bwMode="auto">
              <a:xfrm>
                <a:off x="1179" y="1450"/>
                <a:ext cx="490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Place</a:t>
                </a:r>
              </a:p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18460" name="Group 28"/>
            <p:cNvGrpSpPr>
              <a:grpSpLocks/>
            </p:cNvGrpSpPr>
            <p:nvPr/>
          </p:nvGrpSpPr>
          <p:grpSpPr bwMode="auto">
            <a:xfrm>
              <a:off x="267" y="1972"/>
              <a:ext cx="1602" cy="953"/>
              <a:chOff x="267" y="1972"/>
              <a:chExt cx="1602" cy="953"/>
            </a:xfrm>
          </p:grpSpPr>
          <p:grpSp>
            <p:nvGrpSpPr>
              <p:cNvPr id="18455" name="Group 23"/>
              <p:cNvGrpSpPr>
                <a:grpSpLocks/>
              </p:cNvGrpSpPr>
              <p:nvPr/>
            </p:nvGrpSpPr>
            <p:grpSpPr bwMode="auto">
              <a:xfrm>
                <a:off x="267" y="1972"/>
                <a:ext cx="1602" cy="953"/>
                <a:chOff x="267" y="1972"/>
                <a:chExt cx="1602" cy="953"/>
              </a:xfrm>
            </p:grpSpPr>
            <p:sp>
              <p:nvSpPr>
                <p:cNvPr id="18452" name="Oval 20"/>
                <p:cNvSpPr>
                  <a:spLocks noChangeArrowheads="1"/>
                </p:cNvSpPr>
                <p:nvPr/>
              </p:nvSpPr>
              <p:spPr bwMode="auto">
                <a:xfrm>
                  <a:off x="267" y="1972"/>
                  <a:ext cx="1602" cy="953"/>
                </a:xfrm>
                <a:prstGeom prst="ellipse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53" name="Line 21"/>
                <p:cNvSpPr>
                  <a:spLocks noChangeShapeType="1"/>
                </p:cNvSpPr>
                <p:nvPr/>
              </p:nvSpPr>
              <p:spPr bwMode="auto">
                <a:xfrm>
                  <a:off x="1067" y="1974"/>
                  <a:ext cx="0" cy="948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54" name="Line 22"/>
                <p:cNvSpPr>
                  <a:spLocks noChangeShapeType="1"/>
                </p:cNvSpPr>
                <p:nvPr/>
              </p:nvSpPr>
              <p:spPr bwMode="auto">
                <a:xfrm>
                  <a:off x="276" y="2448"/>
                  <a:ext cx="1584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8456" name="Rectangle 24"/>
              <p:cNvSpPr>
                <a:spLocks noChangeArrowheads="1"/>
              </p:cNvSpPr>
              <p:nvPr/>
            </p:nvSpPr>
            <p:spPr bwMode="auto">
              <a:xfrm>
                <a:off x="422" y="2165"/>
                <a:ext cx="61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Product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8457" name="Rectangle 25"/>
              <p:cNvSpPr>
                <a:spLocks noChangeArrowheads="1"/>
              </p:cNvSpPr>
              <p:nvPr/>
            </p:nvSpPr>
            <p:spPr bwMode="auto">
              <a:xfrm>
                <a:off x="507" y="2516"/>
                <a:ext cx="44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Price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8458" name="Rectangle 26"/>
              <p:cNvSpPr>
                <a:spLocks noChangeArrowheads="1"/>
              </p:cNvSpPr>
              <p:nvPr/>
            </p:nvSpPr>
            <p:spPr bwMode="auto">
              <a:xfrm>
                <a:off x="1035" y="2165"/>
                <a:ext cx="77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Promotion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8459" name="Rectangle 27"/>
              <p:cNvSpPr>
                <a:spLocks noChangeArrowheads="1"/>
              </p:cNvSpPr>
              <p:nvPr/>
            </p:nvSpPr>
            <p:spPr bwMode="auto">
              <a:xfrm>
                <a:off x="1179" y="2516"/>
                <a:ext cx="490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Place</a:t>
                </a:r>
              </a:p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18469" name="Group 37"/>
            <p:cNvGrpSpPr>
              <a:grpSpLocks/>
            </p:cNvGrpSpPr>
            <p:nvPr/>
          </p:nvGrpSpPr>
          <p:grpSpPr bwMode="auto">
            <a:xfrm>
              <a:off x="267" y="3039"/>
              <a:ext cx="1602" cy="953"/>
              <a:chOff x="267" y="3039"/>
              <a:chExt cx="1602" cy="953"/>
            </a:xfrm>
          </p:grpSpPr>
          <p:grpSp>
            <p:nvGrpSpPr>
              <p:cNvPr id="18464" name="Group 32"/>
              <p:cNvGrpSpPr>
                <a:grpSpLocks/>
              </p:cNvGrpSpPr>
              <p:nvPr/>
            </p:nvGrpSpPr>
            <p:grpSpPr bwMode="auto">
              <a:xfrm>
                <a:off x="267" y="3039"/>
                <a:ext cx="1602" cy="953"/>
                <a:chOff x="267" y="3039"/>
                <a:chExt cx="1602" cy="953"/>
              </a:xfrm>
            </p:grpSpPr>
            <p:sp>
              <p:nvSpPr>
                <p:cNvPr id="18461" name="Oval 29"/>
                <p:cNvSpPr>
                  <a:spLocks noChangeArrowheads="1"/>
                </p:cNvSpPr>
                <p:nvPr/>
              </p:nvSpPr>
              <p:spPr bwMode="auto">
                <a:xfrm>
                  <a:off x="267" y="3039"/>
                  <a:ext cx="1602" cy="953"/>
                </a:xfrm>
                <a:prstGeom prst="ellipse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62" name="Line 30"/>
                <p:cNvSpPr>
                  <a:spLocks noChangeShapeType="1"/>
                </p:cNvSpPr>
                <p:nvPr/>
              </p:nvSpPr>
              <p:spPr bwMode="auto">
                <a:xfrm>
                  <a:off x="1067" y="3041"/>
                  <a:ext cx="0" cy="948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8463" name="Line 31"/>
                <p:cNvSpPr>
                  <a:spLocks noChangeShapeType="1"/>
                </p:cNvSpPr>
                <p:nvPr/>
              </p:nvSpPr>
              <p:spPr bwMode="auto">
                <a:xfrm>
                  <a:off x="276" y="3515"/>
                  <a:ext cx="1584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18465" name="Rectangle 33"/>
              <p:cNvSpPr>
                <a:spLocks noChangeArrowheads="1"/>
              </p:cNvSpPr>
              <p:nvPr/>
            </p:nvSpPr>
            <p:spPr bwMode="auto">
              <a:xfrm>
                <a:off x="422" y="3232"/>
                <a:ext cx="61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Product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8466" name="Rectangle 34"/>
              <p:cNvSpPr>
                <a:spLocks noChangeArrowheads="1"/>
              </p:cNvSpPr>
              <p:nvPr/>
            </p:nvSpPr>
            <p:spPr bwMode="auto">
              <a:xfrm>
                <a:off x="507" y="3583"/>
                <a:ext cx="44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Price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8467" name="Rectangle 35"/>
              <p:cNvSpPr>
                <a:spLocks noChangeArrowheads="1"/>
              </p:cNvSpPr>
              <p:nvPr/>
            </p:nvSpPr>
            <p:spPr bwMode="auto">
              <a:xfrm>
                <a:off x="1035" y="3232"/>
                <a:ext cx="77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Promotion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8468" name="Rectangle 36"/>
              <p:cNvSpPr>
                <a:spLocks noChangeArrowheads="1"/>
              </p:cNvSpPr>
              <p:nvPr/>
            </p:nvSpPr>
            <p:spPr bwMode="auto">
              <a:xfrm>
                <a:off x="1179" y="3583"/>
                <a:ext cx="490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Place</a:t>
                </a:r>
              </a:p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</p:grpSp>
      <p:grpSp>
        <p:nvGrpSpPr>
          <p:cNvPr id="18473" name="Group 41"/>
          <p:cNvGrpSpPr>
            <a:grpSpLocks/>
          </p:cNvGrpSpPr>
          <p:nvPr/>
        </p:nvGrpSpPr>
        <p:grpSpPr bwMode="auto">
          <a:xfrm>
            <a:off x="1538288" y="25400"/>
            <a:ext cx="107950" cy="82550"/>
            <a:chOff x="9" y="16"/>
            <a:chExt cx="68" cy="52"/>
          </a:xfrm>
        </p:grpSpPr>
        <p:sp>
          <p:nvSpPr>
            <p:cNvPr id="18471" name="Line 39"/>
            <p:cNvSpPr>
              <a:spLocks noChangeShapeType="1"/>
            </p:cNvSpPr>
            <p:nvPr/>
          </p:nvSpPr>
          <p:spPr bwMode="auto">
            <a:xfrm>
              <a:off x="43" y="16"/>
              <a:ext cx="0" cy="52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472" name="Line 40"/>
            <p:cNvSpPr>
              <a:spLocks noChangeShapeType="1"/>
            </p:cNvSpPr>
            <p:nvPr/>
          </p:nvSpPr>
          <p:spPr bwMode="auto">
            <a:xfrm flipH="1">
              <a:off x="9" y="42"/>
              <a:ext cx="68" cy="0"/>
            </a:xfrm>
            <a:prstGeom prst="line">
              <a:avLst/>
            </a:prstGeom>
            <a:noFill/>
            <a:ln w="12700">
              <a:solidFill>
                <a:srgbClr val="FF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8474" name="Rectangle 42"/>
          <p:cNvSpPr>
            <a:spLocks noChangeArrowheads="1"/>
          </p:cNvSpPr>
          <p:nvPr/>
        </p:nvSpPr>
        <p:spPr bwMode="auto">
          <a:xfrm>
            <a:off x="4600576" y="1468439"/>
            <a:ext cx="379412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%"/>
              </a:spcBef>
            </a:pPr>
            <a:r>
              <a:rPr lang="en-US" altLang="en-US" sz="2800">
                <a:solidFill>
                  <a:srgbClr val="FF0033"/>
                </a:solidFill>
                <a:latin typeface="Arial" panose="020B0604020202020204" pitchFamily="34" charset="0"/>
              </a:rPr>
              <a:t>Market segmentation</a:t>
            </a:r>
          </a:p>
        </p:txBody>
      </p:sp>
    </p:spTree>
    <p:extLst>
      <p:ext uri="{BB962C8B-B14F-4D97-AF65-F5344CB8AC3E}">
        <p14:creationId xmlns:p14="http://schemas.microsoft.com/office/powerpoint/2010/main" val="1375909514"/>
      </p:ext>
    </p:extLst>
  </p:cSld>
  <p:clrMapOvr>
    <a:masterClrMapping/>
  </p:clrMapOvr>
  <p:transition>
    <p:wipe/>
  </p:transition>
</p:sld>
</file>

<file path=ppt/slides/slide2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7249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/>
            <a:endParaRPr lang="en-US" altLang="en-US" sz="1000" dirty="0">
              <a:latin typeface="Arial" panose="020B0604020202020204" pitchFamily="34" charset="0"/>
            </a:endParaRPr>
          </a:p>
        </p:txBody>
      </p:sp>
      <p:pic>
        <p:nvPicPr>
          <p:cNvPr id="20486" name="Picture 6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513" y="2790825"/>
            <a:ext cx="2208212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7" name="AutoShape 7"/>
          <p:cNvSpPr>
            <a:spLocks noChangeArrowheads="1"/>
          </p:cNvSpPr>
          <p:nvPr/>
        </p:nvSpPr>
        <p:spPr bwMode="auto">
          <a:xfrm rot="1140000">
            <a:off x="4344988" y="2503488"/>
            <a:ext cx="3783012" cy="552450"/>
          </a:xfrm>
          <a:prstGeom prst="rightArrow">
            <a:avLst>
              <a:gd name="adj1" fmla="val 50000"/>
              <a:gd name="adj2" fmla="val 110292"/>
            </a:avLst>
          </a:prstGeom>
          <a:solidFill>
            <a:schemeClr val="bg1"/>
          </a:solidFill>
          <a:ln w="25400">
            <a:solidFill>
              <a:srgbClr val="CCECFF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8" name="AutoShape 8"/>
          <p:cNvSpPr>
            <a:spLocks noChangeArrowheads="1"/>
          </p:cNvSpPr>
          <p:nvPr/>
        </p:nvSpPr>
        <p:spPr bwMode="auto">
          <a:xfrm rot="20520000">
            <a:off x="4360863" y="4735513"/>
            <a:ext cx="3783012" cy="550862"/>
          </a:xfrm>
          <a:prstGeom prst="rightArrow">
            <a:avLst>
              <a:gd name="adj1" fmla="val 50000"/>
              <a:gd name="adj2" fmla="val 110610"/>
            </a:avLst>
          </a:prstGeom>
          <a:solidFill>
            <a:schemeClr val="bg1"/>
          </a:solidFill>
          <a:ln w="25400">
            <a:solidFill>
              <a:srgbClr val="CCECFF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89" name="AutoShape 9"/>
          <p:cNvSpPr>
            <a:spLocks noChangeArrowheads="1"/>
          </p:cNvSpPr>
          <p:nvPr/>
        </p:nvSpPr>
        <p:spPr bwMode="auto">
          <a:xfrm>
            <a:off x="4141788" y="3605213"/>
            <a:ext cx="3783012" cy="550862"/>
          </a:xfrm>
          <a:prstGeom prst="rightArrow">
            <a:avLst>
              <a:gd name="adj1" fmla="val 50000"/>
              <a:gd name="adj2" fmla="val 110610"/>
            </a:avLst>
          </a:prstGeom>
          <a:solidFill>
            <a:schemeClr val="bg1"/>
          </a:solidFill>
          <a:ln w="25400">
            <a:solidFill>
              <a:srgbClr val="CCECFF"/>
            </a:solidFill>
            <a:miter lim="800%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490" name="Rectangle 10"/>
          <p:cNvSpPr>
            <a:spLocks noGrp="1" noChangeArrowheads="1"/>
          </p:cNvSpPr>
          <p:nvPr>
            <p:ph type="title"/>
          </p:nvPr>
        </p:nvSpPr>
        <p:spPr>
          <a:xfrm>
            <a:off x="838200" y="146050"/>
            <a:ext cx="10515600" cy="13255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>
              <a:lnSpc>
                <a:spcPct val="90%"/>
              </a:lnSpc>
            </a:pPr>
            <a:r>
              <a:rPr lang="en-US" altLang="en-US" dirty="0"/>
              <a:t>Approaches to developing international </a:t>
            </a:r>
            <a:r>
              <a:rPr lang="en-GB" altLang="en-US" dirty="0"/>
              <a:t>marketing</a:t>
            </a:r>
            <a:r>
              <a:rPr lang="en-US" altLang="en-US" dirty="0"/>
              <a:t> strategies</a:t>
            </a:r>
          </a:p>
        </p:txBody>
      </p:sp>
      <p:grpSp>
        <p:nvGrpSpPr>
          <p:cNvPr id="20518" name="Group 38"/>
          <p:cNvGrpSpPr>
            <a:grpSpLocks/>
          </p:cNvGrpSpPr>
          <p:nvPr/>
        </p:nvGrpSpPr>
        <p:grpSpPr bwMode="auto">
          <a:xfrm>
            <a:off x="1888542" y="1472407"/>
            <a:ext cx="2543175" cy="4900612"/>
            <a:chOff x="267" y="905"/>
            <a:chExt cx="1602" cy="3087"/>
          </a:xfrm>
        </p:grpSpPr>
        <p:grpSp>
          <p:nvGrpSpPr>
            <p:cNvPr id="20499" name="Group 19"/>
            <p:cNvGrpSpPr>
              <a:grpSpLocks/>
            </p:cNvGrpSpPr>
            <p:nvPr/>
          </p:nvGrpSpPr>
          <p:grpSpPr bwMode="auto">
            <a:xfrm>
              <a:off x="267" y="905"/>
              <a:ext cx="1602" cy="953"/>
              <a:chOff x="267" y="905"/>
              <a:chExt cx="1602" cy="953"/>
            </a:xfrm>
          </p:grpSpPr>
          <p:grpSp>
            <p:nvGrpSpPr>
              <p:cNvPr id="20494" name="Group 14"/>
              <p:cNvGrpSpPr>
                <a:grpSpLocks/>
              </p:cNvGrpSpPr>
              <p:nvPr/>
            </p:nvGrpSpPr>
            <p:grpSpPr bwMode="auto">
              <a:xfrm>
                <a:off x="267" y="905"/>
                <a:ext cx="1602" cy="953"/>
                <a:chOff x="267" y="905"/>
                <a:chExt cx="1602" cy="953"/>
              </a:xfrm>
            </p:grpSpPr>
            <p:sp>
              <p:nvSpPr>
                <p:cNvPr id="20491" name="Oval 11"/>
                <p:cNvSpPr>
                  <a:spLocks noChangeArrowheads="1"/>
                </p:cNvSpPr>
                <p:nvPr/>
              </p:nvSpPr>
              <p:spPr bwMode="auto">
                <a:xfrm>
                  <a:off x="267" y="905"/>
                  <a:ext cx="1602" cy="953"/>
                </a:xfrm>
                <a:prstGeom prst="ellipse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492" name="Line 12"/>
                <p:cNvSpPr>
                  <a:spLocks noChangeShapeType="1"/>
                </p:cNvSpPr>
                <p:nvPr/>
              </p:nvSpPr>
              <p:spPr bwMode="auto">
                <a:xfrm>
                  <a:off x="1067" y="907"/>
                  <a:ext cx="0" cy="948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493" name="Line 13"/>
                <p:cNvSpPr>
                  <a:spLocks noChangeShapeType="1"/>
                </p:cNvSpPr>
                <p:nvPr/>
              </p:nvSpPr>
              <p:spPr bwMode="auto">
                <a:xfrm>
                  <a:off x="276" y="1381"/>
                  <a:ext cx="1584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0495" name="Rectangle 15"/>
              <p:cNvSpPr>
                <a:spLocks noChangeArrowheads="1"/>
              </p:cNvSpPr>
              <p:nvPr/>
            </p:nvSpPr>
            <p:spPr bwMode="auto">
              <a:xfrm>
                <a:off x="422" y="1099"/>
                <a:ext cx="61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Product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0496" name="Rectangle 16"/>
              <p:cNvSpPr>
                <a:spLocks noChangeArrowheads="1"/>
              </p:cNvSpPr>
              <p:nvPr/>
            </p:nvSpPr>
            <p:spPr bwMode="auto">
              <a:xfrm>
                <a:off x="507" y="1450"/>
                <a:ext cx="44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Price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0497" name="Rectangle 17"/>
              <p:cNvSpPr>
                <a:spLocks noChangeArrowheads="1"/>
              </p:cNvSpPr>
              <p:nvPr/>
            </p:nvSpPr>
            <p:spPr bwMode="auto">
              <a:xfrm>
                <a:off x="1035" y="1099"/>
                <a:ext cx="77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Promotion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0498" name="Rectangle 18"/>
              <p:cNvSpPr>
                <a:spLocks noChangeArrowheads="1"/>
              </p:cNvSpPr>
              <p:nvPr/>
            </p:nvSpPr>
            <p:spPr bwMode="auto">
              <a:xfrm>
                <a:off x="1179" y="1450"/>
                <a:ext cx="490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Place</a:t>
                </a:r>
              </a:p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20508" name="Group 28"/>
            <p:cNvGrpSpPr>
              <a:grpSpLocks/>
            </p:cNvGrpSpPr>
            <p:nvPr/>
          </p:nvGrpSpPr>
          <p:grpSpPr bwMode="auto">
            <a:xfrm>
              <a:off x="267" y="1972"/>
              <a:ext cx="1602" cy="953"/>
              <a:chOff x="267" y="1972"/>
              <a:chExt cx="1602" cy="953"/>
            </a:xfrm>
          </p:grpSpPr>
          <p:grpSp>
            <p:nvGrpSpPr>
              <p:cNvPr id="20503" name="Group 23"/>
              <p:cNvGrpSpPr>
                <a:grpSpLocks/>
              </p:cNvGrpSpPr>
              <p:nvPr/>
            </p:nvGrpSpPr>
            <p:grpSpPr bwMode="auto">
              <a:xfrm>
                <a:off x="267" y="1972"/>
                <a:ext cx="1602" cy="953"/>
                <a:chOff x="267" y="1972"/>
                <a:chExt cx="1602" cy="953"/>
              </a:xfrm>
            </p:grpSpPr>
            <p:sp>
              <p:nvSpPr>
                <p:cNvPr id="20500" name="Oval 20"/>
                <p:cNvSpPr>
                  <a:spLocks noChangeArrowheads="1"/>
                </p:cNvSpPr>
                <p:nvPr/>
              </p:nvSpPr>
              <p:spPr bwMode="auto">
                <a:xfrm>
                  <a:off x="267" y="1972"/>
                  <a:ext cx="1602" cy="953"/>
                </a:xfrm>
                <a:prstGeom prst="ellipse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501" name="Line 21"/>
                <p:cNvSpPr>
                  <a:spLocks noChangeShapeType="1"/>
                </p:cNvSpPr>
                <p:nvPr/>
              </p:nvSpPr>
              <p:spPr bwMode="auto">
                <a:xfrm>
                  <a:off x="1067" y="1974"/>
                  <a:ext cx="0" cy="948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502" name="Line 22"/>
                <p:cNvSpPr>
                  <a:spLocks noChangeShapeType="1"/>
                </p:cNvSpPr>
                <p:nvPr/>
              </p:nvSpPr>
              <p:spPr bwMode="auto">
                <a:xfrm>
                  <a:off x="276" y="2448"/>
                  <a:ext cx="1584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0504" name="Rectangle 24"/>
              <p:cNvSpPr>
                <a:spLocks noChangeArrowheads="1"/>
              </p:cNvSpPr>
              <p:nvPr/>
            </p:nvSpPr>
            <p:spPr bwMode="auto">
              <a:xfrm>
                <a:off x="422" y="2165"/>
                <a:ext cx="61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Product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0505" name="Rectangle 25"/>
              <p:cNvSpPr>
                <a:spLocks noChangeArrowheads="1"/>
              </p:cNvSpPr>
              <p:nvPr/>
            </p:nvSpPr>
            <p:spPr bwMode="auto">
              <a:xfrm>
                <a:off x="507" y="2516"/>
                <a:ext cx="44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Price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0506" name="Rectangle 26"/>
              <p:cNvSpPr>
                <a:spLocks noChangeArrowheads="1"/>
              </p:cNvSpPr>
              <p:nvPr/>
            </p:nvSpPr>
            <p:spPr bwMode="auto">
              <a:xfrm>
                <a:off x="1035" y="2165"/>
                <a:ext cx="77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Promotion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20507" name="Rectangle 27"/>
              <p:cNvSpPr>
                <a:spLocks noChangeArrowheads="1"/>
              </p:cNvSpPr>
              <p:nvPr/>
            </p:nvSpPr>
            <p:spPr bwMode="auto">
              <a:xfrm>
                <a:off x="1179" y="2516"/>
                <a:ext cx="490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Place</a:t>
                </a:r>
              </a:p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20517" name="Group 37"/>
            <p:cNvGrpSpPr>
              <a:grpSpLocks/>
            </p:cNvGrpSpPr>
            <p:nvPr/>
          </p:nvGrpSpPr>
          <p:grpSpPr bwMode="auto">
            <a:xfrm>
              <a:off x="267" y="3039"/>
              <a:ext cx="1602" cy="953"/>
              <a:chOff x="267" y="3039"/>
              <a:chExt cx="1602" cy="953"/>
            </a:xfrm>
          </p:grpSpPr>
          <p:grpSp>
            <p:nvGrpSpPr>
              <p:cNvPr id="20512" name="Group 32"/>
              <p:cNvGrpSpPr>
                <a:grpSpLocks/>
              </p:cNvGrpSpPr>
              <p:nvPr/>
            </p:nvGrpSpPr>
            <p:grpSpPr bwMode="auto">
              <a:xfrm>
                <a:off x="267" y="3039"/>
                <a:ext cx="1602" cy="953"/>
                <a:chOff x="267" y="3039"/>
                <a:chExt cx="1602" cy="953"/>
              </a:xfrm>
            </p:grpSpPr>
            <p:sp>
              <p:nvSpPr>
                <p:cNvPr id="20509" name="Oval 29"/>
                <p:cNvSpPr>
                  <a:spLocks noChangeArrowheads="1"/>
                </p:cNvSpPr>
                <p:nvPr/>
              </p:nvSpPr>
              <p:spPr bwMode="auto">
                <a:xfrm>
                  <a:off x="267" y="3039"/>
                  <a:ext cx="1602" cy="953"/>
                </a:xfrm>
                <a:prstGeom prst="ellipse">
                  <a:avLst/>
                </a:prstGeom>
                <a:solidFill>
                  <a:srgbClr val="FFFFCC"/>
                </a:solidFill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510" name="Line 30"/>
                <p:cNvSpPr>
                  <a:spLocks noChangeShapeType="1"/>
                </p:cNvSpPr>
                <p:nvPr/>
              </p:nvSpPr>
              <p:spPr bwMode="auto">
                <a:xfrm>
                  <a:off x="1067" y="3041"/>
                  <a:ext cx="0" cy="948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511" name="Line 31"/>
                <p:cNvSpPr>
                  <a:spLocks noChangeShapeType="1"/>
                </p:cNvSpPr>
                <p:nvPr/>
              </p:nvSpPr>
              <p:spPr bwMode="auto">
                <a:xfrm>
                  <a:off x="276" y="3515"/>
                  <a:ext cx="1584" cy="0"/>
                </a:xfrm>
                <a:prstGeom prst="line">
                  <a:avLst/>
                </a:prstGeom>
                <a:noFill/>
                <a:ln w="25400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20513" name="Rectangle 33"/>
              <p:cNvSpPr>
                <a:spLocks noChangeArrowheads="1"/>
              </p:cNvSpPr>
              <p:nvPr/>
            </p:nvSpPr>
            <p:spPr bwMode="auto">
              <a:xfrm>
                <a:off x="422" y="3232"/>
                <a:ext cx="61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Product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0514" name="Rectangle 34"/>
              <p:cNvSpPr>
                <a:spLocks noChangeArrowheads="1"/>
              </p:cNvSpPr>
              <p:nvPr/>
            </p:nvSpPr>
            <p:spPr bwMode="auto">
              <a:xfrm>
                <a:off x="507" y="3583"/>
                <a:ext cx="446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Price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0515" name="Rectangle 35"/>
              <p:cNvSpPr>
                <a:spLocks noChangeArrowheads="1"/>
              </p:cNvSpPr>
              <p:nvPr/>
            </p:nvSpPr>
            <p:spPr bwMode="auto">
              <a:xfrm>
                <a:off x="1035" y="3232"/>
                <a:ext cx="778" cy="3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Promotion</a:t>
                </a:r>
                <a:br>
                  <a:rPr lang="en-US" altLang="en-US" sz="1800">
                    <a:latin typeface="Arial" panose="020B0604020202020204" pitchFamily="34" charset="0"/>
                  </a:rPr>
                </a:b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20516" name="Rectangle 36"/>
              <p:cNvSpPr>
                <a:spLocks noChangeArrowheads="1"/>
              </p:cNvSpPr>
              <p:nvPr/>
            </p:nvSpPr>
            <p:spPr bwMode="auto">
              <a:xfrm>
                <a:off x="1179" y="3583"/>
                <a:ext cx="490" cy="2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%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571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7145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286000" defTabSz="7620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7432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32004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6576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4114800" defTabSz="762000" eaLnBrk="0" fontAlgn="base" hangingPunct="0">
                  <a:spcBef>
                    <a:spcPct val="0%"/>
                  </a:spcBef>
                  <a:spcAft>
                    <a:spcPct val="0%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Place</a:t>
                </a:r>
              </a:p>
              <a:p>
                <a:pPr algn="ctr">
                  <a:lnSpc>
                    <a:spcPct val="70%"/>
                  </a:lnSpc>
                </a:pPr>
                <a:r>
                  <a:rPr lang="en-US" altLang="en-US" sz="180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</p:grpSp>
      <p:sp>
        <p:nvSpPr>
          <p:cNvPr id="20519" name="Rectangle 39"/>
          <p:cNvSpPr>
            <a:spLocks noChangeArrowheads="1"/>
          </p:cNvSpPr>
          <p:nvPr/>
        </p:nvSpPr>
        <p:spPr bwMode="auto">
          <a:xfrm>
            <a:off x="4600576" y="1468439"/>
            <a:ext cx="3794125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%"/>
              </a:spcBef>
            </a:pPr>
            <a:r>
              <a:rPr lang="en-US" altLang="en-US" sz="2800">
                <a:solidFill>
                  <a:srgbClr val="FF0033"/>
                </a:solidFill>
                <a:latin typeface="Arial" panose="020B0604020202020204" pitchFamily="34" charset="0"/>
              </a:rPr>
              <a:t>Market segmentation</a:t>
            </a:r>
          </a:p>
        </p:txBody>
      </p:sp>
      <p:sp>
        <p:nvSpPr>
          <p:cNvPr id="20520" name="Rectangle 40"/>
          <p:cNvSpPr>
            <a:spLocks noChangeArrowheads="1"/>
          </p:cNvSpPr>
          <p:nvPr/>
        </p:nvSpPr>
        <p:spPr bwMode="auto">
          <a:xfrm>
            <a:off x="4678248" y="1962151"/>
            <a:ext cx="1336905" cy="39754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6699FF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Based on:</a:t>
            </a:r>
          </a:p>
        </p:txBody>
      </p:sp>
      <p:sp>
        <p:nvSpPr>
          <p:cNvPr id="20521" name="Rectangle 41"/>
          <p:cNvSpPr>
            <a:spLocks noChangeArrowheads="1"/>
          </p:cNvSpPr>
          <p:nvPr/>
        </p:nvSpPr>
        <p:spPr bwMode="auto">
          <a:xfrm>
            <a:off x="4695826" y="2298700"/>
            <a:ext cx="3154711" cy="1320874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6699FF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8925" indent="-288925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Buyer </a:t>
            </a:r>
            <a:r>
              <a:rPr lang="en-US" altLang="en-US" sz="2000">
                <a:latin typeface="Arial" panose="020B0604020202020204" pitchFamily="34" charset="0"/>
              </a:rPr>
              <a:t>motivations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Buyer preferences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Buyer behaviour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Buyer price sensitivities</a:t>
            </a:r>
          </a:p>
        </p:txBody>
      </p:sp>
      <p:sp>
        <p:nvSpPr>
          <p:cNvPr id="20522" name="Rectangle 42"/>
          <p:cNvSpPr>
            <a:spLocks noChangeArrowheads="1"/>
          </p:cNvSpPr>
          <p:nvPr/>
        </p:nvSpPr>
        <p:spPr bwMode="auto">
          <a:xfrm>
            <a:off x="4697413" y="4087813"/>
            <a:ext cx="2620962" cy="16129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6699FF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8925" indent="-288925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Region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Lifestyle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latin typeface="Arial" panose="020B0604020202020204" pitchFamily="34" charset="0"/>
              </a:rPr>
              <a:t>Income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Age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etc.</a:t>
            </a:r>
          </a:p>
        </p:txBody>
      </p:sp>
      <p:sp>
        <p:nvSpPr>
          <p:cNvPr id="20523" name="Rectangle 43"/>
          <p:cNvSpPr>
            <a:spLocks noChangeArrowheads="1"/>
          </p:cNvSpPr>
          <p:nvPr/>
        </p:nvSpPr>
        <p:spPr bwMode="auto">
          <a:xfrm>
            <a:off x="4625976" y="3725863"/>
            <a:ext cx="2640013" cy="3937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6699FF"/>
                </a:solidFill>
                <a:miter lim="800%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eaLnBrk="0" fontAlgn="base" hangingPunct="0">
              <a:spcBef>
                <a:spcPct val="0%"/>
              </a:spcBef>
              <a:spcAft>
                <a:spcPct val="0%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>
                <a:solidFill>
                  <a:srgbClr val="6699FF"/>
                </a:solidFill>
                <a:latin typeface="Arial" panose="020B0604020202020204" pitchFamily="34" charset="0"/>
              </a:rPr>
              <a:t>Profiled on:</a:t>
            </a:r>
          </a:p>
        </p:txBody>
      </p:sp>
    </p:spTree>
    <p:extLst>
      <p:ext uri="{BB962C8B-B14F-4D97-AF65-F5344CB8AC3E}">
        <p14:creationId xmlns:p14="http://schemas.microsoft.com/office/powerpoint/2010/main" val="263176764"/>
      </p:ext>
    </p:extLst>
  </p:cSld>
  <p:clrMapOvr>
    <a:masterClrMapping/>
  </p:clrMapOvr>
  <p:transition>
    <p:wipe dir="d"/>
  </p:transition>
</p:sld>
</file>

<file path=ppt/slides/slide2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r>
              <a:rPr lang="en-US" altLang="en-US" dirty="0"/>
              <a:t>Customization Versus Globalization of International Marketing Strategies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90688"/>
            <a:ext cx="7772400" cy="5167312"/>
          </a:xfrm>
        </p:spPr>
        <p:txBody>
          <a:bodyPr/>
          <a:lstStyle/>
          <a:p>
            <a:pPr>
              <a:lnSpc>
                <a:spcPct val="90%"/>
              </a:lnSpc>
            </a:pPr>
            <a:r>
              <a:rPr lang="en-US" altLang="en-US" sz="3200" dirty="0">
                <a:solidFill>
                  <a:schemeClr val="tx2"/>
                </a:solidFill>
              </a:rPr>
              <a:t>Adaptation/ Customization</a:t>
            </a:r>
          </a:p>
          <a:p>
            <a:pPr lvl="1">
              <a:lnSpc>
                <a:spcPct val="90%"/>
              </a:lnSpc>
            </a:pPr>
            <a:r>
              <a:rPr lang="en-US" altLang="en-US" sz="2800" dirty="0">
                <a:solidFill>
                  <a:schemeClr val="tx2"/>
                </a:solidFill>
              </a:rPr>
              <a:t>Adjusting marketing mixes according to cultural, regional, and national differences</a:t>
            </a:r>
          </a:p>
          <a:p>
            <a:pPr>
              <a:lnSpc>
                <a:spcPct val="90%"/>
              </a:lnSpc>
            </a:pPr>
            <a:r>
              <a:rPr lang="en-US" altLang="en-US" sz="3200" dirty="0" err="1">
                <a:solidFill>
                  <a:schemeClr val="tx2"/>
                </a:solidFill>
              </a:rPr>
              <a:t>Standardisation</a:t>
            </a:r>
            <a:r>
              <a:rPr lang="en-US" altLang="en-US" sz="3200" dirty="0">
                <a:solidFill>
                  <a:schemeClr val="tx2"/>
                </a:solidFill>
              </a:rPr>
              <a:t>/ Globalization</a:t>
            </a:r>
          </a:p>
          <a:p>
            <a:pPr lvl="1">
              <a:lnSpc>
                <a:spcPct val="90%"/>
              </a:lnSpc>
            </a:pPr>
            <a:r>
              <a:rPr lang="en-US" altLang="en-US" sz="2800" dirty="0">
                <a:solidFill>
                  <a:schemeClr val="tx2"/>
                </a:solidFill>
              </a:rPr>
              <a:t>The development of marketing strategies that treat the entire world (or its major regions) as a single entity</a:t>
            </a:r>
          </a:p>
          <a:p>
            <a:pPr lvl="2">
              <a:lnSpc>
                <a:spcPct val="90%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Includes standardization of products, promotion campaigns, prices, and distribution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2"/>
                </a:solidFill>
              </a:rPr>
              <a:t>channels</a:t>
            </a:r>
          </a:p>
          <a:p>
            <a:pPr lvl="2">
              <a:lnSpc>
                <a:spcPct val="90%"/>
              </a:lnSpc>
            </a:pPr>
            <a:r>
              <a:rPr lang="en-US" altLang="en-US" sz="2400" dirty="0">
                <a:solidFill>
                  <a:schemeClr val="tx2"/>
                </a:solidFill>
              </a:rPr>
              <a:t>“Think globally, act locally”</a:t>
            </a:r>
          </a:p>
        </p:txBody>
      </p:sp>
    </p:spTree>
    <p:extLst>
      <p:ext uri="{BB962C8B-B14F-4D97-AF65-F5344CB8AC3E}">
        <p14:creationId xmlns:p14="http://schemas.microsoft.com/office/powerpoint/2010/main" val="3084604301"/>
      </p:ext>
    </p:extLst>
  </p:cSld>
  <p:clrMapOvr>
    <a:masterClrMapping/>
  </p:clrMapOvr>
  <p:transition>
    <p:cut thruBlk="1"/>
  </p:transition>
</p:sld>
</file>

<file path=ppt/slides/slide2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2514600" y="1480236"/>
            <a:ext cx="7162800" cy="381000"/>
          </a:xfrm>
        </p:spPr>
        <p:txBody>
          <a:bodyPr/>
          <a:lstStyle/>
          <a:p>
            <a:pPr marL="533400" indent="-533400">
              <a:spcBef>
                <a:spcPct val="0%"/>
              </a:spcBef>
            </a:pPr>
            <a:r>
              <a:rPr lang="en-US" dirty="0"/>
              <a:t>Product </a:t>
            </a:r>
          </a:p>
          <a:p>
            <a:pPr marL="533400" indent="-533400">
              <a:spcBef>
                <a:spcPct val="0%"/>
              </a:spcBef>
            </a:pPr>
            <a:endParaRPr lang="en-US" sz="2000" dirty="0">
              <a:solidFill>
                <a:srgbClr val="1A643E"/>
              </a:solidFill>
            </a:endParaRPr>
          </a:p>
          <a:p>
            <a:pPr marL="533400" indent="-533400">
              <a:spcBef>
                <a:spcPct val="0%"/>
              </a:spcBef>
            </a:pPr>
            <a:endParaRPr lang="en-US" sz="2400" dirty="0"/>
          </a:p>
        </p:txBody>
      </p:sp>
      <p:pic>
        <p:nvPicPr>
          <p:cNvPr id="70659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892" y="1973648"/>
            <a:ext cx="11425881" cy="4884352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4824"/>
            <a:ext cx="7772400" cy="1143000"/>
          </a:xfrm>
        </p:spPr>
        <p:txBody>
          <a:bodyPr/>
          <a:lstStyle/>
          <a:p>
            <a:r>
              <a:rPr lang="en-US" dirty="0">
                <a:solidFill>
                  <a:srgbClr val="007FA3"/>
                </a:solidFill>
              </a:rPr>
              <a:t>Deciding on the global</a:t>
            </a:r>
            <a:br>
              <a:rPr lang="en-US" dirty="0">
                <a:solidFill>
                  <a:srgbClr val="007FA3"/>
                </a:solidFill>
              </a:rPr>
            </a:br>
            <a:r>
              <a:rPr lang="en-US" dirty="0">
                <a:solidFill>
                  <a:srgbClr val="007FA3"/>
                </a:solidFill>
              </a:rPr>
              <a:t>marketing program (Continued)</a:t>
            </a:r>
          </a:p>
        </p:txBody>
      </p:sp>
    </p:spTree>
    <p:extLst>
      <p:ext uri="{BB962C8B-B14F-4D97-AF65-F5344CB8AC3E}">
        <p14:creationId xmlns:p14="http://schemas.microsoft.com/office/powerpoint/2010/main" val="3594701734"/>
      </p:ext>
    </p:extLst>
  </p:cSld>
  <p:clrMapOvr>
    <a:masterClrMapping/>
  </p:clrMapOvr>
  <p:transition/>
</p:sld>
</file>

<file path=ppt/slides/slide2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Content Placeholder 6"/>
          <p:cNvSpPr>
            <a:spLocks noGrp="1"/>
          </p:cNvSpPr>
          <p:nvPr>
            <p:ph idx="1"/>
          </p:nvPr>
        </p:nvSpPr>
        <p:spPr>
          <a:xfrm>
            <a:off x="2209800" y="2252264"/>
            <a:ext cx="7772400" cy="4572000"/>
          </a:xfrm>
        </p:spPr>
        <p:txBody>
          <a:bodyPr/>
          <a:lstStyle/>
          <a:p>
            <a:pPr marL="457200" indent="-457200">
              <a:spcBef>
                <a:spcPct val="0%"/>
              </a:spcBef>
              <a:buNone/>
            </a:pPr>
            <a:r>
              <a:rPr lang="en-US" dirty="0">
                <a:latin typeface="Calibri" charset="0"/>
              </a:rPr>
              <a:t>Companies can either adopt the same communication strategy they use at home or change it for each market.</a:t>
            </a:r>
          </a:p>
          <a:p>
            <a:pPr marL="0" indent="0">
              <a:spcBef>
                <a:spcPct val="0%"/>
              </a:spcBef>
              <a:buNone/>
            </a:pPr>
            <a:endParaRPr lang="en-US" sz="800" dirty="0">
              <a:latin typeface="Calibri" charset="0"/>
            </a:endParaRPr>
          </a:p>
          <a:p>
            <a:pPr marL="457200" indent="-457200">
              <a:spcBef>
                <a:spcPct val="0%"/>
              </a:spcBef>
              <a:buNone/>
            </a:pPr>
            <a:r>
              <a:rPr lang="en-US" dirty="0">
                <a:latin typeface="Calibri" charset="0"/>
              </a:rPr>
              <a:t>Even in standardized communications campaigns, adjustments may be required for language or cultural differences.</a:t>
            </a:r>
          </a:p>
          <a:p>
            <a:pPr>
              <a:spcBef>
                <a:spcPct val="0%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>
              <a:spcBef>
                <a:spcPct val="0%"/>
              </a:spcBef>
            </a:pPr>
            <a:r>
              <a:rPr lang="en-US" sz="3200" dirty="0">
                <a:solidFill>
                  <a:schemeClr val="accent2"/>
                </a:solidFill>
                <a:latin typeface="Calibri" charset="0"/>
              </a:rPr>
              <a:t>Promotion</a:t>
            </a:r>
          </a:p>
        </p:txBody>
      </p:sp>
      <p:sp>
        <p:nvSpPr>
          <p:cNvPr id="74757" name="Text Box 8"/>
          <p:cNvSpPr txBox="1">
            <a:spLocks noChangeArrowheads="1"/>
          </p:cNvSpPr>
          <p:nvPr/>
        </p:nvSpPr>
        <p:spPr bwMode="auto">
          <a:xfrm>
            <a:off x="4953000" y="1905000"/>
            <a:ext cx="273050" cy="793750"/>
          </a:xfrm>
          <a:prstGeom prst="rect">
            <a:avLst/>
          </a:prstGeom>
          <a:noFill/>
          <a:ln w="9525">
            <a:noFill/>
            <a:miter lim="800%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%"/>
              </a:spcBef>
              <a:buClr>
                <a:schemeClr val="folHlink"/>
              </a:buClr>
              <a:buSzPct val="60%"/>
              <a:buFont typeface="Wingdings" charset="2"/>
              <a:buNone/>
            </a:pPr>
            <a:r>
              <a:rPr lang="en-US" sz="2800" b="1" i="1" dirty="0">
                <a:latin typeface="Times New Roman" charset="0"/>
              </a:rPr>
              <a:t> </a:t>
            </a:r>
          </a:p>
          <a:p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14400" y="180473"/>
            <a:ext cx="10363200" cy="637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%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0070C0"/>
                </a:solidFill>
                <a:latin typeface="+mn-lt"/>
              </a:rPr>
              <a:t>Deciding on the Global Marketing Program</a:t>
            </a:r>
            <a:endParaRPr lang="en-US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633395053"/>
      </p:ext>
    </p:extLst>
  </p:cSld>
  <p:clrMapOvr>
    <a:masterClrMapping/>
  </p:clrMapOvr>
  <p:transition/>
</p:sld>
</file>

<file path=ppt/slides/slide2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algn="ctr">
              <a:lnSpc>
                <a:spcPct val="80%"/>
              </a:lnSpc>
              <a:spcBef>
                <a:spcPct val="0%"/>
              </a:spcBef>
              <a:buNone/>
            </a:pPr>
            <a:endParaRPr lang="en-US" b="1" i="1" dirty="0">
              <a:latin typeface="Times New Roman" charset="0"/>
            </a:endParaRPr>
          </a:p>
          <a:p>
            <a:pPr marL="533400" indent="-533400">
              <a:spcBef>
                <a:spcPct val="0%"/>
              </a:spcBef>
              <a:buNone/>
            </a:pPr>
            <a:r>
              <a:rPr lang="en-US" sz="3000" b="1" dirty="0">
                <a:latin typeface="Calibri" charset="0"/>
              </a:rPr>
              <a:t>Uniform pricing</a:t>
            </a:r>
            <a:r>
              <a:rPr lang="en-US" sz="3000" dirty="0">
                <a:latin typeface="Calibri" charset="0"/>
              </a:rPr>
              <a:t> charges the same price in all markets but does not consider income or wealth where the price may be too high in some or not high enough in other markets.</a:t>
            </a:r>
          </a:p>
          <a:p>
            <a:pPr marL="533400" indent="-533400">
              <a:spcBef>
                <a:spcPct val="0%"/>
              </a:spcBef>
              <a:buNone/>
            </a:pPr>
            <a:r>
              <a:rPr lang="en-US" sz="3000" b="1" dirty="0">
                <a:latin typeface="Calibri" charset="0"/>
              </a:rPr>
              <a:t>Standard markup pricing</a:t>
            </a:r>
            <a:r>
              <a:rPr lang="en-US" sz="3000" dirty="0">
                <a:latin typeface="Calibri" charset="0"/>
              </a:rPr>
              <a:t> is a price based on a percentage of cost but can cause problems in countries with high costs.</a:t>
            </a:r>
          </a:p>
        </p:txBody>
      </p:sp>
      <p:sp>
        <p:nvSpPr>
          <p:cNvPr id="7680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25%" lnSpcReduction="20%"/>
          </a:bodyPr>
          <a:lstStyle/>
          <a:p>
            <a:pPr>
              <a:spcBef>
                <a:spcPct val="0%"/>
              </a:spcBef>
            </a:pPr>
            <a:r>
              <a:rPr lang="en-US" sz="12800" dirty="0">
                <a:solidFill>
                  <a:schemeClr val="accent2"/>
                </a:solidFill>
                <a:latin typeface="Calibri" charset="0"/>
              </a:rPr>
              <a:t>Price</a:t>
            </a:r>
            <a:r>
              <a:rPr lang="en-US" sz="12800" i="1" dirty="0">
                <a:solidFill>
                  <a:schemeClr val="accent2"/>
                </a:solidFill>
                <a:latin typeface="Times New Roman" charset="0"/>
              </a:rPr>
              <a:t> </a:t>
            </a:r>
          </a:p>
          <a:p>
            <a:pPr>
              <a:spcBef>
                <a:spcPct val="0%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14400" y="180473"/>
            <a:ext cx="10363200" cy="6376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%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rgbClr val="0070C0"/>
                </a:solidFill>
                <a:latin typeface="+mn-lt"/>
              </a:rPr>
              <a:t>Deciding on the Global Marketing Program</a:t>
            </a:r>
            <a:endParaRPr lang="en-US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98342" y="6477001"/>
            <a:ext cx="875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19-37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1693" y="6477001"/>
            <a:ext cx="3868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Copyright 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342391643"/>
      </p:ext>
    </p:extLst>
  </p:cSld>
  <p:clrMapOvr>
    <a:masterClrMapping/>
  </p:clrMapOvr>
  <p:transition/>
</p:sld>
</file>

<file path=ppt/slides/slide2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90A2EE8-FA16-49D3-89C4-28CD7E18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1"/>
            <a:ext cx="10515600" cy="863600"/>
          </a:xfrm>
        </p:spPr>
        <p:txBody>
          <a:bodyPr/>
          <a:lstStyle/>
          <a:p>
            <a:pPr algn="ctr"/>
            <a:br>
              <a:rPr lang="en-US" sz="3600" dirty="0">
                <a:solidFill>
                  <a:srgbClr val="007BA4"/>
                </a:solidFill>
              </a:rPr>
            </a:br>
            <a:r>
              <a:rPr lang="en-US" sz="3600" dirty="0">
                <a:solidFill>
                  <a:srgbClr val="007BA4"/>
                </a:solidFill>
              </a:rPr>
              <a:t>Whole-channel concept for international marketing </a:t>
            </a:r>
            <a:br>
              <a:rPr lang="en-US" sz="4400" dirty="0">
                <a:solidFill>
                  <a:srgbClr val="007BA4"/>
                </a:solidFill>
              </a:rPr>
            </a:br>
            <a:endParaRPr lang="en-US" dirty="0"/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CB5334D9-CE0B-4550-A1FC-2E765E495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00275"/>
            <a:ext cx="10515600" cy="3286347"/>
          </a:xfrm>
          <a:noFill/>
        </p:spPr>
      </p:pic>
    </p:spTree>
    <p:extLst>
      <p:ext uri="{BB962C8B-B14F-4D97-AF65-F5344CB8AC3E}">
        <p14:creationId xmlns:p14="http://schemas.microsoft.com/office/powerpoint/2010/main" val="2638014499"/>
      </p:ext>
    </p:extLst>
  </p:cSld>
  <p:clrMapOvr>
    <a:masterClrMapping/>
  </p:clrMapOvr>
</p:sld>
</file>

<file path=ppt/slides/slide2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64812"/>
            <a:ext cx="7772400" cy="1143000"/>
          </a:xfrm>
        </p:spPr>
        <p:txBody>
          <a:bodyPr/>
          <a:lstStyle/>
          <a:p>
            <a:r>
              <a:rPr lang="en-US" sz="3200" dirty="0">
                <a:solidFill>
                  <a:srgbClr val="007FA3"/>
                </a:solidFill>
              </a:rPr>
              <a:t>Deciding on the </a:t>
            </a:r>
            <a:br>
              <a:rPr lang="en-US" sz="3200" dirty="0">
                <a:solidFill>
                  <a:srgbClr val="007FA3"/>
                </a:solidFill>
              </a:rPr>
            </a:br>
            <a:r>
              <a:rPr lang="en-US" sz="3200" dirty="0">
                <a:solidFill>
                  <a:srgbClr val="007FA3"/>
                </a:solidFill>
              </a:rPr>
              <a:t>global marketing organisation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2780743" y="2036470"/>
            <a:ext cx="7772400" cy="4572000"/>
          </a:xfrm>
        </p:spPr>
        <p:txBody>
          <a:bodyPr/>
          <a:lstStyle/>
          <a:p>
            <a:pPr marL="352425" indent="-352425">
              <a:spcBef>
                <a:spcPct val="0%"/>
              </a:spcBef>
              <a:buNone/>
            </a:pPr>
            <a:r>
              <a:rPr lang="en-US" dirty="0"/>
              <a:t>Typical management of international marketing activities include:</a:t>
            </a:r>
          </a:p>
          <a:p>
            <a:pPr marL="352425" indent="-352425">
              <a:spcBef>
                <a:spcPct val="0%"/>
              </a:spcBef>
            </a:pPr>
            <a:r>
              <a:rPr lang="en-US" dirty="0"/>
              <a:t>Establishing an exporting department with a sales manager and staff.</a:t>
            </a:r>
          </a:p>
          <a:p>
            <a:pPr marL="352425" indent="-352425">
              <a:spcBef>
                <a:spcPct val="0%"/>
              </a:spcBef>
            </a:pPr>
            <a:r>
              <a:rPr lang="en-US" dirty="0"/>
              <a:t>Creating an international division organised by geography, products or operating units.</a:t>
            </a:r>
          </a:p>
          <a:p>
            <a:pPr marL="352425" indent="-352425">
              <a:spcBef>
                <a:spcPct val="0%"/>
              </a:spcBef>
            </a:pPr>
            <a:r>
              <a:rPr lang="en-US" dirty="0"/>
              <a:t>Becoming a complete global organisation.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purl.oclc.org/ooxml/drawingml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ehampton-Powerpoint-Template-2017-Brand.pot [Read-Only] [Compatibility Mode]" id="{73B11BDD-0FF5-47F1-BDEF-47682B828FF0}" vid="{2B42B497-A512-4263-9A8A-D2375C06AC3F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purl.oclc.org/ooxml/officeDocument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purl.oclc.org/ooxml/officeDocument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purl.oclc.org/ooxml/officeDocument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8A673D2473E2439BE64E26C794AC56" ma:contentTypeVersion="1" ma:contentTypeDescription="Create a new document." ma:contentTypeScope="" ma:versionID="2499bf996f7f8fb20f5f7472d4c4be53">
  <xsd:schema xmlns:xsd="http://www.w3.org/2001/XMLSchema" xmlns:xs="http://www.w3.org/2001/XMLSchema" xmlns:p="http://schemas.microsoft.com/office/2006/metadata/properties" xmlns:ns1="http://schemas.microsoft.com/sharepoint/v3" xmlns:ns2="93fef078-daf5-4ef7-8fde-c2fad20c0449" targetNamespace="http://schemas.microsoft.com/office/2006/metadata/properties" ma:root="true" ma:fieldsID="a80321079ca9816655e11641657b2392" ns1:_="" ns2:_="">
    <xsd:import namespace="http://schemas.microsoft.com/sharepoint/v3"/>
    <xsd:import namespace="93fef078-daf5-4ef7-8fde-c2fad20c044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fef078-daf5-4ef7-8fde-c2fad20c044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LongProperties xmlns="http://schemas.microsoft.com/office/2006/metadata/longProperties"/>
</file>

<file path=customXml/itemProps1.xml><?xml version="1.0" encoding="utf-8"?>
<ds:datastoreItem xmlns:ds="http://purl.oclc.org/ooxml/officeDocument/customXml" ds:itemID="{9CD77F1A-052D-4081-9D04-9ED1CC152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3fef078-daf5-4ef7-8fde-c2fad20c04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purl.oclc.org/ooxml/officeDocument/customXml" ds:itemID="{4821FB1C-4534-4588-9591-CC3E24B40DD9}">
  <ds:schemaRefs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purl.org/dc/terms/"/>
    <ds:schemaRef ds:uri="http://purl.org/dc/dcmitype/"/>
    <ds:schemaRef ds:uri="93fef078-daf5-4ef7-8fde-c2fad20c0449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purl.oclc.org/ooxml/officeDocument/customXml" ds:itemID="{F0FF4E3E-C1B4-4C97-B492-9DE287D30438}">
  <ds:schemaRefs>
    <ds:schemaRef ds:uri="http://schemas.microsoft.com/office/2006/metadata/longProperties"/>
  </ds:schemaRefs>
</ds:datastoreItem>
</file>

<file path=docProps/app.xml><?xml version="1.0" encoding="utf-8"?>
<Properties xmlns="http://purl.oclc.org/ooxml/officeDocument/extendedProperties" xmlns:vt="http://purl.oclc.org/ooxml/officeDocument/docPropsVTypes">
  <Template>Roehampton-Powerpoint-Template-2017-Brand</Template>
  <TotalTime>1</TotalTime>
  <Words>1089</Words>
  <Application>Microsoft Office PowerPoint</Application>
  <PresentationFormat>Widescreen</PresentationFormat>
  <Paragraphs>268</Paragraphs>
  <Slides>29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ＭＳ Ｐゴシック</vt:lpstr>
      <vt:lpstr>Arial</vt:lpstr>
      <vt:lpstr>Calibri</vt:lpstr>
      <vt:lpstr>Calibri Light</vt:lpstr>
      <vt:lpstr>Times New Roman</vt:lpstr>
      <vt:lpstr>Wingdings</vt:lpstr>
      <vt:lpstr>University of Roehampton</vt:lpstr>
      <vt:lpstr>Document</vt:lpstr>
      <vt:lpstr>Strategic Marketing</vt:lpstr>
      <vt:lpstr>The global marketplace</vt:lpstr>
      <vt:lpstr>Global marketing today</vt:lpstr>
      <vt:lpstr>Global Marketing Today</vt:lpstr>
      <vt:lpstr>The  marketing task in the domestic environment</vt:lpstr>
      <vt:lpstr>Going international</vt:lpstr>
      <vt:lpstr>Environmental Forces in International Markets</vt:lpstr>
      <vt:lpstr>PowerPoint Presentation</vt:lpstr>
      <vt:lpstr>Environmental Forces in International Markets (cont’d)</vt:lpstr>
      <vt:lpstr>Environmental Forces in International Markets (cont’d)</vt:lpstr>
      <vt:lpstr>Looking at the Global Marketing Environment</vt:lpstr>
      <vt:lpstr>Looking at the global  marketing environment (Continued)</vt:lpstr>
      <vt:lpstr>Environmental Forces in International Markets (cont’d)</vt:lpstr>
      <vt:lpstr>Selecting foreign markets</vt:lpstr>
      <vt:lpstr>Selecting foreign markets</vt:lpstr>
      <vt:lpstr>Foreign market entry strategies</vt:lpstr>
      <vt:lpstr>Foreign market entry strategies</vt:lpstr>
      <vt:lpstr>Deciding How to Enter the Market</vt:lpstr>
      <vt:lpstr>Deciding How to Enter the Market</vt:lpstr>
      <vt:lpstr>Deciding How to Enter the Market</vt:lpstr>
      <vt:lpstr>Approaches to developing international marketing strategies</vt:lpstr>
      <vt:lpstr>Approaches to developing international marketing strategies</vt:lpstr>
      <vt:lpstr>Approaches to developing international marketing strategies</vt:lpstr>
      <vt:lpstr>Customization Versus Globalization of International Marketing Strategies</vt:lpstr>
      <vt:lpstr>Deciding on the global marketing program (Continued)</vt:lpstr>
      <vt:lpstr>PowerPoint Presentation</vt:lpstr>
      <vt:lpstr>PowerPoint Presentation</vt:lpstr>
      <vt:lpstr> Whole-channel concept for international marketing  </vt:lpstr>
      <vt:lpstr>Deciding on the  global marketing organisation</vt:lpstr>
    </vt:vector>
  </TitlesOfParts>
  <Company>University Of Roehampton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70</cp:revision>
  <dcterms:created xsi:type="dcterms:W3CDTF">2019-09-27T12:05:52Z</dcterms:created>
  <dcterms:modified xsi:type="dcterms:W3CDTF">2025-07-09T10:41:03Z</dcterms:modified>
</cp:coreProperties>
</file>

<file path=docProps/custom.xml><?xml version="1.0" encoding="utf-8"?>
<Properties xmlns="http://purl.oclc.org/ooxml/officeDocument/customProperties" xmlns:vt="http://purl.oclc.org/ooxml/officeDocument/docPropsVTypes">
  <property fmtid="{D5CDD505-2E9C-101B-9397-08002B2CF9AE}" pid="2" name="_dlc_DocId">
    <vt:lpwstr>EX52UCZS3WNW-50-7</vt:lpwstr>
  </property>
  <property fmtid="{D5CDD505-2E9C-101B-9397-08002B2CF9AE}" pid="3" name="_dlc_DocIdItemGuid">
    <vt:lpwstr>9921b913-4ad3-4564-a374-b22e9e4eb2ae</vt:lpwstr>
  </property>
  <property fmtid="{D5CDD505-2E9C-101B-9397-08002B2CF9AE}" pid="4" name="_dlc_DocIdUrl">
    <vt:lpwstr>https://portal.roehampton.ac.uk/information/_layouts/15/DocIdRedir.aspx?ID=EX52UCZS3WNW-50-7, EX52UCZS3WNW-50-7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</Properties>
</file>