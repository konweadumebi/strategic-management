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</p:sldMasterIdLst>
  <p:notesMasterIdLst>
    <p:notesMasterId r:id="rId20"/>
  </p:notesMasterIdLst>
  <p:sldIdLst>
    <p:sldId id="258" r:id="rId5"/>
    <p:sldId id="297" r:id="rId6"/>
    <p:sldId id="259" r:id="rId7"/>
    <p:sldId id="270" r:id="rId8"/>
    <p:sldId id="269" r:id="rId9"/>
    <p:sldId id="261" r:id="rId10"/>
    <p:sldId id="271" r:id="rId11"/>
    <p:sldId id="268" r:id="rId12"/>
    <p:sldId id="262" r:id="rId13"/>
    <p:sldId id="263" r:id="rId14"/>
    <p:sldId id="266" r:id="rId15"/>
    <p:sldId id="264" r:id="rId16"/>
    <p:sldId id="257" r:id="rId17"/>
    <p:sldId id="265" r:id="rId18"/>
    <p:sldId id="267" r:id="rId19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532"/>
    <a:srgbClr val="ECEBEA"/>
    <a:srgbClr val="00A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70028" autoAdjust="0"/>
  </p:normalViewPr>
  <p:slideViewPr>
    <p:cSldViewPr snapToGrid="0">
      <p:cViewPr varScale="1">
        <p:scale>
          <a:sx n="54" d="100"/>
          <a:sy n="54" d="100"/>
        </p:scale>
        <p:origin x="9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8C646-53CF-4D8A-A395-9148DEF8C7C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A9580-889A-4941-BFF2-B3C552558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306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A9580-889A-4941-BFF2-B3C5525582C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088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A9580-889A-4941-BFF2-B3C5525582C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94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A9580-889A-4941-BFF2-B3C5525582C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45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A9580-889A-4941-BFF2-B3C5525582C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85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4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6F648-9A7D-49E6-9759-410923B96E0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64B12-9DD2-4F7D-B7DA-6D8DBB1419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5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E3128-6433-4F16-88D2-3B72BC91EDC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90E7D-9452-462C-A255-CBB49F0919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9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E0E0D-D2B5-49A1-A4EC-29FA37F7F9C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658D0-73E6-4F51-A084-A4235715F5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0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DCDF1-3E9D-4793-9327-1CDB00975A7B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A024E-41B7-4E73-BEB6-AE4A838923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58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7872-5603-446D-8C0F-CF6D45EC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997A0-3930-42D0-98BB-30CFF5262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AC3C3-109F-4D1D-8677-CD0396A6C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D981-2781-4A5C-A919-0DE8955E49C9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866AE-6BEA-4B89-8B2F-2396098B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2D4E-DF3E-4EBD-8230-6F29A510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FE91-584F-41B2-8D21-DACA6859B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19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13AACC72-8D03-4832-9BD8-0BB6C0021843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956CFE25-C52E-4C5B-B648-205E2B81B0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77" r:id="rId3"/>
    <p:sldLayoutId id="2147483678" r:id="rId4"/>
    <p:sldLayoutId id="2147483679" r:id="rId5"/>
    <p:sldLayoutId id="2147483681" r:id="rId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Strategic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200" b="1" dirty="0">
                <a:solidFill>
                  <a:srgbClr val="FF0000"/>
                </a:solidFill>
              </a:rPr>
              <a:t>Guidance on the Summative Assessment</a:t>
            </a:r>
          </a:p>
          <a:p>
            <a:r>
              <a:rPr lang="en-GB" altLang="x-none" sz="3200" dirty="0">
                <a:solidFill>
                  <a:srgbClr val="7030A0"/>
                </a:solidFill>
              </a:rPr>
              <a:t>Prof. Mohammed Rafiq</a:t>
            </a:r>
          </a:p>
          <a:p>
            <a:r>
              <a:rPr lang="en-GB" altLang="x-none" sz="3200" dirty="0">
                <a:solidFill>
                  <a:srgbClr val="7030A0"/>
                </a:solidFill>
              </a:rPr>
              <a:t>Professor of Marketing</a:t>
            </a:r>
          </a:p>
          <a:p>
            <a:endParaRPr lang="en-GB" sz="3200" b="1" dirty="0">
              <a:solidFill>
                <a:srgbClr val="FF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392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8C4C-659E-553C-161A-FECE6087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B0F0"/>
                </a:solidFill>
              </a:rPr>
              <a:t>Guidance on Summative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B33E-59E1-6777-3FE6-5A0F8DBE0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sz="3200" dirty="0"/>
              <a:t>Assignment Requirements</a:t>
            </a:r>
          </a:p>
          <a:p>
            <a:r>
              <a:rPr lang="en-GB" sz="3200" dirty="0"/>
              <a:t>Guidance on different sections of the Assignment</a:t>
            </a:r>
          </a:p>
          <a:p>
            <a:r>
              <a:rPr lang="en-GB" sz="32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43179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26" y="1169772"/>
            <a:ext cx="10301439" cy="492622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Assignment Requirement</a:t>
            </a:r>
            <a:r>
              <a:rPr lang="en-GB" sz="2400" dirty="0">
                <a:solidFill>
                  <a:srgbClr val="FF0000"/>
                </a:solidFill>
              </a:rPr>
              <a:t>:</a:t>
            </a:r>
            <a:br>
              <a:rPr lang="en-GB" sz="2400" dirty="0">
                <a:solidFill>
                  <a:srgbClr val="FF0000"/>
                </a:solidFill>
              </a:rPr>
            </a:br>
            <a:br>
              <a:rPr lang="en-GB" sz="2400" dirty="0">
                <a:solidFill>
                  <a:srgbClr val="FF0000"/>
                </a:solidFill>
              </a:rPr>
            </a:b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3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written report </a:t>
            </a:r>
            <a:r>
              <a:rPr lang="en-US" sz="3600" spc="-5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on the design of a marketing strategy and implementation plan for </a:t>
            </a:r>
            <a:r>
              <a:rPr lang="en-US" sz="3600" i="1" spc="-5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36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new or improved</a:t>
            </a:r>
            <a:r>
              <a:rPr lang="en-GB" sz="3600" i="1" spc="-5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spc="-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product or a service of your choice </a:t>
            </a:r>
            <a:r>
              <a:rPr lang="en-US" sz="3600" spc="-5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underpinned by academic and professional literature. </a:t>
            </a:r>
            <a:r>
              <a:rPr lang="en-US" sz="3600" spc="-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proposed product must be </a:t>
            </a:r>
            <a:r>
              <a:rPr lang="en-US" sz="3600" spc="-5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marketed by an existing, well-known company</a:t>
            </a:r>
            <a:r>
              <a:rPr lang="en-US" sz="2400" spc="-5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GB" sz="24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4724" y="4253948"/>
            <a:ext cx="8229600" cy="2163327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endParaRPr lang="en-GB" sz="2400" dirty="0"/>
          </a:p>
          <a:p>
            <a:pPr marL="0" indent="0">
              <a:buNone/>
            </a:pPr>
            <a:r>
              <a:rPr lang="en-GB" sz="2000" dirty="0"/>
              <a:t> </a:t>
            </a:r>
          </a:p>
          <a:p>
            <a:endParaRPr lang="en-GB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964724" y="200277"/>
            <a:ext cx="8363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</a:rPr>
              <a:t>Summative Assessment -REQUIREMENTS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2703" y="1124054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3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A64C-3210-63DE-1601-102B7926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96"/>
            <a:ext cx="10515600" cy="1337762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Assignment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CAF9B-0B88-D666-EC6C-B98617DAD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057"/>
            <a:ext cx="10515600" cy="578493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effectLst/>
                <a:highlight>
                  <a:srgbClr val="FF00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Your final report should include the following sections </a:t>
            </a:r>
            <a:endParaRPr lang="en-GB" dirty="0">
              <a:effectLst/>
              <a:highlight>
                <a:srgbClr val="FF0000"/>
              </a:highlight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 1: </a:t>
            </a:r>
            <a:r>
              <a:rPr lang="en-GB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 and Product/Service Description 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(10%)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 2: </a:t>
            </a:r>
            <a:r>
              <a:rPr lang="en-GB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Critical Analysis of the Market Context 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(20%)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 3: </a:t>
            </a:r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Segmentation, Targeting and Positioning 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(STP) (20%)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 4: Your Recommended </a:t>
            </a:r>
            <a:r>
              <a:rPr lang="en-GB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Extended Marketing Mix 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(given your analysis above) (30%)</a:t>
            </a:r>
          </a:p>
          <a:p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Part 5 </a:t>
            </a:r>
            <a:r>
              <a:rPr lang="en-GB" b="1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discussion of Implementation Issues 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(10%)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further 10% of your grade is allocated to presentation and referencing (10%)</a:t>
            </a:r>
            <a:endParaRPr lang="en-GB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238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2DDA-73E5-B62B-6ECB-131D84ACD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C00000"/>
                </a:solidFill>
              </a:rPr>
              <a:t>Key Tips</a:t>
            </a:r>
            <a:br>
              <a:rPr lang="en-GB" sz="4400" b="1" dirty="0">
                <a:solidFill>
                  <a:srgbClr val="C00000"/>
                </a:solidFill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2CA0-32AF-5EA2-52F1-535F9CA14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sz="3200" b="1" dirty="0">
                <a:solidFill>
                  <a:srgbClr val="FF0000"/>
                </a:solidFill>
              </a:rPr>
              <a:t>Take advice</a:t>
            </a:r>
            <a:r>
              <a:rPr lang="en-GB" sz="3200" dirty="0"/>
              <a:t> from your </a:t>
            </a:r>
            <a:r>
              <a:rPr lang="en-GB" sz="3200" b="1" dirty="0">
                <a:solidFill>
                  <a:srgbClr val="FF0000"/>
                </a:solidFill>
              </a:rPr>
              <a:t>seminar</a:t>
            </a:r>
            <a:r>
              <a:rPr lang="en-GB" sz="3200" dirty="0"/>
              <a:t> </a:t>
            </a:r>
            <a:r>
              <a:rPr lang="en-GB" sz="3200" b="1" dirty="0">
                <a:solidFill>
                  <a:srgbClr val="FF0000"/>
                </a:solidFill>
              </a:rPr>
              <a:t>tutor</a:t>
            </a:r>
            <a:r>
              <a:rPr lang="en-GB" sz="3200" dirty="0"/>
              <a:t> about your choice of market. Ideally choose one where there is </a:t>
            </a:r>
            <a:r>
              <a:rPr lang="en-GB" sz="3200" b="1" dirty="0">
                <a:solidFill>
                  <a:srgbClr val="FF0000"/>
                </a:solidFill>
              </a:rPr>
              <a:t>good quality market information </a:t>
            </a:r>
            <a:r>
              <a:rPr lang="en-GB" sz="3200" dirty="0"/>
              <a:t>available to you. </a:t>
            </a:r>
          </a:p>
          <a:p>
            <a:pPr>
              <a:buFontTx/>
              <a:buChar char="-"/>
            </a:pPr>
            <a:r>
              <a:rPr lang="en-GB" sz="3200" dirty="0"/>
              <a:t>Base your work on a market that you can get </a:t>
            </a:r>
            <a:r>
              <a:rPr lang="en-GB" sz="3200" b="1" dirty="0">
                <a:solidFill>
                  <a:srgbClr val="FF0000"/>
                </a:solidFill>
              </a:rPr>
              <a:t>Mintel/ WARC/ Statista</a:t>
            </a:r>
            <a:r>
              <a:rPr lang="en-GB" sz="3200" dirty="0"/>
              <a:t> report(s) on. </a:t>
            </a:r>
          </a:p>
          <a:p>
            <a:pPr>
              <a:buFontTx/>
              <a:buChar char="-"/>
            </a:pPr>
            <a:r>
              <a:rPr lang="en-GB" sz="3200" dirty="0"/>
              <a:t>Make sure that you use relevant </a:t>
            </a:r>
            <a:r>
              <a:rPr lang="en-GB" sz="3200" b="1" dirty="0">
                <a:solidFill>
                  <a:srgbClr val="FF0000"/>
                </a:solidFill>
              </a:rPr>
              <a:t>marketing concepts, </a:t>
            </a:r>
            <a:r>
              <a:rPr lang="en-GB" sz="3200" b="1" dirty="0" err="1">
                <a:solidFill>
                  <a:srgbClr val="FF0000"/>
                </a:solidFill>
              </a:rPr>
              <a:t>tecchniques</a:t>
            </a:r>
            <a:r>
              <a:rPr lang="en-GB" sz="3200" b="1" dirty="0">
                <a:solidFill>
                  <a:srgbClr val="FF0000"/>
                </a:solidFill>
              </a:rPr>
              <a:t>, and theories </a:t>
            </a:r>
            <a:r>
              <a:rPr lang="en-GB" sz="3200" dirty="0"/>
              <a:t>to guide your analysis and recommendations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90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1. Introduction -Product/Service Description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9579" y="1999796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/>
              <a:t>A brief description of the new or improved product or service (can use photographs to illustrate)  for the consumer market</a:t>
            </a:r>
          </a:p>
          <a:p>
            <a:r>
              <a:rPr lang="en-GB" dirty="0"/>
              <a:t>What is the additional </a:t>
            </a:r>
            <a:r>
              <a:rPr lang="en-GB" dirty="0">
                <a:solidFill>
                  <a:srgbClr val="FF0000"/>
                </a:solidFill>
              </a:rPr>
              <a:t>value</a:t>
            </a:r>
            <a:r>
              <a:rPr lang="en-GB" dirty="0"/>
              <a:t> that the new product will be offering to potential customers that existing products don’t offer?</a:t>
            </a:r>
          </a:p>
        </p:txBody>
      </p:sp>
    </p:spTree>
    <p:extLst>
      <p:ext uri="{BB962C8B-B14F-4D97-AF65-F5344CB8AC3E}">
        <p14:creationId xmlns:p14="http://schemas.microsoft.com/office/powerpoint/2010/main" val="183270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F55A-19CE-F58F-21CE-6086D58D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0021"/>
          </a:xfrm>
        </p:spPr>
        <p:txBody>
          <a:bodyPr/>
          <a:lstStyle/>
          <a:p>
            <a:pPr algn="ctr"/>
            <a:r>
              <a:rPr lang="en-GB" dirty="0"/>
              <a:t>What is a New or Improved product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C9EB0-03BF-4CD5-6F0F-B8BA4041A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98358"/>
            <a:ext cx="10515600" cy="5959642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Generally, a new product refers to any item that has been </a:t>
            </a:r>
            <a:r>
              <a:rPr lang="en-GB" b="1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 or significantly improved to offer a novel or enhanced solution for consumers</a:t>
            </a:r>
          </a:p>
          <a:p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Completely New Inventions</a:t>
            </a:r>
            <a:endParaRPr lang="en-GB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GB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 Improvements –Significant enhancements to existing products</a:t>
            </a:r>
            <a:endParaRPr lang="en-GB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Line Extensions</a:t>
            </a:r>
          </a:p>
          <a:p>
            <a:pPr marL="0" indent="0">
              <a:buNone/>
            </a:pP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are new products that expand a company's existing product line.</a:t>
            </a:r>
          </a:p>
          <a:p>
            <a:r>
              <a:rPr lang="en-GB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Repositioned Products </a:t>
            </a:r>
            <a:r>
              <a:rPr lang="en-GB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en-GB" b="1" dirty="0">
                <a:latin typeface="Aptos" panose="020B0004020202020204" pitchFamily="34" charset="0"/>
                <a:cs typeface="Times New Roman" panose="02020603050405020304" pitchFamily="18" charset="0"/>
              </a:rPr>
              <a:t>new use or targeting new segments</a:t>
            </a:r>
          </a:p>
          <a:p>
            <a:r>
              <a:rPr lang="en-GB" b="1" dirty="0">
                <a:solidFill>
                  <a:srgbClr val="C0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Product Line Diversification</a:t>
            </a:r>
          </a:p>
          <a:p>
            <a:pPr marL="457200" lvl="1" indent="0">
              <a:buNone/>
            </a:pPr>
            <a:r>
              <a:rPr lang="en-GB" sz="2800" b="1" dirty="0">
                <a:latin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Introducing new products that are different from a company's existing line but cater to the same or a  </a:t>
            </a:r>
            <a:r>
              <a:rPr lang="en-GB" sz="2800" dirty="0">
                <a:latin typeface="Aptos" panose="020B0004020202020204" pitchFamily="34" charset="0"/>
                <a:cs typeface="Times New Roman" panose="02020603050405020304" pitchFamily="18" charset="0"/>
              </a:rPr>
              <a:t>new customer 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1436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1374-EC3E-4A1D-9A8B-F86AC2F7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89"/>
            <a:ext cx="10515600" cy="1338262"/>
          </a:xfrm>
        </p:spPr>
        <p:txBody>
          <a:bodyPr/>
          <a:lstStyle/>
          <a:p>
            <a:pPr marR="0" algn="ctr" rtl="0"/>
            <a:r>
              <a:rPr lang="en-GB" sz="4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Product Ideas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9C72C-4647-415D-AF90-9B2B05420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652"/>
            <a:ext cx="10515600" cy="4972048"/>
          </a:xfrm>
        </p:spPr>
        <p:txBody>
          <a:bodyPr>
            <a:normAutofit fontScale="55000" lnSpcReduction="20000"/>
          </a:bodyPr>
          <a:lstStyle/>
          <a:p>
            <a:r>
              <a:rPr lang="en-GB" sz="4400" dirty="0">
                <a:solidFill>
                  <a:srgbClr val="FF0000"/>
                </a:solidFill>
                <a:latin typeface="Times New Roman" panose="02020603050405020304" pitchFamily="18" charset="0"/>
              </a:rPr>
              <a:t>Make sure that the product you create/ invent  is </a:t>
            </a:r>
            <a:r>
              <a:rPr lang="en-GB" sz="440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New or a significantly modified </a:t>
            </a:r>
            <a:r>
              <a:rPr lang="en-GB" sz="4400" dirty="0">
                <a:solidFill>
                  <a:srgbClr val="FF0000"/>
                </a:solidFill>
                <a:latin typeface="Times New Roman" panose="02020603050405020304" pitchFamily="18" charset="0"/>
              </a:rPr>
              <a:t>product.</a:t>
            </a:r>
          </a:p>
          <a:p>
            <a:r>
              <a:rPr lang="en-GB" sz="4400" dirty="0">
                <a:solidFill>
                  <a:srgbClr val="2F5496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IT MUST BE A PRODUCT THAT DOES NOT CURRENTLY EXIST IN THE MARKETPLACE</a:t>
            </a:r>
            <a:r>
              <a:rPr lang="en-GB" sz="4400" dirty="0">
                <a:solidFill>
                  <a:srgbClr val="2F5496"/>
                </a:solidFill>
                <a:highlight>
                  <a:srgbClr val="00FF00"/>
                </a:highlight>
                <a:latin typeface="Times New Roman" panose="02020603050405020304" pitchFamily="18" charset="0"/>
              </a:rPr>
              <a:t>.</a:t>
            </a:r>
          </a:p>
          <a:p>
            <a:pPr marR="0" lvl="0" rtl="0"/>
            <a:r>
              <a:rPr lang="en-US" sz="4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Some students just discussed the marketing strategy of a company and did not create a new product.</a:t>
            </a:r>
          </a:p>
          <a:p>
            <a:pPr marR="0" lvl="0" rtl="0"/>
            <a:r>
              <a:rPr lang="en-US" sz="4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Some presentations discussed existing products in existing markets</a:t>
            </a:r>
            <a:r>
              <a:rPr lang="en-US" sz="4400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 If choose an existing product, it should be modified in some way, or repositioned and target a new segment/ market so that a new marketing strategy has to be produced ( i.e., it is not a description of the current strategy pursued by the company</a:t>
            </a:r>
          </a:p>
          <a:p>
            <a:pPr marR="0" lvl="0" rtl="0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</a:rPr>
              <a:t>Be careful to not be too descriptive </a:t>
            </a:r>
            <a:r>
              <a:rPr lang="en-US" sz="4400" dirty="0">
                <a:solidFill>
                  <a:srgbClr val="2F5496"/>
                </a:solidFill>
                <a:latin typeface="Times New Roman" panose="02020603050405020304" pitchFamily="18" charset="0"/>
              </a:rPr>
              <a:t>(e.g. explaining at length the company history/current product portfolio) or simply product specifications </a:t>
            </a:r>
          </a:p>
          <a:p>
            <a:pPr marR="0" lvl="0" rtl="0"/>
            <a:r>
              <a:rPr lang="en-US" sz="4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Clearly indicate the benefits of the product and how it adds value for customers</a:t>
            </a:r>
            <a:r>
              <a:rPr lang="en-US" sz="4400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/ differentiates from existing products on the market.</a:t>
            </a:r>
          </a:p>
          <a:p>
            <a:r>
              <a:rPr lang="en-GB" sz="4400" dirty="0">
                <a:solidFill>
                  <a:srgbClr val="FF0000"/>
                </a:solidFill>
                <a:latin typeface="Times New Roman" panose="02020603050405020304" pitchFamily="18" charset="0"/>
              </a:rPr>
              <a:t>Market data was often not directly related to the chosen product/ market</a:t>
            </a:r>
            <a:r>
              <a:rPr lang="en-GB" sz="4400" dirty="0">
                <a:solidFill>
                  <a:srgbClr val="2F5496"/>
                </a:solidFill>
                <a:latin typeface="Times New Roman" panose="02020603050405020304" pitchFamily="18" charset="0"/>
              </a:rPr>
              <a:t>, or not clear.</a:t>
            </a:r>
          </a:p>
          <a:p>
            <a:pPr marR="0" lvl="0" rtl="0"/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95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29600" cy="922114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2. Market Analysis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124745"/>
            <a:ext cx="8229600" cy="5333720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Include a Critical  analysis of the market</a:t>
            </a:r>
            <a:r>
              <a:rPr lang="en-GB" sz="2400" dirty="0"/>
              <a:t>:</a:t>
            </a:r>
          </a:p>
          <a:p>
            <a:pPr lvl="1"/>
            <a:r>
              <a:rPr lang="en-GB" dirty="0"/>
              <a:t>Key market trends (e.g. how big the market is, which bits of it are growing – use </a:t>
            </a:r>
            <a:r>
              <a:rPr lang="en-GB" b="1" dirty="0">
                <a:solidFill>
                  <a:srgbClr val="FF0000"/>
                </a:solidFill>
              </a:rPr>
              <a:t>Mintel/WARC data or similar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Who are the key </a:t>
            </a:r>
            <a:r>
              <a:rPr lang="en-GB" b="1" dirty="0">
                <a:solidFill>
                  <a:srgbClr val="FF0000"/>
                </a:solidFill>
              </a:rPr>
              <a:t>competitors</a:t>
            </a:r>
            <a:r>
              <a:rPr lang="en-GB" dirty="0"/>
              <a:t> and how are they positioned?</a:t>
            </a:r>
          </a:p>
          <a:p>
            <a:pPr lvl="1"/>
            <a:r>
              <a:rPr lang="en-GB" dirty="0"/>
              <a:t>Summarise the current customer attitudes/behaviours in this market (use </a:t>
            </a:r>
            <a:r>
              <a:rPr lang="en-GB" b="1" dirty="0">
                <a:solidFill>
                  <a:srgbClr val="FF0000"/>
                </a:solidFill>
              </a:rPr>
              <a:t>consumer behaviour theory </a:t>
            </a:r>
            <a:r>
              <a:rPr lang="en-GB" dirty="0"/>
              <a:t>- e.g. in your market do customers engage in habitual purchasing – buying the </a:t>
            </a:r>
            <a:r>
              <a:rPr lang="en-GB" b="1" dirty="0">
                <a:solidFill>
                  <a:srgbClr val="FF0000"/>
                </a:solidFill>
              </a:rPr>
              <a:t>same brand </a:t>
            </a:r>
            <a:r>
              <a:rPr lang="en-GB" dirty="0"/>
              <a:t>every time, or variety seeking behaviour – buying from a repertoire of brands etc. )</a:t>
            </a:r>
          </a:p>
          <a:p>
            <a:pPr lvl="1"/>
            <a:r>
              <a:rPr lang="en-GB" dirty="0"/>
              <a:t>Identify the main </a:t>
            </a:r>
            <a:r>
              <a:rPr lang="en-GB" b="1" dirty="0">
                <a:solidFill>
                  <a:srgbClr val="FF0000"/>
                </a:solidFill>
              </a:rPr>
              <a:t>issues / opportunities </a:t>
            </a:r>
            <a:r>
              <a:rPr lang="en-GB" dirty="0"/>
              <a:t>you think are relevant (e.g. are there new developments, is the technology of the product changing, is consumers’ behaviour changing).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8058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</a:rPr>
              <a:t>3. Segmentation, Targeting and Positioning </a:t>
            </a:r>
            <a:endParaRPr lang="en-GB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base(s) of segmentation you have used and why, how big are the segments – use theory: </a:t>
            </a:r>
            <a:r>
              <a:rPr lang="en-GB" b="1" dirty="0">
                <a:solidFill>
                  <a:srgbClr val="FF0000"/>
                </a:solidFill>
              </a:rPr>
              <a:t>behavioural, geographic, demographic, psychograp</a:t>
            </a:r>
            <a:r>
              <a:rPr lang="en-GB" dirty="0">
                <a:solidFill>
                  <a:srgbClr val="FF0000"/>
                </a:solidFill>
              </a:rPr>
              <a:t>hic </a:t>
            </a:r>
          </a:p>
          <a:p>
            <a:r>
              <a:rPr lang="en-GB" dirty="0"/>
              <a:t>Summarise the </a:t>
            </a:r>
            <a:r>
              <a:rPr lang="en-GB" b="1" dirty="0">
                <a:solidFill>
                  <a:srgbClr val="FF0000"/>
                </a:solidFill>
              </a:rPr>
              <a:t>profile</a:t>
            </a:r>
            <a:r>
              <a:rPr lang="en-GB" dirty="0"/>
              <a:t> and persona of your target market </a:t>
            </a:r>
          </a:p>
          <a:p>
            <a:r>
              <a:rPr lang="en-GB" dirty="0"/>
              <a:t>Include a statement that identifies why your target market should buy your improved product or service– i.e. what </a:t>
            </a:r>
            <a:r>
              <a:rPr lang="en-GB" b="1" dirty="0">
                <a:solidFill>
                  <a:srgbClr val="FF0000"/>
                </a:solidFill>
              </a:rPr>
              <a:t>benefits</a:t>
            </a:r>
            <a:r>
              <a:rPr lang="en-GB" dirty="0"/>
              <a:t> it now offers and what problems it solves?</a:t>
            </a:r>
          </a:p>
          <a:p>
            <a:r>
              <a:rPr lang="en-GB" dirty="0"/>
              <a:t>How is the new product/ service going to be </a:t>
            </a:r>
            <a:r>
              <a:rPr lang="en-GB" dirty="0">
                <a:solidFill>
                  <a:srgbClr val="FF0000"/>
                </a:solidFill>
              </a:rPr>
              <a:t>positioned </a:t>
            </a:r>
            <a:r>
              <a:rPr lang="en-GB" dirty="0"/>
              <a:t> in the market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6717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99A2-97BA-4D30-93E9-6E4E98D8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149"/>
            <a:ext cx="10515600" cy="828244"/>
          </a:xfrm>
        </p:spPr>
        <p:txBody>
          <a:bodyPr/>
          <a:lstStyle/>
          <a:p>
            <a:pPr marR="0" rtl="0"/>
            <a:r>
              <a:rPr lang="en-GB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Segmentation Targeting and Positioning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221BA-07A1-4A92-8EB0-C3EEBEAD4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949" y="976393"/>
            <a:ext cx="11189775" cy="5377912"/>
          </a:xfrm>
        </p:spPr>
        <p:txBody>
          <a:bodyPr/>
          <a:lstStyle/>
          <a:p>
            <a:pPr marR="0" lvl="0" rtl="0"/>
            <a:r>
              <a:rPr lang="en-US" b="0" i="0" u="none" strike="noStrike" baseline="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Don’t just describe the 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principles and </a:t>
            </a:r>
            <a:r>
              <a:rPr lang="en-US" b="0" i="0" u="none" strike="noStrike" baseline="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bases of segmentation, show how they can be applied to your chosen product.</a:t>
            </a:r>
          </a:p>
          <a:p>
            <a:pPr marR="0" lvl="0" rtl="0"/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Spend some time to come up with a meaningful analysis of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segmentation</a:t>
            </a:r>
            <a:endParaRPr lang="en-US" sz="2400" b="0" i="0" u="none" strike="noStrike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R="0" lvl="0" rtl="0"/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Targeting involves choosing between a number of potential segments</a:t>
            </a:r>
          </a:p>
          <a:p>
            <a:pPr marR="0" lvl="0" rtl="0"/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Have a narrow more well- defined target market rather than a broad one which includes virtually everyone.</a:t>
            </a:r>
          </a:p>
          <a:p>
            <a:pPr marR="0" lvl="0" rtl="0"/>
            <a:r>
              <a:rPr lang="en-US" sz="2400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Discuss who could be the competitors for the new product/service</a:t>
            </a:r>
          </a:p>
          <a:p>
            <a:pPr marR="0" lvl="0" rtl="0"/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Use positioning maps to describe positioning relative to existing and future competitors</a:t>
            </a:r>
            <a:r>
              <a:rPr lang="en-US" sz="2400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Use The Persona: concept to summarise the profile of your target market. </a:t>
            </a:r>
            <a:endParaRPr lang="en-GB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n-US" b="0" i="0" u="none" strike="noStrike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97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4. Your Recommended Marketing Mix 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6873" y="1888732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/>
              <a:t>Product (including </a:t>
            </a:r>
            <a:r>
              <a:rPr lang="en-GB" sz="2400" b="1" dirty="0">
                <a:solidFill>
                  <a:srgbClr val="FF0000"/>
                </a:solidFill>
              </a:rPr>
              <a:t>branding</a:t>
            </a:r>
            <a:r>
              <a:rPr lang="en-GB" sz="2400" b="1" dirty="0"/>
              <a:t> </a:t>
            </a:r>
            <a:r>
              <a:rPr lang="en-GB" sz="2400" dirty="0"/>
              <a:t>of the product and how it fits in with existing branding strategy of the organisation) </a:t>
            </a:r>
          </a:p>
          <a:p>
            <a:r>
              <a:rPr lang="en-GB" sz="2400" dirty="0"/>
              <a:t>Pricing Strategy</a:t>
            </a:r>
          </a:p>
          <a:p>
            <a:r>
              <a:rPr lang="en-GB" sz="2400" dirty="0"/>
              <a:t>Promotional Strategy including Digital Media</a:t>
            </a:r>
          </a:p>
          <a:p>
            <a:r>
              <a:rPr lang="en-GB" sz="2400" dirty="0"/>
              <a:t>Channel or Distribution Strategy</a:t>
            </a:r>
          </a:p>
          <a:p>
            <a:r>
              <a:rPr lang="en-GB" sz="2400" dirty="0"/>
              <a:t>Additional 3Ps – </a:t>
            </a:r>
            <a:r>
              <a:rPr lang="en-GB" sz="2400" b="1" dirty="0">
                <a:solidFill>
                  <a:srgbClr val="FF0000"/>
                </a:solidFill>
              </a:rPr>
              <a:t>People, Process and Physical Evidence</a:t>
            </a:r>
          </a:p>
          <a:p>
            <a:r>
              <a:rPr lang="en-GB" sz="2400" dirty="0"/>
              <a:t>Use </a:t>
            </a:r>
            <a:r>
              <a:rPr lang="en-GB" sz="2400" b="1" dirty="0">
                <a:solidFill>
                  <a:srgbClr val="FF0000"/>
                </a:solidFill>
              </a:rPr>
              <a:t>theory! </a:t>
            </a:r>
            <a:r>
              <a:rPr lang="en-GB" sz="2400" dirty="0"/>
              <a:t>E.g. on pricing mention whether you plan to use, say, a </a:t>
            </a:r>
            <a:r>
              <a:rPr lang="en-GB" sz="2400" b="1" dirty="0">
                <a:solidFill>
                  <a:srgbClr val="FF0000"/>
                </a:solidFill>
              </a:rPr>
              <a:t>premium pricing </a:t>
            </a:r>
            <a:r>
              <a:rPr lang="en-GB" sz="2400" dirty="0"/>
              <a:t>strategy</a:t>
            </a:r>
          </a:p>
          <a:p>
            <a:r>
              <a:rPr lang="en-GB" sz="2400" dirty="0"/>
              <a:t>Recommended Mix should be </a:t>
            </a:r>
            <a:r>
              <a:rPr lang="en-GB" sz="2400" b="1" dirty="0">
                <a:solidFill>
                  <a:srgbClr val="FF0000"/>
                </a:solidFill>
              </a:rPr>
              <a:t>consistent with your Positioning strategy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8814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altLang="en-US" dirty="0">
                <a:solidFill>
                  <a:srgbClr val="FF0000"/>
                </a:solidFill>
              </a:rPr>
              <a:t>5. Implementation</a:t>
            </a:r>
            <a:br>
              <a:rPr lang="en-GB" altLang="en-US" dirty="0">
                <a:solidFill>
                  <a:srgbClr val="FF0000"/>
                </a:solidFill>
              </a:rPr>
            </a:b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GB" altLang="en-US" dirty="0">
                <a:solidFill>
                  <a:srgbClr val="FF0000"/>
                </a:solidFill>
              </a:rPr>
              <a:t>This Section should discuss</a:t>
            </a:r>
          </a:p>
          <a:p>
            <a:pPr eaLnBrk="1" hangingPunct="1"/>
            <a:r>
              <a:rPr lang="en-GB" altLang="en-US" dirty="0">
                <a:solidFill>
                  <a:srgbClr val="0070C0"/>
                </a:solidFill>
              </a:rPr>
              <a:t>Issues relating  to co-ordination with other departments</a:t>
            </a:r>
          </a:p>
          <a:p>
            <a:pPr eaLnBrk="1" hangingPunct="1"/>
            <a:r>
              <a:rPr lang="en-GB" altLang="en-US" dirty="0">
                <a:solidFill>
                  <a:srgbClr val="0070C0"/>
                </a:solidFill>
              </a:rPr>
              <a:t>Internal Marketing</a:t>
            </a:r>
          </a:p>
          <a:p>
            <a:pPr eaLnBrk="1" hangingPunct="1"/>
            <a:r>
              <a:rPr lang="en-GB" altLang="en-US" dirty="0">
                <a:solidFill>
                  <a:srgbClr val="0070C0"/>
                </a:solidFill>
              </a:rPr>
              <a:t> Resource and capabilities required to implement chosen marketing strategy</a:t>
            </a:r>
          </a:p>
          <a:p>
            <a:pPr marL="0" indent="0" eaLnBrk="1" hangingPunct="1">
              <a:buNone/>
            </a:pPr>
            <a:endParaRPr lang="en-GB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88640"/>
            <a:ext cx="8229600" cy="792088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6. Presentation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8385" y="1563483"/>
            <a:ext cx="8132759" cy="3338031"/>
          </a:xfrm>
        </p:spPr>
        <p:txBody>
          <a:bodyPr>
            <a:noAutofit/>
          </a:bodyPr>
          <a:lstStyle/>
          <a:p>
            <a:r>
              <a:rPr lang="en-GB" dirty="0"/>
              <a:t>Ensure that your report is well </a:t>
            </a:r>
            <a:r>
              <a:rPr lang="en-GB" b="1" dirty="0">
                <a:solidFill>
                  <a:srgbClr val="FF0000"/>
                </a:solidFill>
              </a:rPr>
              <a:t>structured</a:t>
            </a:r>
            <a:r>
              <a:rPr lang="en-GB" dirty="0"/>
              <a:t> and easy to follow.</a:t>
            </a:r>
          </a:p>
          <a:p>
            <a:r>
              <a:rPr lang="en-GB" dirty="0"/>
              <a:t>Good idea to use lots of </a:t>
            </a:r>
            <a:r>
              <a:rPr lang="en-GB" b="1" dirty="0">
                <a:solidFill>
                  <a:srgbClr val="FF0000"/>
                </a:solidFill>
              </a:rPr>
              <a:t>charts </a:t>
            </a:r>
            <a:r>
              <a:rPr lang="en-GB" dirty="0"/>
              <a:t>(e.g. on market information), photographs, diagrams – to make your report interesting.</a:t>
            </a:r>
          </a:p>
          <a:p>
            <a:r>
              <a:rPr lang="en-GB" dirty="0"/>
              <a:t>Cite your sources in the body of the text using the </a:t>
            </a:r>
            <a:r>
              <a:rPr lang="en-GB" b="1" dirty="0">
                <a:solidFill>
                  <a:srgbClr val="FF0000"/>
                </a:solidFill>
              </a:rPr>
              <a:t>Harvard format </a:t>
            </a:r>
            <a:r>
              <a:rPr lang="en-GB" dirty="0"/>
              <a:t>–and include a list of all sources used at the end.</a:t>
            </a:r>
          </a:p>
        </p:txBody>
      </p:sp>
    </p:spTree>
    <p:extLst>
      <p:ext uri="{BB962C8B-B14F-4D97-AF65-F5344CB8AC3E}">
        <p14:creationId xmlns:p14="http://schemas.microsoft.com/office/powerpoint/2010/main" val="4182025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5441-13CB-4C6A-AF53-FE51BE40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29"/>
            <a:ext cx="10515600" cy="796018"/>
          </a:xfrm>
        </p:spPr>
        <p:txBody>
          <a:bodyPr/>
          <a:lstStyle/>
          <a:p>
            <a:pPr marR="0" rtl="0"/>
            <a:r>
              <a:rPr lang="en-GB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Sources of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69F9D-A2B8-4365-BB39-B485072BB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7448"/>
            <a:ext cx="10515600" cy="5699124"/>
          </a:xfrm>
        </p:spPr>
        <p:txBody>
          <a:bodyPr>
            <a:normAutofit/>
          </a:bodyPr>
          <a:lstStyle/>
          <a:p>
            <a:pPr marR="0" lvl="0" rtl="0"/>
            <a:endParaRPr lang="en-US" b="0" i="0" u="none" strike="noStrike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sure that you use credible sources. </a:t>
            </a:r>
            <a:endParaRPr lang="en-GB" sz="32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Few presentations included journal articles </a:t>
            </a:r>
            <a:r>
              <a:rPr lang="en-GB" sz="32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academic literature in the summative assignment.</a:t>
            </a: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If you use graphs/visualisations, always use a meaningful title, and label the axis or provide a legend and indicate the source of the information</a:t>
            </a: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Use </a:t>
            </a:r>
            <a:r>
              <a:rPr lang="en-GB" sz="32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Harvard </a:t>
            </a:r>
            <a:r>
              <a:rPr lang="en-GB" sz="32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referencing </a:t>
            </a:r>
            <a:r>
              <a:rPr lang="en-GB" sz="3200" b="1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cite sources of information used</a:t>
            </a:r>
            <a:endParaRPr lang="en-GB" sz="3200" b="1" dirty="0">
              <a:solidFill>
                <a:srgbClr val="FF0000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sure that your referencing is accurate</a:t>
            </a:r>
            <a:endParaRPr lang="en-GB" sz="32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GB" sz="3200" b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 referencing avoids potential plagiarism and academic misconduct</a:t>
            </a:r>
            <a:endParaRPr lang="en-GB" sz="32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154429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ehampton-Powerpoint-Template-2017-Brand.pot [Read-Only] [Compatibility Mode]" id="{73B11BDD-0FF5-47F1-BDEF-47682B828FF0}" vid="{2B42B497-A512-4263-9A8A-D2375C06AC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8A673D2473E2439BE64E26C794AC56" ma:contentTypeVersion="1" ma:contentTypeDescription="Create a new document." ma:contentTypeScope="" ma:versionID="2499bf996f7f8fb20f5f7472d4c4be53">
  <xsd:schema xmlns:xsd="http://www.w3.org/2001/XMLSchema" xmlns:xs="http://www.w3.org/2001/XMLSchema" xmlns:p="http://schemas.microsoft.com/office/2006/metadata/properties" xmlns:ns1="http://schemas.microsoft.com/sharepoint/v3" xmlns:ns2="93fef078-daf5-4ef7-8fde-c2fad20c0449" targetNamespace="http://schemas.microsoft.com/office/2006/metadata/properties" ma:root="true" ma:fieldsID="a80321079ca9816655e11641657b2392" ns1:_="" ns2:_="">
    <xsd:import namespace="http://schemas.microsoft.com/sharepoint/v3"/>
    <xsd:import namespace="93fef078-daf5-4ef7-8fde-c2fad20c044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fef078-daf5-4ef7-8fde-c2fad20c044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9CD77F1A-052D-4081-9D04-9ED1CC152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3fef078-daf5-4ef7-8fde-c2fad20c04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D40779-F296-465E-BF78-2B792ED56541}">
  <ds:schemaRefs>
    <ds:schemaRef ds:uri="http://schemas.microsoft.com/office/2006/documentManagement/types"/>
    <ds:schemaRef ds:uri="http://purl.org/dc/elements/1.1/"/>
    <ds:schemaRef ds:uri="93fef078-daf5-4ef7-8fde-c2fad20c0449"/>
    <ds:schemaRef ds:uri="http://schemas.microsoft.com/office/2006/metadata/properties"/>
    <ds:schemaRef ds:uri="http://purl.org/dc/terms/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0FF4E3E-C1B4-4C97-B492-9DE287D30438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Roehampton-Powerpoint-Template-2017-Brand</Template>
  <TotalTime>3157</TotalTime>
  <Words>1157</Words>
  <Application>Microsoft Office PowerPoint</Application>
  <PresentationFormat>Widescreen</PresentationFormat>
  <Paragraphs>93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University of Roehampton</vt:lpstr>
      <vt:lpstr>Strategic Marketing</vt:lpstr>
      <vt:lpstr>Guidance on Summative Assessment</vt:lpstr>
      <vt:lpstr>Assignment Requirement:   A written report on the design of a marketing strategy and implementation plan for a new or improved product or a service of your choice underpinned by academic and professional literature. The proposed product must be marketed by an existing, well-known company. </vt:lpstr>
      <vt:lpstr>Assignment Requirements</vt:lpstr>
      <vt:lpstr>Key Tips </vt:lpstr>
      <vt:lpstr>1. Introduction -Product/Service Description</vt:lpstr>
      <vt:lpstr>What is a New or Improved product</vt:lpstr>
      <vt:lpstr>Product Ideas</vt:lpstr>
      <vt:lpstr>2. Market Analysis</vt:lpstr>
      <vt:lpstr>3. Segmentation, Targeting and Positioning </vt:lpstr>
      <vt:lpstr>Segmentation Targeting and Positioning</vt:lpstr>
      <vt:lpstr>4. Your Recommended Marketing Mix </vt:lpstr>
      <vt:lpstr>5. Implementation </vt:lpstr>
      <vt:lpstr>6. Presentation</vt:lpstr>
      <vt:lpstr>Sources of Information</vt:lpstr>
    </vt:vector>
  </TitlesOfParts>
  <Company>University Of Roehampton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25</cp:revision>
  <dcterms:created xsi:type="dcterms:W3CDTF">2019-09-30T08:13:15Z</dcterms:created>
  <dcterms:modified xsi:type="dcterms:W3CDTF">2025-07-09T10:44:20Z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EX52UCZS3WNW-50-7</vt:lpwstr>
  </property>
  <property fmtid="{D5CDD505-2E9C-101B-9397-08002B2CF9AE}" pid="3" name="_dlc_DocIdItemGuid">
    <vt:lpwstr>9921b913-4ad3-4564-a374-b22e9e4eb2ae</vt:lpwstr>
  </property>
  <property fmtid="{D5CDD505-2E9C-101B-9397-08002B2CF9AE}" pid="4" name="_dlc_DocIdUrl">
    <vt:lpwstr>https://portal.roehampton.ac.uk/information/_layouts/15/DocIdRedir.aspx?ID=EX52UCZS3WNW-50-7, EX52UCZS3WNW-50-7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