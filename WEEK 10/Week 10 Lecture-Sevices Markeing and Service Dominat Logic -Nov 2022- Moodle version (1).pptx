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6" r:id="rId5"/>
  </p:sldMasterIdLst>
  <p:notesMasterIdLst>
    <p:notesMasterId r:id="rId41"/>
  </p:notesMasterIdLst>
  <p:sldIdLst>
    <p:sldId id="256" r:id="rId6"/>
    <p:sldId id="257" r:id="rId7"/>
    <p:sldId id="266" r:id="rId8"/>
    <p:sldId id="273" r:id="rId9"/>
    <p:sldId id="258" r:id="rId10"/>
    <p:sldId id="281" r:id="rId11"/>
    <p:sldId id="282" r:id="rId12"/>
    <p:sldId id="283" r:id="rId13"/>
    <p:sldId id="270" r:id="rId14"/>
    <p:sldId id="267" r:id="rId15"/>
    <p:sldId id="268" r:id="rId16"/>
    <p:sldId id="271" r:id="rId17"/>
    <p:sldId id="260" r:id="rId18"/>
    <p:sldId id="274" r:id="rId19"/>
    <p:sldId id="261" r:id="rId20"/>
    <p:sldId id="262" r:id="rId21"/>
    <p:sldId id="272" r:id="rId22"/>
    <p:sldId id="263" r:id="rId23"/>
    <p:sldId id="264" r:id="rId24"/>
    <p:sldId id="278" r:id="rId25"/>
    <p:sldId id="279" r:id="rId26"/>
    <p:sldId id="280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2" r:id="rId35"/>
    <p:sldId id="296" r:id="rId36"/>
    <p:sldId id="297" r:id="rId37"/>
    <p:sldId id="298" r:id="rId38"/>
    <p:sldId id="299" r:id="rId39"/>
    <p:sldId id="302" r:id="rId40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3532"/>
    <a:srgbClr val="ECEBEA"/>
    <a:srgbClr val="00A0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F788D6-B81A-4802-95CB-F3271275361D}" v="4" dt="2022-11-28T08:51:36.6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86" autoAdjust="0"/>
    <p:restoredTop sz="48853" autoAdjust="0"/>
  </p:normalViewPr>
  <p:slideViewPr>
    <p:cSldViewPr snapToGrid="0">
      <p:cViewPr varScale="1">
        <p:scale>
          <a:sx n="77" d="100"/>
          <a:sy n="77" d="100"/>
        </p:scale>
        <p:origin x="22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-2811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presProps" Target="presProp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viewProps" Target="viewProp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microsoft.com/office/2015/10/relationships/revisionInfo" Target="revisionInfo.xml"/><Relationship Id="rId20" Type="http://schemas.openxmlformats.org/officeDocument/2006/relationships/slide" Target="slides/slide15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257B70-E3B7-8344-B635-0F25D4CACEB8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196083-5C37-8041-9477-EF3CED45B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353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96083-5C37-8041-9477-EF3CED45B51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018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861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GB" dirty="0"/>
          </a:p>
        </p:txBody>
      </p:sp>
      <p:sp>
        <p:nvSpPr>
          <p:cNvPr id="6861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5296445A-5618-4178-89FB-89EAFD7AE314}" type="slidenum">
              <a:rPr lang="en-US" smtClean="0">
                <a:latin typeface="Calibri" pitchFamily="34" charset="0"/>
                <a:ea typeface="ヒラギノ角ゴ Pro W3"/>
                <a:cs typeface="ヒラギノ角ゴ Pro W3"/>
              </a:rPr>
              <a:pPr/>
              <a:t>2</a:t>
            </a:fld>
            <a:endParaRPr lang="en-US" dirty="0">
              <a:latin typeface="Calibri" pitchFamily="34" charset="0"/>
              <a:ea typeface="ヒラギノ角ゴ Pro W3"/>
              <a:cs typeface="ヒラギノ角ゴ Pro W3"/>
            </a:endParaRPr>
          </a:p>
        </p:txBody>
      </p:sp>
    </p:spTree>
    <p:extLst>
      <p:ext uri="{BB962C8B-B14F-4D97-AF65-F5344CB8AC3E}">
        <p14:creationId xmlns:p14="http://schemas.microsoft.com/office/powerpoint/2010/main" val="19115699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GB" dirty="0"/>
          </a:p>
        </p:txBody>
      </p:sp>
      <p:sp>
        <p:nvSpPr>
          <p:cNvPr id="1741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BD66EDD8-A530-4DB3-95E8-3F8FAA34D08B}" type="slidenum">
              <a:rPr lang="en-US" smtClean="0">
                <a:latin typeface="Calibri" pitchFamily="34" charset="0"/>
                <a:ea typeface="ヒラギノ角ゴ Pro W3"/>
                <a:cs typeface="ヒラギノ角ゴ Pro W3"/>
              </a:rPr>
              <a:pPr/>
              <a:t>3</a:t>
            </a:fld>
            <a:endParaRPr lang="en-US" dirty="0">
              <a:latin typeface="Calibri" pitchFamily="34" charset="0"/>
              <a:ea typeface="ヒラギノ角ゴ Pro W3"/>
              <a:cs typeface="ヒラギノ角ゴ Pro W3"/>
            </a:endParaRPr>
          </a:p>
        </p:txBody>
      </p:sp>
    </p:spTree>
    <p:extLst>
      <p:ext uri="{BB962C8B-B14F-4D97-AF65-F5344CB8AC3E}">
        <p14:creationId xmlns:p14="http://schemas.microsoft.com/office/powerpoint/2010/main" val="20145066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GB" dirty="0"/>
          </a:p>
        </p:txBody>
      </p:sp>
      <p:sp>
        <p:nvSpPr>
          <p:cNvPr id="1945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EA738F1-AED8-4A40-9092-ECA38BF8693A}" type="slidenum">
              <a:rPr lang="en-US" smtClean="0">
                <a:latin typeface="Calibri" pitchFamily="34" charset="0"/>
                <a:ea typeface="ヒラギノ角ゴ Pro W3"/>
                <a:cs typeface="ヒラギノ角ゴ Pro W3"/>
              </a:rPr>
              <a:pPr/>
              <a:t>4</a:t>
            </a:fld>
            <a:endParaRPr lang="en-US" dirty="0">
              <a:latin typeface="Calibri" pitchFamily="34" charset="0"/>
              <a:ea typeface="ヒラギノ角ゴ Pro W3"/>
              <a:cs typeface="ヒラギノ角ゴ Pro W3"/>
            </a:endParaRPr>
          </a:p>
        </p:txBody>
      </p:sp>
    </p:spTree>
    <p:extLst>
      <p:ext uri="{BB962C8B-B14F-4D97-AF65-F5344CB8AC3E}">
        <p14:creationId xmlns:p14="http://schemas.microsoft.com/office/powerpoint/2010/main" val="30299527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065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marL="577779" indent="-577779"/>
            <a:endParaRPr lang="en-US" dirty="0"/>
          </a:p>
        </p:txBody>
      </p:sp>
      <p:sp>
        <p:nvSpPr>
          <p:cNvPr id="7065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D84E5CAE-F89B-4442-8A8B-FB5D7C8C37BA}" type="slidenum">
              <a:rPr lang="en-US" smtClean="0">
                <a:latin typeface="Calibri" pitchFamily="34" charset="0"/>
                <a:ea typeface="ヒラギノ角ゴ Pro W3"/>
                <a:cs typeface="ヒラギノ角ゴ Pro W3"/>
              </a:rPr>
              <a:pPr/>
              <a:t>5</a:t>
            </a:fld>
            <a:endParaRPr lang="en-US" dirty="0">
              <a:latin typeface="Calibri" pitchFamily="34" charset="0"/>
              <a:ea typeface="ヒラギノ角ゴ Pro W3"/>
              <a:cs typeface="ヒラギノ角ゴ Pro W3"/>
            </a:endParaRPr>
          </a:p>
        </p:txBody>
      </p:sp>
    </p:spTree>
    <p:extLst>
      <p:ext uri="{BB962C8B-B14F-4D97-AF65-F5344CB8AC3E}">
        <p14:creationId xmlns:p14="http://schemas.microsoft.com/office/powerpoint/2010/main" val="16355918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693738" indent="-2667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068388" indent="-21272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495425" indent="-21272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1924050" indent="-21272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381250" indent="-212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838450" indent="-212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295650" indent="-212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752850" indent="-212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D7BFBFE9-E3DD-41FD-BF5E-816AFDA62DB7}" type="slidenum">
              <a:rPr lang="en-GB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pPr eaLnBrk="1" hangingPunct="1"/>
              <a:t>6</a:t>
            </a:fld>
            <a:endParaRPr lang="en-GB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638894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96083-5C37-8041-9477-EF3CED45B51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2076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dirty="0"/>
          </a:p>
        </p:txBody>
      </p:sp>
      <p:sp>
        <p:nvSpPr>
          <p:cNvPr id="53252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693738" indent="-2667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068388" indent="-21272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495425" indent="-21272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1924050" indent="-21272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381250" indent="-212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838450" indent="-212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295650" indent="-212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752850" indent="-212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D8D3D9DD-D476-4FCF-AC77-1F713EE4CD35}" type="slidenum">
              <a:rPr lang="en-GB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pPr eaLnBrk="1" hangingPunct="1"/>
              <a:t>8</a:t>
            </a:fld>
            <a:endParaRPr lang="en-GB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492020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270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GB" dirty="0"/>
          </a:p>
        </p:txBody>
      </p:sp>
      <p:sp>
        <p:nvSpPr>
          <p:cNvPr id="727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72E2A5A-AE4B-4D84-A051-881225698DFD}" type="slidenum">
              <a:rPr lang="en-US" smtClean="0">
                <a:latin typeface="Calibri" pitchFamily="34" charset="0"/>
                <a:ea typeface="ヒラギノ角ゴ Pro W3"/>
                <a:cs typeface="ヒラギノ角ゴ Pro W3"/>
              </a:rPr>
              <a:pPr/>
              <a:t>9</a:t>
            </a:fld>
            <a:endParaRPr lang="en-US" dirty="0">
              <a:latin typeface="Calibri" pitchFamily="34" charset="0"/>
              <a:ea typeface="ヒラギノ角ゴ Pro W3"/>
              <a:cs typeface="ヒラギノ角ゴ Pro W3"/>
            </a:endParaRPr>
          </a:p>
        </p:txBody>
      </p:sp>
    </p:spTree>
    <p:extLst>
      <p:ext uri="{BB962C8B-B14F-4D97-AF65-F5344CB8AC3E}">
        <p14:creationId xmlns:p14="http://schemas.microsoft.com/office/powerpoint/2010/main" val="17095712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96083-5C37-8041-9477-EF3CED45B51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6590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96083-5C37-8041-9477-EF3CED45B51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6714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 algn="l">
              <a:buFont typeface="+mj-lt"/>
              <a:buAutoNum type="arabicPeriod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96083-5C37-8041-9477-EF3CED45B51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900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GB" dirty="0"/>
          </a:p>
        </p:txBody>
      </p:sp>
      <p:sp>
        <p:nvSpPr>
          <p:cNvPr id="7475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CBDD103B-9D5A-44DD-B767-39C3FF164762}" type="slidenum">
              <a:rPr lang="en-US" smtClean="0">
                <a:latin typeface="Calibri" pitchFamily="34" charset="0"/>
                <a:ea typeface="ヒラギノ角ゴ Pro W3"/>
                <a:cs typeface="ヒラギノ角ゴ Pro W3"/>
              </a:rPr>
              <a:pPr/>
              <a:t>13</a:t>
            </a:fld>
            <a:endParaRPr lang="en-US" dirty="0">
              <a:latin typeface="Calibri" pitchFamily="34" charset="0"/>
              <a:ea typeface="ヒラギノ角ゴ Pro W3"/>
              <a:cs typeface="ヒラギノ角ゴ Pro W3"/>
            </a:endParaRPr>
          </a:p>
        </p:txBody>
      </p:sp>
    </p:spTree>
    <p:extLst>
      <p:ext uri="{BB962C8B-B14F-4D97-AF65-F5344CB8AC3E}">
        <p14:creationId xmlns:p14="http://schemas.microsoft.com/office/powerpoint/2010/main" val="20530465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96083-5C37-8041-9477-EF3CED45B51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1989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80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GB" dirty="0"/>
          </a:p>
        </p:txBody>
      </p:sp>
      <p:sp>
        <p:nvSpPr>
          <p:cNvPr id="7680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79F3B06A-3A03-4D7E-9C36-2103C0E1B8DC}" type="slidenum">
              <a:rPr lang="en-US" smtClean="0">
                <a:latin typeface="Calibri" pitchFamily="34" charset="0"/>
                <a:ea typeface="ヒラギノ角ゴ Pro W3"/>
                <a:cs typeface="ヒラギノ角ゴ Pro W3"/>
              </a:rPr>
              <a:pPr/>
              <a:t>15</a:t>
            </a:fld>
            <a:endParaRPr lang="en-US" dirty="0">
              <a:latin typeface="Calibri" pitchFamily="34" charset="0"/>
              <a:ea typeface="ヒラギノ角ゴ Pro W3"/>
              <a:cs typeface="ヒラギノ角ゴ Pro W3"/>
            </a:endParaRPr>
          </a:p>
        </p:txBody>
      </p:sp>
    </p:spTree>
    <p:extLst>
      <p:ext uri="{BB962C8B-B14F-4D97-AF65-F5344CB8AC3E}">
        <p14:creationId xmlns:p14="http://schemas.microsoft.com/office/powerpoint/2010/main" val="5906872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885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GB" dirty="0"/>
          </a:p>
        </p:txBody>
      </p:sp>
      <p:sp>
        <p:nvSpPr>
          <p:cNvPr id="7885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AF70EDD8-A0CB-4DEB-849A-4452052BD81F}" type="slidenum">
              <a:rPr lang="en-US" smtClean="0">
                <a:latin typeface="Calibri" pitchFamily="34" charset="0"/>
                <a:ea typeface="ヒラギノ角ゴ Pro W3"/>
                <a:cs typeface="ヒラギノ角ゴ Pro W3"/>
              </a:rPr>
              <a:pPr/>
              <a:t>16</a:t>
            </a:fld>
            <a:endParaRPr lang="en-US" dirty="0">
              <a:latin typeface="Calibri" pitchFamily="34" charset="0"/>
              <a:ea typeface="ヒラギノ角ゴ Pro W3"/>
              <a:cs typeface="ヒラギノ角ゴ Pro W3"/>
            </a:endParaRPr>
          </a:p>
        </p:txBody>
      </p:sp>
    </p:spTree>
    <p:extLst>
      <p:ext uri="{BB962C8B-B14F-4D97-AF65-F5344CB8AC3E}">
        <p14:creationId xmlns:p14="http://schemas.microsoft.com/office/powerpoint/2010/main" val="696376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96083-5C37-8041-9477-EF3CED45B51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7313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089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GB" dirty="0"/>
          </a:p>
        </p:txBody>
      </p:sp>
      <p:sp>
        <p:nvSpPr>
          <p:cNvPr id="8089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E06015D0-7A3B-4394-BAD3-4A3FB1AF32D3}" type="slidenum">
              <a:rPr lang="en-US" smtClean="0">
                <a:latin typeface="Calibri" pitchFamily="34" charset="0"/>
                <a:ea typeface="ヒラギノ角ゴ Pro W3"/>
                <a:cs typeface="ヒラギノ角ゴ Pro W3"/>
              </a:rPr>
              <a:pPr/>
              <a:t>18</a:t>
            </a:fld>
            <a:endParaRPr lang="en-US" dirty="0">
              <a:latin typeface="Calibri" pitchFamily="34" charset="0"/>
              <a:ea typeface="ヒラギノ角ゴ Pro W3"/>
              <a:cs typeface="ヒラギノ角ゴ Pro W3"/>
            </a:endParaRPr>
          </a:p>
        </p:txBody>
      </p:sp>
    </p:spTree>
    <p:extLst>
      <p:ext uri="{BB962C8B-B14F-4D97-AF65-F5344CB8AC3E}">
        <p14:creationId xmlns:p14="http://schemas.microsoft.com/office/powerpoint/2010/main" val="210497026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294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marL="577779" indent="-577779"/>
            <a:endParaRPr lang="en-GB" dirty="0"/>
          </a:p>
        </p:txBody>
      </p:sp>
      <p:sp>
        <p:nvSpPr>
          <p:cNvPr id="8294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1A288B06-71F5-41C5-94DE-E0F07E5E8CCC}" type="slidenum">
              <a:rPr lang="en-US" smtClean="0">
                <a:latin typeface="Calibri" pitchFamily="34" charset="0"/>
                <a:ea typeface="ヒラギノ角ゴ Pro W3"/>
                <a:cs typeface="ヒラギノ角ゴ Pro W3"/>
              </a:rPr>
              <a:pPr/>
              <a:t>19</a:t>
            </a:fld>
            <a:endParaRPr lang="en-US" dirty="0">
              <a:latin typeface="Calibri" pitchFamily="34" charset="0"/>
              <a:ea typeface="ヒラギノ角ゴ Pro W3"/>
              <a:cs typeface="ヒラギノ角ゴ Pro W3"/>
            </a:endParaRPr>
          </a:p>
        </p:txBody>
      </p:sp>
    </p:spTree>
    <p:extLst>
      <p:ext uri="{BB962C8B-B14F-4D97-AF65-F5344CB8AC3E}">
        <p14:creationId xmlns:p14="http://schemas.microsoft.com/office/powerpoint/2010/main" val="164332858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54276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693738" indent="-2667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068388" indent="-21272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495425" indent="-21272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1924050" indent="-21272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381250" indent="-212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838450" indent="-212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295650" indent="-212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752850" indent="-212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CD13082-4570-404E-81BE-963D52AB0E53}" type="slidenum">
              <a:rPr lang="en-GB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pPr eaLnBrk="1" hangingPunct="1"/>
              <a:t>20</a:t>
            </a:fld>
            <a:endParaRPr lang="en-GB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864761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96083-5C37-8041-9477-EF3CED45B51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62386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693738" indent="-2667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068388" indent="-21272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495425" indent="-21272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1924050" indent="-212725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381250" indent="-212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838450" indent="-212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295650" indent="-212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752850" indent="-212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104A093-F6B6-4F39-ABC1-567922346691}" type="slidenum">
              <a:rPr lang="en-GB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pPr eaLnBrk="1" hangingPunct="1"/>
              <a:t>22</a:t>
            </a:fld>
            <a:endParaRPr lang="en-GB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8590601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499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GB" dirty="0"/>
          </a:p>
        </p:txBody>
      </p:sp>
      <p:sp>
        <p:nvSpPr>
          <p:cNvPr id="8499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24CEFB03-3FB0-4D5E-A184-A4A7B705B10C}" type="slidenum">
              <a:rPr lang="en-US" smtClean="0">
                <a:latin typeface="Calibri" pitchFamily="34" charset="0"/>
                <a:ea typeface="ヒラギノ角ゴ Pro W3"/>
                <a:cs typeface="ヒラギノ角ゴ Pro W3"/>
              </a:rPr>
              <a:pPr/>
              <a:t>23</a:t>
            </a:fld>
            <a:endParaRPr lang="en-US" dirty="0">
              <a:latin typeface="Calibri" pitchFamily="34" charset="0"/>
              <a:ea typeface="ヒラギノ角ゴ Pro W3"/>
              <a:cs typeface="ヒラギノ角ゴ Pro W3"/>
            </a:endParaRPr>
          </a:p>
        </p:txBody>
      </p:sp>
    </p:spTree>
    <p:extLst>
      <p:ext uri="{BB962C8B-B14F-4D97-AF65-F5344CB8AC3E}">
        <p14:creationId xmlns:p14="http://schemas.microsoft.com/office/powerpoint/2010/main" val="63388628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613F48FA-6115-429B-AD92-EA8C9C090DA4}" type="slidenum">
              <a:rPr lang="en-US" altLang="en-US">
                <a:latin typeface="Arial" panose="020B0604020202020204" pitchFamily="34" charset="0"/>
              </a:rPr>
              <a:pPr/>
              <a:t>24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2113" y="690563"/>
            <a:ext cx="6075362" cy="3417887"/>
          </a:xfrm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1813"/>
            <a:ext cx="5029200" cy="4116387"/>
          </a:xfrm>
          <a:noFill/>
        </p:spPr>
        <p:txBody>
          <a:bodyPr/>
          <a:lstStyle/>
          <a:p>
            <a:pPr marL="1143000" lvl="2" indent="-228600" eaLnBrk="1" hangingPunct="1">
              <a:buFontTx/>
              <a:buAutoNum type="arabicPeriod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4083845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96083-5C37-8041-9477-EF3CED45B519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57799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96083-5C37-8041-9477-EF3CED45B519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54260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96083-5C37-8041-9477-EF3CED45B519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76244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74720E37-F931-4E96-B83D-6C0607E40969}" type="slidenum">
              <a:rPr lang="en-US" altLang="en-US">
                <a:latin typeface="Arial" panose="020B0604020202020204" pitchFamily="34" charset="0"/>
              </a:rPr>
              <a:pPr/>
              <a:t>28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6357143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963AFAD7-F6E2-4B4D-B614-5E8EF44864A9}" type="slidenum">
              <a:rPr lang="en-US" altLang="en-US">
                <a:latin typeface="Arial" panose="020B0604020202020204" pitchFamily="34" charset="0"/>
              </a:rPr>
              <a:pPr/>
              <a:t>29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851230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308736A5-57BB-4C4A-ACA6-3DCA6DA50FB7}" type="slidenum">
              <a:rPr lang="en-US" altLang="en-US">
                <a:latin typeface="Arial" panose="020B0604020202020204" pitchFamily="34" charset="0"/>
              </a:rPr>
              <a:pPr/>
              <a:t>30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05088875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7745D394-D083-4BFB-9471-1BBAED463E9A}" type="slidenum">
              <a:rPr lang="en-US" altLang="en-US">
                <a:latin typeface="Arial" panose="020B0604020202020204" pitchFamily="34" charset="0"/>
              </a:rPr>
              <a:pPr/>
              <a:t>31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2361354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3E2748F-8CFE-4AA2-9248-8099F31B09A1}" type="slidenum">
              <a:rPr lang="en-US" altLang="en-US">
                <a:latin typeface="Arial" panose="020B0604020202020204" pitchFamily="34" charset="0"/>
              </a:rPr>
              <a:pPr/>
              <a:t>32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2113" y="690563"/>
            <a:ext cx="6075362" cy="3417887"/>
          </a:xfrm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1813"/>
            <a:ext cx="5029200" cy="4116387"/>
          </a:xfrm>
          <a:noFill/>
        </p:spPr>
        <p:txBody>
          <a:bodyPr/>
          <a:lstStyle/>
          <a:p>
            <a:pPr lvl="1" eaLnBrk="1" hangingPunct="1">
              <a:buFontTx/>
              <a:buAutoNum type="arabicPeriod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86540679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906836B-8932-4FD4-9AF6-A459CBF40437}" type="slidenum">
              <a:rPr lang="en-US" altLang="en-US">
                <a:latin typeface="Arial" panose="020B0604020202020204" pitchFamily="34" charset="0"/>
              </a:rPr>
              <a:pPr/>
              <a:t>33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2113" y="690563"/>
            <a:ext cx="6075362" cy="3417887"/>
          </a:xfrm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1813"/>
            <a:ext cx="5029200" cy="4116387"/>
          </a:xfrm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10294576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96083-5C37-8041-9477-EF3CED45B519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02282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79F38464-EBD9-4513-B523-FB146F781FFB}" type="slidenum">
              <a:rPr lang="en-US" altLang="en-US">
                <a:latin typeface="Arial" panose="020B0604020202020204" pitchFamily="34" charset="0"/>
              </a:rPr>
              <a:pPr/>
              <a:t>35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2113" y="690563"/>
            <a:ext cx="6075362" cy="3417887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1813"/>
            <a:ext cx="5029200" cy="4116387"/>
          </a:xfrm>
          <a:noFill/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62600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252913" cy="2589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rgbClr val="06353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06353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91323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6353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063532"/>
                </a:solidFill>
              </a:defRPr>
            </a:lvl1pPr>
            <a:lvl2pPr>
              <a:defRPr>
                <a:solidFill>
                  <a:srgbClr val="063532"/>
                </a:solidFill>
              </a:defRPr>
            </a:lvl2pPr>
            <a:lvl3pPr>
              <a:defRPr>
                <a:solidFill>
                  <a:srgbClr val="063532"/>
                </a:solidFill>
              </a:defRPr>
            </a:lvl3pPr>
            <a:lvl4pPr>
              <a:defRPr>
                <a:solidFill>
                  <a:srgbClr val="063532"/>
                </a:solidFill>
              </a:defRPr>
            </a:lvl4pPr>
            <a:lvl5pPr>
              <a:defRPr>
                <a:solidFill>
                  <a:srgbClr val="06353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063532"/>
                </a:solidFill>
              </a:defRPr>
            </a:lvl1pPr>
          </a:lstStyle>
          <a:p>
            <a:pPr>
              <a:defRPr/>
            </a:pPr>
            <a:fld id="{A39DBBCA-7DC4-6540-9997-31BE66BFD8BF}" type="datetimeFigureOut">
              <a:rPr lang="en-GB"/>
              <a:pPr>
                <a:defRPr/>
              </a:pPr>
              <a:t>09/07/2025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63532"/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063532"/>
                </a:solidFill>
              </a:defRPr>
            </a:lvl1pPr>
          </a:lstStyle>
          <a:p>
            <a:pPr>
              <a:defRPr/>
            </a:pPr>
            <a:fld id="{B4C38821-B49A-9C4E-B57D-3C5DC6EC92F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0601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751F77-6922-8A42-8DDB-31B45856657E}" type="datetimeFigureOut">
              <a:rPr lang="en-GB"/>
              <a:pPr>
                <a:defRPr/>
              </a:pPr>
              <a:t>09/07/2025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E1F878-75C8-E248-8043-043CBF37112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0966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D3BC86-80CA-6C48-886B-E52FEEAD8B52}" type="datetimeFigureOut">
              <a:rPr lang="en-GB"/>
              <a:pPr>
                <a:defRPr/>
              </a:pPr>
              <a:t>09/07/2025</a:t>
            </a:fld>
            <a:endParaRPr lang="en-GB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BB19BF-F404-C24D-80BB-50C4F751A7D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982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904BD1-2EDD-6F4C-AE02-D5C6CA08777E}" type="datetimeFigureOut">
              <a:rPr lang="en-GB"/>
              <a:pPr>
                <a:defRPr/>
              </a:pPr>
              <a:t>09/07/2025</a:t>
            </a:fld>
            <a:endParaRPr lang="en-GB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C65407-D129-8D42-9BA8-69A441B514C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392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28600"/>
            <a:ext cx="10363200" cy="1143000"/>
          </a:xfrm>
        </p:spPr>
        <p:txBody>
          <a:bodyPr/>
          <a:lstStyle>
            <a:lvl1pPr>
              <a:lnSpc>
                <a:spcPts val="3600"/>
              </a:lnSpc>
              <a:defRPr sz="4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1219200" y="1447800"/>
            <a:ext cx="9550400" cy="381000"/>
          </a:xfrm>
        </p:spPr>
        <p:txBody>
          <a:bodyPr anchor="ctr"/>
          <a:lstStyle>
            <a:lvl1pPr algn="ctr">
              <a:buNone/>
              <a:defRPr sz="2800" b="1" i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3210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585" y="214314"/>
            <a:ext cx="10390716" cy="10699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76917" y="1527175"/>
            <a:ext cx="5080000" cy="4605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860117" y="1527176"/>
            <a:ext cx="5080000" cy="2225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860117" y="3905251"/>
            <a:ext cx="5080000" cy="2227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B85846-C43F-480A-88C5-7DE36184832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72410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B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x-none"/>
              <a:t>Click to edit Master title style</a:t>
            </a:r>
            <a:endParaRPr lang="en-GB" altLang="x-none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x-none"/>
              <a:t>Click to edit Master text styles</a:t>
            </a:r>
          </a:p>
          <a:p>
            <a:pPr lvl="1"/>
            <a:r>
              <a:rPr lang="en-US" altLang="x-none"/>
              <a:t>Second level</a:t>
            </a:r>
          </a:p>
          <a:p>
            <a:pPr lvl="2"/>
            <a:r>
              <a:rPr lang="en-US" altLang="x-none"/>
              <a:t>Third level</a:t>
            </a:r>
          </a:p>
          <a:p>
            <a:pPr lvl="3"/>
            <a:r>
              <a:rPr lang="en-US" altLang="x-none"/>
              <a:t>Fourth level</a:t>
            </a:r>
          </a:p>
          <a:p>
            <a:pPr lvl="4"/>
            <a:r>
              <a:rPr lang="en-US" altLang="x-none"/>
              <a:t>Fifth level</a:t>
            </a:r>
            <a:endParaRPr lang="en-GB" alt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063532"/>
                </a:solidFill>
                <a:latin typeface="+mn-lt"/>
              </a:defRPr>
            </a:lvl1pPr>
          </a:lstStyle>
          <a:p>
            <a:pPr>
              <a:defRPr/>
            </a:pPr>
            <a:fld id="{168889EE-97AD-3F4D-BA1D-6B54434E1003}" type="datetimeFigureOut">
              <a:rPr lang="en-GB"/>
              <a:pPr>
                <a:defRPr/>
              </a:pPr>
              <a:t>09/07/2025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rgbClr val="063532"/>
                </a:solidFill>
                <a:latin typeface="+mn-lt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063532"/>
                </a:solidFill>
                <a:latin typeface="+mn-lt"/>
              </a:defRPr>
            </a:lvl1pPr>
          </a:lstStyle>
          <a:p>
            <a:pPr>
              <a:defRPr/>
            </a:pPr>
            <a:fld id="{BE201BCD-EAB9-1249-BACA-AF87BAD15DF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4" r:id="rId3"/>
    <p:sldLayoutId id="2147483665" r:id="rId4"/>
    <p:sldLayoutId id="2147483666" r:id="rId5"/>
    <p:sldLayoutId id="2147483669" r:id="rId6"/>
    <p:sldLayoutId id="2147483671" r:id="rId7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rgbClr val="063532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063532"/>
          </a:solidFill>
          <a:latin typeface="Calibri Light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063532"/>
          </a:solidFill>
          <a:latin typeface="Calibri Light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063532"/>
          </a:solidFill>
          <a:latin typeface="Calibri Light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063532"/>
          </a:solidFill>
          <a:latin typeface="Calibri Light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063532"/>
          </a:solidFill>
          <a:latin typeface="Calibri Light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063532"/>
          </a:solidFill>
          <a:latin typeface="Calibri Light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063532"/>
          </a:solidFill>
          <a:latin typeface="Calibri Light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063532"/>
          </a:solidFill>
          <a:latin typeface="Calibri Light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 kern="1200">
          <a:solidFill>
            <a:srgbClr val="063532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 kern="1200">
          <a:solidFill>
            <a:srgbClr val="063532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rgbClr val="063532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rgbClr val="063532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rgbClr val="06353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ctrTitle"/>
          </p:nvPr>
        </p:nvSpPr>
        <p:spPr>
          <a:xfrm>
            <a:off x="1387929" y="1122362"/>
            <a:ext cx="9280071" cy="2773363"/>
          </a:xfrm>
        </p:spPr>
        <p:txBody>
          <a:bodyPr/>
          <a:lstStyle/>
          <a:p>
            <a:pPr>
              <a:defRPr/>
            </a:pPr>
            <a:br>
              <a:rPr lang="en-US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accent2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ea typeface="ＭＳ Ｐゴシック" charset="0"/>
              </a:rPr>
            </a:br>
            <a:br>
              <a:rPr lang="en-US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accent2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ea typeface="ＭＳ Ｐゴシック" charset="0"/>
              </a:rPr>
            </a:br>
            <a:r>
              <a:rPr lang="en-US" sz="3600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accent2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ea typeface="ＭＳ Ｐゴシック" charset="0"/>
              </a:rPr>
              <a:t>STRATEGIC MARKETING </a:t>
            </a:r>
            <a:br>
              <a:rPr lang="en-US" sz="3600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accent2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ea typeface="ＭＳ Ｐゴシック" charset="0"/>
              </a:rPr>
            </a:br>
            <a:endParaRPr lang="en-US" sz="3600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accent2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ea typeface="ＭＳ Ｐゴシック" charset="0"/>
            </a:endParaRPr>
          </a:p>
        </p:txBody>
      </p:sp>
      <p:sp>
        <p:nvSpPr>
          <p:cNvPr id="4099" name="Subtitle 2"/>
          <p:cNvSpPr>
            <a:spLocks noGrp="1"/>
          </p:cNvSpPr>
          <p:nvPr>
            <p:ph type="subTitle" idx="1"/>
          </p:nvPr>
        </p:nvSpPr>
        <p:spPr>
          <a:xfrm>
            <a:off x="2204356" y="3895726"/>
            <a:ext cx="8463643" cy="2341788"/>
          </a:xfrm>
        </p:spPr>
        <p:txBody>
          <a:bodyPr/>
          <a:lstStyle/>
          <a:p>
            <a:r>
              <a:rPr lang="en-GB" altLang="x-none" sz="3600" dirty="0"/>
              <a:t>Services Marketing and Service Dominant Logic</a:t>
            </a:r>
          </a:p>
          <a:p>
            <a:r>
              <a:rPr lang="en-GB" altLang="x-none" sz="3600" dirty="0">
                <a:solidFill>
                  <a:srgbClr val="7030A0"/>
                </a:solidFill>
              </a:rPr>
              <a:t>Prof. Mohammed Rafiq</a:t>
            </a:r>
          </a:p>
          <a:p>
            <a:r>
              <a:rPr lang="en-GB" altLang="x-none" sz="3600" dirty="0">
                <a:solidFill>
                  <a:srgbClr val="7030A0"/>
                </a:solidFill>
              </a:rPr>
              <a:t>Professor of Marketing</a:t>
            </a:r>
          </a:p>
          <a:p>
            <a:endParaRPr lang="en-GB" altLang="x-none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257785"/>
            <a:ext cx="7772400" cy="614881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rgbClr val="007FA3"/>
                </a:solidFill>
              </a:rPr>
              <a:t>Agenda</a:t>
            </a:r>
          </a:p>
        </p:txBody>
      </p:sp>
      <p:sp>
        <p:nvSpPr>
          <p:cNvPr id="67586" name="Rectangle 3"/>
          <p:cNvSpPr>
            <a:spLocks noGrp="1" noChangeArrowheads="1"/>
          </p:cNvSpPr>
          <p:nvPr>
            <p:ph idx="1"/>
          </p:nvPr>
        </p:nvSpPr>
        <p:spPr>
          <a:xfrm>
            <a:off x="2691748" y="2047009"/>
            <a:ext cx="7772400" cy="4114800"/>
          </a:xfrm>
        </p:spPr>
        <p:txBody>
          <a:bodyPr/>
          <a:lstStyle/>
          <a:p>
            <a:pPr marL="301625" indent="-301625"/>
            <a:r>
              <a:rPr lang="en-US" dirty="0"/>
              <a:t>Explain difference between physical products and services</a:t>
            </a:r>
          </a:p>
          <a:p>
            <a:pPr marL="301625" indent="-301625"/>
            <a:r>
              <a:rPr lang="en-US" dirty="0"/>
              <a:t>Explain the extended Marketing Mix</a:t>
            </a:r>
          </a:p>
          <a:p>
            <a:pPr marL="301625" indent="-301625"/>
            <a:r>
              <a:rPr lang="en-US" dirty="0"/>
              <a:t>Discuss the Services Marketing Triangle (between External Marketing, Internal Marketing and Interactive Marketing)</a:t>
            </a:r>
          </a:p>
          <a:p>
            <a:pPr marL="301625" indent="-301625"/>
            <a:r>
              <a:rPr lang="en-US" dirty="0"/>
              <a:t>Explain Service quality</a:t>
            </a:r>
          </a:p>
          <a:p>
            <a:pPr marL="301625" indent="-301625"/>
            <a:r>
              <a:rPr lang="en-US" dirty="0"/>
              <a:t>Discuss Service Dominant Logic</a:t>
            </a:r>
          </a:p>
          <a:p>
            <a:pPr marL="301625" indent="-301625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5143789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772400" cy="1143000"/>
          </a:xfrm>
        </p:spPr>
        <p:txBody>
          <a:bodyPr/>
          <a:lstStyle/>
          <a:p>
            <a:r>
              <a:rPr lang="en-US" sz="3600" dirty="0">
                <a:solidFill>
                  <a:srgbClr val="007FA3"/>
                </a:solidFill>
              </a:rPr>
              <a:t>What is a product? </a:t>
            </a:r>
          </a:p>
        </p:txBody>
      </p:sp>
      <p:sp>
        <p:nvSpPr>
          <p:cNvPr id="16386" name="Rectangle 3"/>
          <p:cNvSpPr>
            <a:spLocks noGrp="1" noChangeArrowheads="1"/>
          </p:cNvSpPr>
          <p:nvPr>
            <p:ph idx="1"/>
          </p:nvPr>
        </p:nvSpPr>
        <p:spPr>
          <a:xfrm>
            <a:off x="2700563" y="2071800"/>
            <a:ext cx="6629400" cy="4411377"/>
          </a:xfrm>
        </p:spPr>
        <p:txBody>
          <a:bodyPr/>
          <a:lstStyle/>
          <a:p>
            <a:pPr marL="311150" indent="-311150">
              <a:buNone/>
            </a:pPr>
            <a:r>
              <a:rPr lang="en-US" sz="3200" b="1" dirty="0"/>
              <a:t>Product</a:t>
            </a:r>
            <a:r>
              <a:rPr lang="en-US" sz="3200" dirty="0"/>
              <a:t> is anything that can be offered in a market for attention, acquisition, use or consumption that might satisfy a need or want.</a:t>
            </a:r>
          </a:p>
          <a:p>
            <a:pPr marL="301625" indent="-301625">
              <a:buNone/>
              <a:tabLst>
                <a:tab pos="350838" algn="l"/>
              </a:tabLst>
            </a:pPr>
            <a:r>
              <a:rPr lang="en-US" sz="3200" b="1" dirty="0"/>
              <a:t>Service</a:t>
            </a:r>
            <a:r>
              <a:rPr lang="en-US" sz="3200" dirty="0"/>
              <a:t> is a product that consists of activities, benefits or satisfaction that is essentially intangible and does not result in the ownership of anything.</a:t>
            </a:r>
          </a:p>
          <a:p>
            <a:pPr>
              <a:buFontTx/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16387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2514600" y="1153195"/>
            <a:ext cx="7162800" cy="381000"/>
          </a:xfrm>
        </p:spPr>
        <p:txBody>
          <a:bodyPr/>
          <a:lstStyle/>
          <a:p>
            <a:r>
              <a:rPr lang="en-US" dirty="0"/>
              <a:t>Products, services and experiences</a:t>
            </a:r>
          </a:p>
        </p:txBody>
      </p:sp>
    </p:spTree>
    <p:extLst>
      <p:ext uri="{BB962C8B-B14F-4D97-AF65-F5344CB8AC3E}">
        <p14:creationId xmlns:p14="http://schemas.microsoft.com/office/powerpoint/2010/main" val="2489378636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3"/>
          <p:cNvSpPr>
            <a:spLocks noGrp="1" noChangeArrowheads="1"/>
          </p:cNvSpPr>
          <p:nvPr>
            <p:ph idx="1"/>
          </p:nvPr>
        </p:nvSpPr>
        <p:spPr>
          <a:xfrm>
            <a:off x="2706412" y="2045865"/>
            <a:ext cx="7848600" cy="2057400"/>
          </a:xfrm>
        </p:spPr>
        <p:txBody>
          <a:bodyPr/>
          <a:lstStyle/>
          <a:p>
            <a:pPr marL="311150" indent="-311150">
              <a:buNone/>
            </a:pPr>
            <a:r>
              <a:rPr lang="en-US" sz="3600" b="1" dirty="0"/>
              <a:t>Experiences</a:t>
            </a:r>
            <a:r>
              <a:rPr lang="en-US" sz="3600" dirty="0"/>
              <a:t> represent what buying the product or service will do for the customer.</a:t>
            </a:r>
          </a:p>
        </p:txBody>
      </p:sp>
      <p:sp>
        <p:nvSpPr>
          <p:cNvPr id="18435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2514600" y="1147024"/>
            <a:ext cx="7162800" cy="381000"/>
          </a:xfrm>
        </p:spPr>
        <p:txBody>
          <a:bodyPr/>
          <a:lstStyle/>
          <a:p>
            <a:r>
              <a:rPr lang="en-US" dirty="0"/>
              <a:t>Products, services and experiences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772400" cy="1143000"/>
          </a:xfrm>
        </p:spPr>
        <p:txBody>
          <a:bodyPr/>
          <a:lstStyle/>
          <a:p>
            <a:r>
              <a:rPr lang="en-US" sz="3600" dirty="0">
                <a:solidFill>
                  <a:srgbClr val="007FA3"/>
                </a:solidFill>
              </a:rPr>
              <a:t>What is a product? (Continued)</a:t>
            </a:r>
          </a:p>
        </p:txBody>
      </p:sp>
    </p:spTree>
    <p:extLst>
      <p:ext uri="{BB962C8B-B14F-4D97-AF65-F5344CB8AC3E}">
        <p14:creationId xmlns:p14="http://schemas.microsoft.com/office/powerpoint/2010/main" val="1974866130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3"/>
          <p:cNvSpPr>
            <a:spLocks noGrp="1" noChangeArrowheads="1"/>
          </p:cNvSpPr>
          <p:nvPr>
            <p:ph type="body" sz="quarter" idx="13"/>
          </p:nvPr>
        </p:nvSpPr>
        <p:spPr>
          <a:xfrm>
            <a:off x="2432221" y="1100509"/>
            <a:ext cx="7162800" cy="381000"/>
          </a:xfrm>
        </p:spPr>
        <p:txBody>
          <a:bodyPr>
            <a:normAutofit fontScale="25000" lnSpcReduction="20000"/>
          </a:bodyPr>
          <a:lstStyle/>
          <a:p>
            <a:endParaRPr lang="en-US" dirty="0"/>
          </a:p>
          <a:p>
            <a:r>
              <a:rPr lang="en-US" sz="11200" dirty="0"/>
              <a:t>The Nature and characteristics of a service</a:t>
            </a:r>
          </a:p>
          <a:p>
            <a:endParaRPr lang="en-US" sz="11200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8281" y="1556951"/>
            <a:ext cx="11895438" cy="5231027"/>
          </a:xfrm>
          <a:prstGeom prst="rect">
            <a:avLst/>
          </a:prstGeom>
          <a:noFill/>
        </p:spPr>
      </p:pic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257785"/>
            <a:ext cx="7772400" cy="614881"/>
          </a:xfrm>
        </p:spPr>
        <p:txBody>
          <a:bodyPr/>
          <a:lstStyle/>
          <a:p>
            <a:r>
              <a:rPr lang="en-US" sz="3600" dirty="0">
                <a:solidFill>
                  <a:srgbClr val="007FA3"/>
                </a:solidFill>
              </a:rPr>
              <a:t>Services marketing (Continued)</a:t>
            </a:r>
          </a:p>
        </p:txBody>
      </p:sp>
    </p:spTree>
    <p:extLst>
      <p:ext uri="{BB962C8B-B14F-4D97-AF65-F5344CB8AC3E}">
        <p14:creationId xmlns:p14="http://schemas.microsoft.com/office/powerpoint/2010/main" val="1400874565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3"/>
          <p:cNvSpPr txBox="1">
            <a:spLocks noChangeArrowheads="1"/>
          </p:cNvSpPr>
          <p:nvPr/>
        </p:nvSpPr>
        <p:spPr bwMode="auto">
          <a:xfrm>
            <a:off x="1943099" y="4987926"/>
            <a:ext cx="8305800" cy="110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GB" altLang="en-US" sz="2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The good/service spectrum identifies that there are some product offerings that have very few services and some that have little good tangibility.</a:t>
            </a:r>
            <a:r>
              <a:rPr lang="en-GB" altLang="en-US" sz="2000" b="1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23555" name="Picture 4" descr="ch09f0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4486" y="1247776"/>
            <a:ext cx="8963025" cy="35718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188913"/>
            <a:ext cx="9144000" cy="838200"/>
          </a:xfrm>
        </p:spPr>
        <p:txBody>
          <a:bodyPr/>
          <a:lstStyle/>
          <a:p>
            <a:pPr eaLnBrk="1" hangingPunct="1"/>
            <a:r>
              <a:rPr lang="en-GB" altLang="en-US" sz="2800" b="1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The Good / Service Spectrum  </a:t>
            </a:r>
            <a:r>
              <a:rPr lang="en-GB" altLang="en-US" sz="28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567617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>
          <a:xfrm>
            <a:off x="1981200" y="274639"/>
            <a:ext cx="8229600" cy="346075"/>
          </a:xfrm>
        </p:spPr>
        <p:txBody>
          <a:bodyPr/>
          <a:lstStyle/>
          <a:p>
            <a:pPr eaLnBrk="1" hangingPunct="1"/>
            <a:r>
              <a:rPr lang="en-US" altLang="en-US" sz="2600">
                <a:solidFill>
                  <a:srgbClr val="FF0000"/>
                </a:solidFill>
              </a:rPr>
              <a:t>Continuum of Evaluation for Different Types of Products</a:t>
            </a:r>
            <a:endParaRPr lang="en-US" altLang="en-US" sz="2600">
              <a:solidFill>
                <a:srgbClr val="FF0000"/>
              </a:solidFill>
              <a:ea typeface="ＭＳ Ｐゴシック" panose="020B0600070205080204" pitchFamily="34" charset="-128"/>
            </a:endParaRPr>
          </a:p>
        </p:txBody>
      </p:sp>
      <p:pic>
        <p:nvPicPr>
          <p:cNvPr id="24579" name="Content Placeholder 3" descr="fig13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34314" y="1136823"/>
            <a:ext cx="11129318" cy="540402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4580" name="TextBox 1"/>
          <p:cNvSpPr txBox="1">
            <a:spLocks noChangeArrowheads="1"/>
          </p:cNvSpPr>
          <p:nvPr/>
        </p:nvSpPr>
        <p:spPr bwMode="auto">
          <a:xfrm>
            <a:off x="7751763" y="5373688"/>
            <a:ext cx="177641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>
                <a:solidFill>
                  <a:srgbClr val="FFC000"/>
                </a:solidFill>
              </a:rPr>
              <a:t>Zeithaml  (1981)</a:t>
            </a:r>
            <a:r>
              <a:rPr lang="en-GB" alt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949081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1"/>
          <p:cNvSpPr>
            <a:spLocks noChangeArrowheads="1"/>
          </p:cNvSpPr>
          <p:nvPr/>
        </p:nvSpPr>
        <p:spPr bwMode="auto">
          <a:xfrm>
            <a:off x="1524001" y="-22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  <p:sp>
        <p:nvSpPr>
          <p:cNvPr id="30723" name="TextBox 9"/>
          <p:cNvSpPr txBox="1">
            <a:spLocks noChangeArrowheads="1"/>
          </p:cNvSpPr>
          <p:nvPr/>
        </p:nvSpPr>
        <p:spPr bwMode="auto">
          <a:xfrm>
            <a:off x="1524001" y="228600"/>
            <a:ext cx="9144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b="1" dirty="0">
                <a:solidFill>
                  <a:srgbClr val="FF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Levels of Customer Confidence</a:t>
            </a:r>
          </a:p>
        </p:txBody>
      </p:sp>
      <p:sp>
        <p:nvSpPr>
          <p:cNvPr id="30724" name="Rectangle 2"/>
          <p:cNvSpPr>
            <a:spLocks noChangeArrowheads="1"/>
          </p:cNvSpPr>
          <p:nvPr/>
        </p:nvSpPr>
        <p:spPr bwMode="auto">
          <a:xfrm>
            <a:off x="1910557" y="1822796"/>
            <a:ext cx="8370887" cy="4401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Search</a:t>
            </a:r>
            <a:r>
              <a:rPr lang="en-US" altLang="en-US" sz="2800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altLang="en-US" sz="2800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properties are those elements that help customers to evaluate an offering prior to purchase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8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Experience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altLang="en-US" sz="2800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properties do not enable evaluation prior to purchase (</a:t>
            </a:r>
            <a:r>
              <a:rPr lang="en-US" altLang="en-US" sz="2800" dirty="0" err="1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e.g</a:t>
            </a:r>
            <a:r>
              <a:rPr lang="en-US" altLang="en-US" sz="2800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sprting</a:t>
            </a:r>
            <a:r>
              <a:rPr lang="en-US" altLang="en-US" sz="2800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events, </a:t>
            </a:r>
            <a:r>
              <a:rPr lang="en-US" altLang="en-US" sz="2800" dirty="0" err="1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entertainmen</a:t>
            </a:r>
            <a:r>
              <a:rPr lang="en-US" altLang="en-US" sz="2800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. And holidays)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8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Credence</a:t>
            </a:r>
            <a:r>
              <a:rPr lang="en-US" altLang="en-US" sz="2800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altLang="en-US" sz="2800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properties relate to those service characteristics that even after purchase and consumption customers find difficult to evaluate. </a:t>
            </a:r>
          </a:p>
        </p:txBody>
      </p:sp>
    </p:spTree>
    <p:extLst>
      <p:ext uri="{BB962C8B-B14F-4D97-AF65-F5344CB8AC3E}">
        <p14:creationId xmlns:p14="http://schemas.microsoft.com/office/powerpoint/2010/main" val="6244376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3"/>
          <p:cNvSpPr>
            <a:spLocks noGrp="1" noChangeArrowheads="1"/>
          </p:cNvSpPr>
          <p:nvPr>
            <p:ph idx="1"/>
          </p:nvPr>
        </p:nvSpPr>
        <p:spPr>
          <a:xfrm>
            <a:off x="2710365" y="2050472"/>
            <a:ext cx="6629400" cy="4114800"/>
          </a:xfrm>
        </p:spPr>
        <p:txBody>
          <a:bodyPr/>
          <a:lstStyle/>
          <a:p>
            <a:pPr marL="330200" indent="-330200">
              <a:buNone/>
            </a:pPr>
            <a:r>
              <a:rPr lang="en-US" dirty="0"/>
              <a:t>In addition to traditional marketing strategies, service firms often require additional strategies.</a:t>
            </a:r>
          </a:p>
          <a:p>
            <a:pPr marL="330200" indent="-330200"/>
            <a:r>
              <a:rPr lang="en-US" dirty="0"/>
              <a:t>Extended Marketing Mix</a:t>
            </a:r>
          </a:p>
          <a:p>
            <a:pPr marL="330200" indent="-330200"/>
            <a:r>
              <a:rPr lang="en-US" dirty="0"/>
              <a:t>Service profit chain</a:t>
            </a:r>
          </a:p>
          <a:p>
            <a:pPr marL="330200" indent="-330200"/>
            <a:r>
              <a:rPr lang="en-US" dirty="0"/>
              <a:t>Internal marketing</a:t>
            </a:r>
          </a:p>
          <a:p>
            <a:pPr marL="330200" indent="-330200"/>
            <a:r>
              <a:rPr lang="en-US" dirty="0"/>
              <a:t>Interactive marketing.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257785"/>
            <a:ext cx="7772400" cy="614881"/>
          </a:xfrm>
        </p:spPr>
        <p:txBody>
          <a:bodyPr/>
          <a:lstStyle/>
          <a:p>
            <a:r>
              <a:rPr lang="en-US" sz="3600" dirty="0">
                <a:solidFill>
                  <a:srgbClr val="007FA3"/>
                </a:solidFill>
              </a:rPr>
              <a:t>Services marketing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2975915" y="1416627"/>
            <a:ext cx="6240173" cy="609600"/>
          </a:xfrm>
        </p:spPr>
        <p:txBody>
          <a:bodyPr/>
          <a:lstStyle/>
          <a:p>
            <a:r>
              <a:rPr lang="en-US" dirty="0"/>
              <a:t>Marketing strategies for service firms</a:t>
            </a:r>
          </a:p>
        </p:txBody>
      </p:sp>
    </p:spTree>
    <p:extLst>
      <p:ext uri="{BB962C8B-B14F-4D97-AF65-F5344CB8AC3E}">
        <p14:creationId xmlns:p14="http://schemas.microsoft.com/office/powerpoint/2010/main" val="3100255540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Traditional Marketing Mix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225425" indent="-225425"/>
            <a:r>
              <a:rPr lang="en-US" altLang="en-US" sz="3600" dirty="0"/>
              <a:t>All elements within the control of the firm that communicate the firm’s capabilities and image to customers or that influence customer satisfaction with the firm’s product and services:</a:t>
            </a:r>
          </a:p>
          <a:p>
            <a:pPr marL="574675" lvl="1" indent="-233363"/>
            <a:r>
              <a:rPr lang="en-US" altLang="en-US" sz="3200" dirty="0"/>
              <a:t> Product</a:t>
            </a:r>
          </a:p>
          <a:p>
            <a:pPr marL="574675" lvl="1" indent="-233363"/>
            <a:r>
              <a:rPr lang="en-US" altLang="en-US" sz="3200" dirty="0"/>
              <a:t> Price</a:t>
            </a:r>
          </a:p>
          <a:p>
            <a:pPr marL="574675" lvl="1" indent="-233363"/>
            <a:r>
              <a:rPr lang="en-US" altLang="en-US" sz="3200" dirty="0"/>
              <a:t> Place</a:t>
            </a:r>
          </a:p>
          <a:p>
            <a:pPr marL="574675" lvl="1" indent="-233363"/>
            <a:r>
              <a:rPr lang="en-US" altLang="en-US" sz="3200" dirty="0"/>
              <a:t> Promotion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323512644"/>
      </p:ext>
    </p:extLst>
  </p:cSld>
  <p:clrMapOvr>
    <a:masterClrMapping/>
  </p:clrMapOvr>
  <p:transition>
    <p:rand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158875"/>
          </a:xfrm>
        </p:spPr>
        <p:txBody>
          <a:bodyPr/>
          <a:lstStyle/>
          <a:p>
            <a:r>
              <a:rPr lang="en-US" altLang="en-US" dirty="0"/>
              <a:t>Extended Marketing Mix for Services –The 7 Ps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825625"/>
            <a:ext cx="10515600" cy="4813300"/>
          </a:xfrm>
        </p:spPr>
        <p:txBody>
          <a:bodyPr/>
          <a:lstStyle/>
          <a:p>
            <a:pPr marL="225425" indent="-225425">
              <a:lnSpc>
                <a:spcPct val="80000"/>
              </a:lnSpc>
            </a:pPr>
            <a:r>
              <a:rPr lang="en-US" altLang="en-US" sz="2100" dirty="0"/>
              <a:t>Product</a:t>
            </a:r>
          </a:p>
          <a:p>
            <a:pPr marL="225425" indent="-225425">
              <a:lnSpc>
                <a:spcPct val="80000"/>
              </a:lnSpc>
            </a:pPr>
            <a:r>
              <a:rPr lang="en-US" altLang="en-US" sz="2100" dirty="0"/>
              <a:t>Price</a:t>
            </a:r>
          </a:p>
          <a:p>
            <a:pPr marL="225425" indent="-225425">
              <a:lnSpc>
                <a:spcPct val="80000"/>
              </a:lnSpc>
            </a:pPr>
            <a:r>
              <a:rPr lang="en-US" altLang="en-US" sz="2100" dirty="0"/>
              <a:t>Place</a:t>
            </a:r>
          </a:p>
          <a:p>
            <a:pPr marL="225425" indent="-225425">
              <a:lnSpc>
                <a:spcPct val="80000"/>
              </a:lnSpc>
            </a:pPr>
            <a:r>
              <a:rPr lang="en-US" altLang="en-US" sz="2100" dirty="0"/>
              <a:t>Promotion</a:t>
            </a:r>
          </a:p>
          <a:p>
            <a:pPr marL="225425" indent="-225425">
              <a:lnSpc>
                <a:spcPct val="80000"/>
              </a:lnSpc>
            </a:pPr>
            <a:endParaRPr lang="en-US" altLang="en-US" sz="2100" dirty="0"/>
          </a:p>
          <a:p>
            <a:pPr marL="225425" indent="-225425">
              <a:lnSpc>
                <a:spcPct val="80000"/>
              </a:lnSpc>
            </a:pPr>
            <a:r>
              <a:rPr lang="en-US" altLang="en-US" sz="2400" b="1" dirty="0"/>
              <a:t>People</a:t>
            </a:r>
          </a:p>
          <a:p>
            <a:pPr marL="574675" lvl="1" indent="-233363">
              <a:lnSpc>
                <a:spcPct val="80000"/>
              </a:lnSpc>
            </a:pPr>
            <a:r>
              <a:rPr lang="en-US" altLang="en-US" sz="2000" dirty="0"/>
              <a:t>All human actors who play a part in service delivery and thus influence the buyer’s perceptions: namely, the firm’s personnel, the customer, and other customers in the service environment.</a:t>
            </a:r>
            <a:endParaRPr lang="en-US" altLang="en-US" sz="2000" b="1" dirty="0"/>
          </a:p>
          <a:p>
            <a:pPr marL="225425" indent="-225425">
              <a:lnSpc>
                <a:spcPct val="80000"/>
              </a:lnSpc>
            </a:pPr>
            <a:r>
              <a:rPr lang="en-US" altLang="en-US" sz="2400" b="1" dirty="0"/>
              <a:t>Physical Evidence</a:t>
            </a:r>
          </a:p>
          <a:p>
            <a:pPr marL="574675" lvl="1" indent="-233363">
              <a:lnSpc>
                <a:spcPct val="80000"/>
              </a:lnSpc>
            </a:pPr>
            <a:r>
              <a:rPr lang="en-US" altLang="en-US" sz="2000" dirty="0"/>
              <a:t>The environment in which the service is delivered and where the firm and customer interact, and any tangible components that facilitate performance or communication of the service.</a:t>
            </a:r>
          </a:p>
          <a:p>
            <a:pPr marL="225425" indent="-225425">
              <a:lnSpc>
                <a:spcPct val="80000"/>
              </a:lnSpc>
            </a:pPr>
            <a:r>
              <a:rPr lang="en-US" altLang="en-US" sz="2400" b="1" dirty="0"/>
              <a:t>Process</a:t>
            </a:r>
          </a:p>
          <a:p>
            <a:pPr marL="574675" lvl="1" indent="-233363">
              <a:lnSpc>
                <a:spcPct val="80000"/>
              </a:lnSpc>
            </a:pPr>
            <a:r>
              <a:rPr lang="en-US" altLang="en-US" sz="2000" dirty="0"/>
              <a:t>The actual procedures, mechanisms, and flow of activities by which the service is delivered—the service delivery and operating systems.</a:t>
            </a:r>
            <a:endParaRPr lang="en-US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266919534"/>
      </p:ext>
    </p:extLst>
  </p:cSld>
  <p:clrMapOvr>
    <a:masterClrMapping/>
  </p:clrMapOvr>
  <p:transition>
    <p:rand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56888"/>
            <a:ext cx="10515600" cy="705794"/>
          </a:xfrm>
        </p:spPr>
        <p:txBody>
          <a:bodyPr/>
          <a:lstStyle/>
          <a:p>
            <a:pPr algn="ctr"/>
            <a:r>
              <a:rPr lang="en-GB" sz="3600" dirty="0"/>
              <a:t>Extended Marketing Mix for Services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914401"/>
            <a:ext cx="10515599" cy="612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0225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3"/>
          <p:cNvSpPr>
            <a:spLocks noGrp="1" noChangeArrowheads="1"/>
          </p:cNvSpPr>
          <p:nvPr>
            <p:ph idx="1"/>
          </p:nvPr>
        </p:nvSpPr>
        <p:spPr>
          <a:xfrm>
            <a:off x="2209800" y="1978513"/>
            <a:ext cx="6477000" cy="4488961"/>
          </a:xfrm>
        </p:spPr>
        <p:txBody>
          <a:bodyPr/>
          <a:lstStyle/>
          <a:p>
            <a:pPr marL="330200" indent="-301625">
              <a:lnSpc>
                <a:spcPts val="2800"/>
              </a:lnSpc>
              <a:buNone/>
            </a:pPr>
            <a:r>
              <a:rPr lang="en-US" b="1" dirty="0"/>
              <a:t>Service profit chain</a:t>
            </a:r>
            <a:r>
              <a:rPr lang="en-US" dirty="0"/>
              <a:t> links service firm profits with employee and customer satisfaction.</a:t>
            </a:r>
          </a:p>
          <a:p>
            <a:pPr marL="533400" indent="-533400">
              <a:lnSpc>
                <a:spcPts val="2800"/>
              </a:lnSpc>
              <a:buNone/>
            </a:pPr>
            <a:r>
              <a:rPr lang="en-GB" sz="3200" dirty="0"/>
              <a:t>This chain consists of five links:</a:t>
            </a:r>
            <a:endParaRPr lang="en-US" dirty="0"/>
          </a:p>
          <a:p>
            <a:pPr marL="330200" indent="-330200">
              <a:lnSpc>
                <a:spcPts val="2800"/>
              </a:lnSpc>
            </a:pPr>
            <a:r>
              <a:rPr lang="en-US" dirty="0"/>
              <a:t>Internal service quality</a:t>
            </a:r>
          </a:p>
          <a:p>
            <a:pPr marL="330200" indent="-330200">
              <a:lnSpc>
                <a:spcPts val="2800"/>
              </a:lnSpc>
            </a:pPr>
            <a:r>
              <a:rPr lang="en-US" dirty="0"/>
              <a:t>Satisfied and productive service employees</a:t>
            </a:r>
          </a:p>
          <a:p>
            <a:pPr marL="330200" indent="-330200">
              <a:lnSpc>
                <a:spcPts val="2800"/>
              </a:lnSpc>
            </a:pPr>
            <a:r>
              <a:rPr lang="en-US" dirty="0"/>
              <a:t>Greater service value</a:t>
            </a:r>
          </a:p>
          <a:p>
            <a:pPr marL="330200" indent="-330200">
              <a:lnSpc>
                <a:spcPts val="2800"/>
              </a:lnSpc>
            </a:pPr>
            <a:r>
              <a:rPr lang="en-US" dirty="0"/>
              <a:t>Satisfied and loyal customers</a:t>
            </a:r>
          </a:p>
          <a:p>
            <a:pPr marL="330200" indent="-330200">
              <a:lnSpc>
                <a:spcPts val="2800"/>
              </a:lnSpc>
            </a:pPr>
            <a:r>
              <a:rPr lang="en-US" dirty="0"/>
              <a:t>Healthy service profits and growth.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257785"/>
            <a:ext cx="7772400" cy="614881"/>
          </a:xfrm>
        </p:spPr>
        <p:txBody>
          <a:bodyPr/>
          <a:lstStyle/>
          <a:p>
            <a:r>
              <a:rPr lang="en-US" sz="3600" dirty="0">
                <a:solidFill>
                  <a:srgbClr val="007FA3"/>
                </a:solidFill>
              </a:rPr>
              <a:t>Services marketing (Continued)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2209800" y="1040302"/>
            <a:ext cx="6240173" cy="609600"/>
          </a:xfrm>
        </p:spPr>
        <p:txBody>
          <a:bodyPr/>
          <a:lstStyle/>
          <a:p>
            <a:r>
              <a:rPr lang="en-US" dirty="0"/>
              <a:t>Marketing strategies for service firms</a:t>
            </a:r>
          </a:p>
        </p:txBody>
      </p:sp>
    </p:spTree>
    <p:extLst>
      <p:ext uri="{BB962C8B-B14F-4D97-AF65-F5344CB8AC3E}">
        <p14:creationId xmlns:p14="http://schemas.microsoft.com/office/powerpoint/2010/main" val="97613082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0507"/>
          </a:xfrm>
        </p:spPr>
        <p:txBody>
          <a:bodyPr/>
          <a:lstStyle/>
          <a:p>
            <a:pPr algn="ctr"/>
            <a:r>
              <a:rPr lang="en-GB" dirty="0"/>
              <a:t>Service Profit Chain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75503" y="1301578"/>
            <a:ext cx="11038703" cy="5445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9515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3"/>
          <p:cNvSpPr>
            <a:spLocks noGrp="1" noChangeArrowheads="1"/>
          </p:cNvSpPr>
          <p:nvPr>
            <p:ph idx="1"/>
          </p:nvPr>
        </p:nvSpPr>
        <p:spPr>
          <a:xfrm>
            <a:off x="2717525" y="2209800"/>
            <a:ext cx="7315200" cy="3505200"/>
          </a:xfrm>
        </p:spPr>
        <p:txBody>
          <a:bodyPr/>
          <a:lstStyle/>
          <a:p>
            <a:r>
              <a:rPr lang="en-US" b="1" dirty="0"/>
              <a:t>Internal marketing </a:t>
            </a:r>
            <a:r>
              <a:rPr lang="en-US" dirty="0"/>
              <a:t>means that the service firm must orient and motivate its customer-contact employees and supporting service people to work as a team to provide customer satisfaction.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Internal marketing must precede external marketing.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257785"/>
            <a:ext cx="7772400" cy="614881"/>
          </a:xfrm>
        </p:spPr>
        <p:txBody>
          <a:bodyPr/>
          <a:lstStyle/>
          <a:p>
            <a:r>
              <a:rPr lang="en-US" sz="3600" dirty="0">
                <a:solidFill>
                  <a:srgbClr val="007FA3"/>
                </a:solidFill>
              </a:rPr>
              <a:t>Services marketing (Continued)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2975915" y="1416627"/>
            <a:ext cx="6240173" cy="609600"/>
          </a:xfrm>
        </p:spPr>
        <p:txBody>
          <a:bodyPr/>
          <a:lstStyle/>
          <a:p>
            <a:r>
              <a:rPr lang="en-US" dirty="0"/>
              <a:t>Marketing strategies for service firms</a:t>
            </a:r>
          </a:p>
        </p:txBody>
      </p:sp>
    </p:spTree>
    <p:extLst>
      <p:ext uri="{BB962C8B-B14F-4D97-AF65-F5344CB8AC3E}">
        <p14:creationId xmlns:p14="http://schemas.microsoft.com/office/powerpoint/2010/main" val="1932987642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3"/>
          <p:cNvSpPr>
            <a:spLocks noGrp="1" noChangeArrowheads="1"/>
          </p:cNvSpPr>
          <p:nvPr>
            <p:ph idx="1"/>
          </p:nvPr>
        </p:nvSpPr>
        <p:spPr>
          <a:xfrm>
            <a:off x="2667000" y="2395559"/>
            <a:ext cx="6858000" cy="3605191"/>
          </a:xfrm>
        </p:spPr>
        <p:txBody>
          <a:bodyPr/>
          <a:lstStyle/>
          <a:p>
            <a:pPr marL="311150" indent="-311150">
              <a:buNone/>
              <a:tabLst>
                <a:tab pos="242888" algn="l"/>
              </a:tabLst>
            </a:pPr>
            <a:r>
              <a:rPr lang="en-US" sz="3200" b="1" dirty="0"/>
              <a:t>Interactive marketing </a:t>
            </a:r>
            <a:r>
              <a:rPr lang="en-US" sz="3200" dirty="0"/>
              <a:t>means that service quality depends heavily on the quality of the buyer</a:t>
            </a:r>
            <a:r>
              <a:rPr lang="en-US" sz="3200" dirty="0">
                <a:latin typeface="Times New Roman"/>
                <a:cs typeface="Times New Roman"/>
              </a:rPr>
              <a:t>–</a:t>
            </a:r>
            <a:r>
              <a:rPr lang="en-US" sz="3200" dirty="0"/>
              <a:t>seller interaction during the service encounter.</a:t>
            </a:r>
          </a:p>
          <a:p>
            <a:pPr marL="311150" indent="-311150">
              <a:tabLst>
                <a:tab pos="242888" algn="l"/>
              </a:tabLst>
            </a:pPr>
            <a:r>
              <a:rPr lang="en-US" sz="3200" dirty="0"/>
              <a:t>Service differentiation</a:t>
            </a:r>
          </a:p>
          <a:p>
            <a:pPr marL="311150" indent="-311150">
              <a:tabLst>
                <a:tab pos="242888" algn="l"/>
              </a:tabLst>
            </a:pPr>
            <a:r>
              <a:rPr lang="en-US" sz="3200" dirty="0"/>
              <a:t>Service quality</a:t>
            </a:r>
          </a:p>
          <a:p>
            <a:pPr marL="311150" indent="-311150">
              <a:tabLst>
                <a:tab pos="242888" algn="l"/>
              </a:tabLst>
            </a:pPr>
            <a:r>
              <a:rPr lang="en-US" sz="3200" dirty="0"/>
              <a:t>Service productivity.</a:t>
            </a:r>
            <a:endParaRPr lang="en-US" sz="2600" dirty="0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257785"/>
            <a:ext cx="7772400" cy="614881"/>
          </a:xfrm>
        </p:spPr>
        <p:txBody>
          <a:bodyPr/>
          <a:lstStyle/>
          <a:p>
            <a:r>
              <a:rPr lang="en-US" sz="3600" dirty="0">
                <a:solidFill>
                  <a:srgbClr val="007FA3"/>
                </a:solidFill>
              </a:rPr>
              <a:t>Services marketing (Continued)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2975915" y="1416627"/>
            <a:ext cx="6240173" cy="609600"/>
          </a:xfrm>
        </p:spPr>
        <p:txBody>
          <a:bodyPr/>
          <a:lstStyle/>
          <a:p>
            <a:r>
              <a:rPr lang="en-US" dirty="0"/>
              <a:t>Marketing strategies for service firms</a:t>
            </a:r>
          </a:p>
        </p:txBody>
      </p:sp>
    </p:spTree>
    <p:extLst>
      <p:ext uri="{BB962C8B-B14F-4D97-AF65-F5344CB8AC3E}">
        <p14:creationId xmlns:p14="http://schemas.microsoft.com/office/powerpoint/2010/main" val="2011664912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152400"/>
            <a:ext cx="8229600" cy="1143000"/>
          </a:xfrm>
        </p:spPr>
        <p:txBody>
          <a:bodyPr vert="horz" wrap="square" lIns="103236" tIns="51618" rIns="103236" bIns="51618" numCol="1" anchor="ctr" anchorCtr="0" compatLnSpc="1">
            <a:prstTxWarp prst="textNoShape">
              <a:avLst/>
            </a:prstTxWarp>
          </a:bodyPr>
          <a:lstStyle/>
          <a:p>
            <a:br>
              <a:rPr lang="en-US" sz="1800"/>
            </a:br>
            <a:r>
              <a:rPr lang="en-US"/>
              <a:t>The Service Marketing Triangle</a:t>
            </a:r>
          </a:p>
        </p:txBody>
      </p:sp>
      <p:sp>
        <p:nvSpPr>
          <p:cNvPr id="24579" name="Freeform 4"/>
          <p:cNvSpPr>
            <a:spLocks/>
          </p:cNvSpPr>
          <p:nvPr/>
        </p:nvSpPr>
        <p:spPr bwMode="auto">
          <a:xfrm>
            <a:off x="3821113" y="2230438"/>
            <a:ext cx="2271712" cy="3605212"/>
          </a:xfrm>
          <a:custGeom>
            <a:avLst/>
            <a:gdLst>
              <a:gd name="T0" fmla="*/ 943 w 2829"/>
              <a:gd name="T1" fmla="*/ 2709 h 3161"/>
              <a:gd name="T2" fmla="*/ 0 w 2829"/>
              <a:gd name="T3" fmla="*/ 3161 h 3161"/>
              <a:gd name="T4" fmla="*/ 2829 w 2829"/>
              <a:gd name="T5" fmla="*/ 0 h 3161"/>
              <a:gd name="T6" fmla="*/ 2829 w 2829"/>
              <a:gd name="T7" fmla="*/ 631 h 3161"/>
              <a:gd name="T8" fmla="*/ 943 w 2829"/>
              <a:gd name="T9" fmla="*/ 2709 h 316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829"/>
              <a:gd name="T16" fmla="*/ 0 h 3161"/>
              <a:gd name="T17" fmla="*/ 2829 w 2829"/>
              <a:gd name="T18" fmla="*/ 3161 h 316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829" h="3161">
                <a:moveTo>
                  <a:pt x="943" y="2709"/>
                </a:moveTo>
                <a:lnTo>
                  <a:pt x="0" y="3161"/>
                </a:lnTo>
                <a:lnTo>
                  <a:pt x="2829" y="0"/>
                </a:lnTo>
                <a:lnTo>
                  <a:pt x="2829" y="631"/>
                </a:lnTo>
                <a:lnTo>
                  <a:pt x="943" y="2709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 w="11176">
            <a:solidFill>
              <a:srgbClr val="000000"/>
            </a:solidFill>
            <a:round/>
            <a:headEnd/>
            <a:tailEnd/>
          </a:ln>
        </p:spPr>
        <p:txBody>
          <a:bodyPr lIns="103236" tIns="51618" rIns="103236" bIns="51618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Lucida Sans Unicode" pitchFamily="34" charset="0"/>
            </a:endParaRPr>
          </a:p>
        </p:txBody>
      </p:sp>
      <p:sp>
        <p:nvSpPr>
          <p:cNvPr id="24580" name="Freeform 5"/>
          <p:cNvSpPr>
            <a:spLocks/>
          </p:cNvSpPr>
          <p:nvPr/>
        </p:nvSpPr>
        <p:spPr bwMode="auto">
          <a:xfrm>
            <a:off x="3890963" y="5424488"/>
            <a:ext cx="4411662" cy="412750"/>
          </a:xfrm>
          <a:custGeom>
            <a:avLst/>
            <a:gdLst>
              <a:gd name="T0" fmla="*/ 944 w 5564"/>
              <a:gd name="T1" fmla="*/ 0 h 451"/>
              <a:gd name="T2" fmla="*/ 4620 w 5564"/>
              <a:gd name="T3" fmla="*/ 0 h 451"/>
              <a:gd name="T4" fmla="*/ 5564 w 5564"/>
              <a:gd name="T5" fmla="*/ 451 h 451"/>
              <a:gd name="T6" fmla="*/ 0 w 5564"/>
              <a:gd name="T7" fmla="*/ 451 h 451"/>
              <a:gd name="T8" fmla="*/ 944 w 5564"/>
              <a:gd name="T9" fmla="*/ 0 h 45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564"/>
              <a:gd name="T16" fmla="*/ 0 h 451"/>
              <a:gd name="T17" fmla="*/ 5564 w 5564"/>
              <a:gd name="T18" fmla="*/ 451 h 45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564" h="451">
                <a:moveTo>
                  <a:pt x="944" y="0"/>
                </a:moveTo>
                <a:lnTo>
                  <a:pt x="4620" y="0"/>
                </a:lnTo>
                <a:lnTo>
                  <a:pt x="5564" y="451"/>
                </a:lnTo>
                <a:lnTo>
                  <a:pt x="0" y="451"/>
                </a:lnTo>
                <a:lnTo>
                  <a:pt x="94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 w="11176">
            <a:solidFill>
              <a:srgbClr val="000000"/>
            </a:solidFill>
            <a:round/>
            <a:headEnd/>
            <a:tailEnd/>
          </a:ln>
        </p:spPr>
        <p:txBody>
          <a:bodyPr lIns="103236" tIns="51618" rIns="103236" bIns="51618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Lucida Sans Unicode" pitchFamily="34" charset="0"/>
            </a:endParaRPr>
          </a:p>
        </p:txBody>
      </p:sp>
      <p:sp>
        <p:nvSpPr>
          <p:cNvPr id="24581" name="Freeform 6"/>
          <p:cNvSpPr>
            <a:spLocks/>
          </p:cNvSpPr>
          <p:nvPr/>
        </p:nvSpPr>
        <p:spPr bwMode="auto">
          <a:xfrm>
            <a:off x="6176963" y="2230438"/>
            <a:ext cx="2201862" cy="3605212"/>
          </a:xfrm>
          <a:custGeom>
            <a:avLst/>
            <a:gdLst>
              <a:gd name="T0" fmla="*/ 1887 w 2829"/>
              <a:gd name="T1" fmla="*/ 2709 h 3161"/>
              <a:gd name="T2" fmla="*/ 2829 w 2829"/>
              <a:gd name="T3" fmla="*/ 3161 h 3161"/>
              <a:gd name="T4" fmla="*/ 0 w 2829"/>
              <a:gd name="T5" fmla="*/ 0 h 3161"/>
              <a:gd name="T6" fmla="*/ 0 w 2829"/>
              <a:gd name="T7" fmla="*/ 631 h 3161"/>
              <a:gd name="T8" fmla="*/ 1887 w 2829"/>
              <a:gd name="T9" fmla="*/ 2709 h 316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829"/>
              <a:gd name="T16" fmla="*/ 0 h 3161"/>
              <a:gd name="T17" fmla="*/ 2829 w 2829"/>
              <a:gd name="T18" fmla="*/ 3161 h 316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829" h="3161">
                <a:moveTo>
                  <a:pt x="1887" y="2709"/>
                </a:moveTo>
                <a:lnTo>
                  <a:pt x="2829" y="3161"/>
                </a:lnTo>
                <a:lnTo>
                  <a:pt x="0" y="0"/>
                </a:lnTo>
                <a:lnTo>
                  <a:pt x="0" y="631"/>
                </a:lnTo>
                <a:lnTo>
                  <a:pt x="1887" y="2709"/>
                </a:lnTo>
                <a:close/>
              </a:path>
            </a:pathLst>
          </a:custGeom>
          <a:solidFill>
            <a:schemeClr val="bg2">
              <a:lumMod val="50000"/>
            </a:schemeClr>
          </a:solidFill>
          <a:ln w="11176">
            <a:solidFill>
              <a:srgbClr val="000000"/>
            </a:solidFill>
            <a:round/>
            <a:headEnd/>
            <a:tailEnd/>
          </a:ln>
        </p:spPr>
        <p:txBody>
          <a:bodyPr lIns="103236" tIns="51618" rIns="103236" bIns="51618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Lucida Sans Unicode" pitchFamily="34" charset="0"/>
            </a:endParaRPr>
          </a:p>
        </p:txBody>
      </p:sp>
      <p:sp>
        <p:nvSpPr>
          <p:cNvPr id="24582" name="Rectangle 7"/>
          <p:cNvSpPr>
            <a:spLocks noChangeArrowheads="1"/>
          </p:cNvSpPr>
          <p:nvPr/>
        </p:nvSpPr>
        <p:spPr bwMode="auto">
          <a:xfrm>
            <a:off x="1936751" y="3549651"/>
            <a:ext cx="3154363" cy="42862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lIns="102161" tIns="50184" rIns="102161" bIns="50184">
            <a:spAutoFit/>
          </a:bodyPr>
          <a:lstStyle/>
          <a:p>
            <a:pPr algn="ctr" fontAlgn="auto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2300" b="1" dirty="0">
                <a:solidFill>
                  <a:schemeClr val="accent6">
                    <a:lumMod val="75000"/>
                  </a:schemeClr>
                </a:solidFill>
                <a:latin typeface="Lucida Sans Unicode" pitchFamily="34" charset="0"/>
              </a:rPr>
              <a:t>Internal Marketing</a:t>
            </a:r>
          </a:p>
        </p:txBody>
      </p:sp>
      <p:sp>
        <p:nvSpPr>
          <p:cNvPr id="24583" name="Rectangle 8"/>
          <p:cNvSpPr>
            <a:spLocks noChangeArrowheads="1"/>
          </p:cNvSpPr>
          <p:nvPr/>
        </p:nvSpPr>
        <p:spPr bwMode="auto">
          <a:xfrm>
            <a:off x="4159251" y="5867401"/>
            <a:ext cx="3768725" cy="42862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lIns="102161" tIns="50184" rIns="102161" bIns="50184">
            <a:spAutoFit/>
          </a:bodyPr>
          <a:lstStyle/>
          <a:p>
            <a:pPr algn="ctr" fontAlgn="auto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2300" b="1">
                <a:solidFill>
                  <a:schemeClr val="accent6">
                    <a:lumMod val="75000"/>
                  </a:schemeClr>
                </a:solidFill>
                <a:latin typeface="Lucida Sans Unicode" pitchFamily="34" charset="0"/>
              </a:rPr>
              <a:t>Interactive Marketing</a:t>
            </a:r>
          </a:p>
        </p:txBody>
      </p:sp>
      <p:sp>
        <p:nvSpPr>
          <p:cNvPr id="24584" name="Rectangle 9"/>
          <p:cNvSpPr>
            <a:spLocks noChangeArrowheads="1"/>
          </p:cNvSpPr>
          <p:nvPr/>
        </p:nvSpPr>
        <p:spPr bwMode="auto">
          <a:xfrm>
            <a:off x="7207250" y="3549651"/>
            <a:ext cx="3016250" cy="42862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lIns="102161" tIns="50184" rIns="102161" bIns="50184">
            <a:spAutoFit/>
          </a:bodyPr>
          <a:lstStyle/>
          <a:p>
            <a:pPr algn="ctr" fontAlgn="auto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2300" b="1">
                <a:solidFill>
                  <a:schemeClr val="accent6">
                    <a:lumMod val="75000"/>
                  </a:schemeClr>
                </a:solidFill>
                <a:latin typeface="Lucida Sans Unicode" pitchFamily="34" charset="0"/>
              </a:rPr>
              <a:t>External Marketing</a:t>
            </a:r>
          </a:p>
        </p:txBody>
      </p:sp>
      <p:sp>
        <p:nvSpPr>
          <p:cNvPr id="2" name="Rectangle 10"/>
          <p:cNvSpPr>
            <a:spLocks noChangeArrowheads="1"/>
          </p:cNvSpPr>
          <p:nvPr/>
        </p:nvSpPr>
        <p:spPr bwMode="auto">
          <a:xfrm>
            <a:off x="4860517" y="1436689"/>
            <a:ext cx="2594792" cy="84924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102161" tIns="50184" rIns="102161" bIns="50184">
            <a:spAutoFit/>
          </a:bodyPr>
          <a:lstStyle/>
          <a:p>
            <a:pPr algn="ctr" eaLnBrk="0" hangingPunct="0">
              <a:lnSpc>
                <a:spcPct val="90000"/>
              </a:lnSpc>
            </a:pPr>
            <a:r>
              <a:rPr lang="en-US" sz="2700" b="1">
                <a:latin typeface="Lucida Sans Unicode" pitchFamily="34" charset="0"/>
              </a:rPr>
              <a:t>Company</a:t>
            </a:r>
          </a:p>
          <a:p>
            <a:pPr algn="ctr" eaLnBrk="0" hangingPunct="0">
              <a:lnSpc>
                <a:spcPct val="90000"/>
              </a:lnSpc>
            </a:pPr>
            <a:r>
              <a:rPr lang="en-US" sz="2700" b="1">
                <a:latin typeface="Lucida Sans Unicode" pitchFamily="34" charset="0"/>
              </a:rPr>
              <a:t>(Management)</a:t>
            </a:r>
          </a:p>
        </p:txBody>
      </p:sp>
      <p:sp>
        <p:nvSpPr>
          <p:cNvPr id="24585" name="Rectangle 11"/>
          <p:cNvSpPr>
            <a:spLocks noChangeArrowheads="1"/>
          </p:cNvSpPr>
          <p:nvPr/>
        </p:nvSpPr>
        <p:spPr bwMode="auto">
          <a:xfrm>
            <a:off x="8393114" y="5475289"/>
            <a:ext cx="2014537" cy="4857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102161" tIns="50184" rIns="102161" bIns="50184">
            <a:spAutoFit/>
          </a:bodyPr>
          <a:lstStyle/>
          <a:p>
            <a:pPr eaLnBrk="0" hangingPunct="0">
              <a:lnSpc>
                <a:spcPct val="90000"/>
              </a:lnSpc>
            </a:pPr>
            <a:r>
              <a:rPr lang="en-US" sz="2700" b="1">
                <a:latin typeface="Lucida Sans Unicode" pitchFamily="34" charset="0"/>
              </a:rPr>
              <a:t>Customers</a:t>
            </a:r>
          </a:p>
        </p:txBody>
      </p:sp>
      <p:sp>
        <p:nvSpPr>
          <p:cNvPr id="24586" name="Rectangle 12"/>
          <p:cNvSpPr>
            <a:spLocks noChangeArrowheads="1"/>
          </p:cNvSpPr>
          <p:nvPr/>
        </p:nvSpPr>
        <p:spPr bwMode="auto">
          <a:xfrm>
            <a:off x="2051050" y="5441951"/>
            <a:ext cx="1758950" cy="485775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 wrap="none" lIns="102161" tIns="50184" rIns="102161" bIns="50184">
            <a:spAutoFit/>
          </a:bodyPr>
          <a:lstStyle/>
          <a:p>
            <a:pPr eaLnBrk="0" hangingPunct="0">
              <a:lnSpc>
                <a:spcPct val="90000"/>
              </a:lnSpc>
            </a:pPr>
            <a:r>
              <a:rPr lang="en-US" sz="2700" b="1">
                <a:latin typeface="Lucida Sans Unicode" pitchFamily="34" charset="0"/>
              </a:rPr>
              <a:t>Providers</a:t>
            </a:r>
          </a:p>
        </p:txBody>
      </p:sp>
      <p:sp>
        <p:nvSpPr>
          <p:cNvPr id="24587" name="Rectangle 13"/>
          <p:cNvSpPr>
            <a:spLocks noChangeArrowheads="1"/>
          </p:cNvSpPr>
          <p:nvPr/>
        </p:nvSpPr>
        <p:spPr bwMode="auto">
          <a:xfrm>
            <a:off x="2147888" y="3878264"/>
            <a:ext cx="2773362" cy="35718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102161" tIns="50184" rIns="102161" bIns="50184">
            <a:spAutoFit/>
          </a:bodyPr>
          <a:lstStyle/>
          <a:p>
            <a:pPr algn="ctr" eaLnBrk="0" hangingPunct="0">
              <a:lnSpc>
                <a:spcPct val="90000"/>
              </a:lnSpc>
            </a:pPr>
            <a:r>
              <a:rPr lang="en-US" i="1">
                <a:latin typeface="Lucida Sans Unicode" pitchFamily="34" charset="0"/>
              </a:rPr>
              <a:t>“Enabling the promise”</a:t>
            </a:r>
          </a:p>
        </p:txBody>
      </p:sp>
      <p:sp>
        <p:nvSpPr>
          <p:cNvPr id="24588" name="Rectangle 14"/>
          <p:cNvSpPr>
            <a:spLocks noChangeArrowheads="1"/>
          </p:cNvSpPr>
          <p:nvPr/>
        </p:nvSpPr>
        <p:spPr bwMode="auto">
          <a:xfrm>
            <a:off x="4413251" y="6272214"/>
            <a:ext cx="3217863" cy="35718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102161" tIns="50184" rIns="102161" bIns="50184">
            <a:spAutoFit/>
          </a:bodyPr>
          <a:lstStyle/>
          <a:p>
            <a:pPr algn="ctr" eaLnBrk="0" hangingPunct="0">
              <a:lnSpc>
                <a:spcPct val="90000"/>
              </a:lnSpc>
            </a:pPr>
            <a:r>
              <a:rPr lang="en-US" i="1">
                <a:latin typeface="Lucida Sans Unicode" pitchFamily="34" charset="0"/>
              </a:rPr>
              <a:t>“Delivering the promise”</a:t>
            </a:r>
          </a:p>
        </p:txBody>
      </p:sp>
      <p:sp>
        <p:nvSpPr>
          <p:cNvPr id="24589" name="Rectangle 15"/>
          <p:cNvSpPr>
            <a:spLocks noChangeArrowheads="1"/>
          </p:cNvSpPr>
          <p:nvPr/>
        </p:nvSpPr>
        <p:spPr bwMode="auto">
          <a:xfrm>
            <a:off x="7461250" y="3876676"/>
            <a:ext cx="2560638" cy="6000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102161" tIns="50184" rIns="102161" bIns="50184">
            <a:spAutoFit/>
          </a:bodyPr>
          <a:lstStyle/>
          <a:p>
            <a:pPr algn="ctr" eaLnBrk="0" hangingPunct="0">
              <a:lnSpc>
                <a:spcPct val="90000"/>
              </a:lnSpc>
            </a:pPr>
            <a:r>
              <a:rPr lang="en-US" i="1">
                <a:latin typeface="Lucida Sans Unicode" pitchFamily="34" charset="0"/>
              </a:rPr>
              <a:t>“Making the promise”</a:t>
            </a:r>
          </a:p>
        </p:txBody>
      </p:sp>
      <p:sp>
        <p:nvSpPr>
          <p:cNvPr id="24590" name="Rectangle 17"/>
          <p:cNvSpPr>
            <a:spLocks noChangeArrowheads="1"/>
          </p:cNvSpPr>
          <p:nvPr/>
        </p:nvSpPr>
        <p:spPr bwMode="auto">
          <a:xfrm>
            <a:off x="1828800" y="6629401"/>
            <a:ext cx="5962650" cy="258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3236" tIns="51618" rIns="103236" bIns="51618">
            <a:spAutoFit/>
          </a:bodyPr>
          <a:lstStyle/>
          <a:p>
            <a:pPr defTabSz="912813"/>
            <a:r>
              <a:rPr lang="en-US" sz="1000" i="1">
                <a:latin typeface="Lucida Sans Unicode" pitchFamily="34" charset="0"/>
              </a:rPr>
              <a:t> Source</a:t>
            </a:r>
            <a:r>
              <a:rPr lang="en-US" sz="1000">
                <a:latin typeface="Lucida Sans Unicode" pitchFamily="34" charset="0"/>
              </a:rPr>
              <a:t>:  Adapted from Mary Jo Bitner, Christian Gronroos, and Philip Kotler</a:t>
            </a:r>
          </a:p>
        </p:txBody>
      </p:sp>
      <p:sp>
        <p:nvSpPr>
          <p:cNvPr id="24593" name="Rectangle 21"/>
          <p:cNvSpPr>
            <a:spLocks noChangeArrowheads="1"/>
          </p:cNvSpPr>
          <p:nvPr/>
        </p:nvSpPr>
        <p:spPr bwMode="auto">
          <a:xfrm>
            <a:off x="8458200" y="64008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r>
              <a:rPr lang="en-US" sz="1000">
                <a:solidFill>
                  <a:srgbClr val="51253A"/>
                </a:solidFill>
                <a:latin typeface="Times New Roman" pitchFamily="18" charset="0"/>
              </a:rPr>
              <a:t>11-</a:t>
            </a:r>
            <a:fld id="{4EEC867A-6B15-44F7-A584-0B1095A5FA0F}" type="slidenum">
              <a:rPr lang="en-US" sz="1000">
                <a:solidFill>
                  <a:srgbClr val="51253A"/>
                </a:solidFill>
                <a:latin typeface="Times New Roman" pitchFamily="18" charset="0"/>
              </a:rPr>
              <a:pPr algn="r"/>
              <a:t>17</a:t>
            </a:fld>
            <a:endParaRPr lang="en-US" sz="1000">
              <a:solidFill>
                <a:srgbClr val="51253A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15913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3"/>
          <p:cNvSpPr>
            <a:spLocks noGrp="1" noChangeArrowheads="1"/>
          </p:cNvSpPr>
          <p:nvPr>
            <p:ph idx="1"/>
          </p:nvPr>
        </p:nvSpPr>
        <p:spPr>
          <a:xfrm>
            <a:off x="2718955" y="1923670"/>
            <a:ext cx="7086600" cy="4934330"/>
          </a:xfrm>
        </p:spPr>
        <p:txBody>
          <a:bodyPr/>
          <a:lstStyle/>
          <a:p>
            <a:pPr marL="320675" indent="-320675">
              <a:buNone/>
            </a:pPr>
            <a:r>
              <a:rPr lang="en-US" sz="3200" b="1" dirty="0"/>
              <a:t>Managing service differentiation</a:t>
            </a:r>
            <a:r>
              <a:rPr lang="en-US" sz="3200" dirty="0"/>
              <a:t> creates a competitive advantage from the offer, delivery and image of the service.</a:t>
            </a:r>
          </a:p>
          <a:p>
            <a:pPr marL="301625" indent="-301625"/>
            <a:r>
              <a:rPr lang="en-US" sz="3200" b="1" dirty="0"/>
              <a:t>Offer</a:t>
            </a:r>
            <a:r>
              <a:rPr lang="en-US" sz="3200" dirty="0"/>
              <a:t> can include distinctive features(</a:t>
            </a:r>
            <a:r>
              <a:rPr lang="en-US" sz="3200" b="1" dirty="0" err="1"/>
              <a:t>Customisation</a:t>
            </a:r>
            <a:r>
              <a:rPr lang="en-US" sz="3200" dirty="0"/>
              <a:t>).</a:t>
            </a:r>
          </a:p>
          <a:p>
            <a:pPr marL="301625" indent="-301625"/>
            <a:r>
              <a:rPr lang="en-US" sz="3200" b="1" dirty="0"/>
              <a:t>Delivery</a:t>
            </a:r>
            <a:r>
              <a:rPr lang="en-US" sz="3200" dirty="0"/>
              <a:t> can include more able and reliable customer contact people, environment or process.</a:t>
            </a:r>
          </a:p>
          <a:p>
            <a:pPr marL="311150" indent="-311150"/>
            <a:r>
              <a:rPr lang="en-US" sz="3200" b="1" dirty="0"/>
              <a:t>Image</a:t>
            </a:r>
            <a:r>
              <a:rPr lang="en-US" sz="3200" dirty="0"/>
              <a:t> can include symbols and </a:t>
            </a:r>
            <a:r>
              <a:rPr lang="en-US" sz="3200" b="1" dirty="0"/>
              <a:t>branding</a:t>
            </a:r>
            <a:r>
              <a:rPr lang="en-US" sz="3200" dirty="0"/>
              <a:t>.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2423984" y="1093368"/>
            <a:ext cx="7162800" cy="609600"/>
          </a:xfrm>
        </p:spPr>
        <p:txBody>
          <a:bodyPr/>
          <a:lstStyle/>
          <a:p>
            <a:r>
              <a:rPr lang="en-US" dirty="0"/>
              <a:t>Marketing strategies for service firms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257785"/>
            <a:ext cx="7772400" cy="614881"/>
          </a:xfrm>
        </p:spPr>
        <p:txBody>
          <a:bodyPr/>
          <a:lstStyle/>
          <a:p>
            <a:r>
              <a:rPr lang="en-US" sz="3600" dirty="0">
                <a:solidFill>
                  <a:srgbClr val="007FA3"/>
                </a:solidFill>
              </a:rPr>
              <a:t>Services marketing (Continued)</a:t>
            </a:r>
          </a:p>
        </p:txBody>
      </p:sp>
    </p:spTree>
    <p:extLst>
      <p:ext uri="{BB962C8B-B14F-4D97-AF65-F5344CB8AC3E}">
        <p14:creationId xmlns:p14="http://schemas.microsoft.com/office/powerpoint/2010/main" val="20824497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3"/>
          <p:cNvSpPr>
            <a:spLocks noGrp="1" noChangeArrowheads="1"/>
          </p:cNvSpPr>
          <p:nvPr>
            <p:ph idx="1"/>
          </p:nvPr>
        </p:nvSpPr>
        <p:spPr>
          <a:xfrm>
            <a:off x="2710142" y="1824816"/>
            <a:ext cx="7192226" cy="4341125"/>
          </a:xfrm>
        </p:spPr>
        <p:txBody>
          <a:bodyPr/>
          <a:lstStyle/>
          <a:p>
            <a:r>
              <a:rPr lang="en-US" sz="3200" b="1" dirty="0"/>
              <a:t>Managing service quality</a:t>
            </a:r>
            <a:r>
              <a:rPr lang="en-US" sz="3200" dirty="0"/>
              <a:t> provides a competitive advantage by delivering consistently higher quality than its competitors.</a:t>
            </a:r>
          </a:p>
          <a:p>
            <a:r>
              <a:rPr lang="en-US" sz="3200" dirty="0"/>
              <a:t>Service quality always varies depending on interactions between employees and customers.</a:t>
            </a:r>
          </a:p>
          <a:p>
            <a:pPr marL="533400" indent="-533400">
              <a:buNone/>
            </a:pPr>
            <a:endParaRPr lang="en-US" dirty="0"/>
          </a:p>
        </p:txBody>
      </p:sp>
      <p:sp>
        <p:nvSpPr>
          <p:cNvPr id="81923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2514600" y="1043941"/>
            <a:ext cx="7162800" cy="609600"/>
          </a:xfrm>
        </p:spPr>
        <p:txBody>
          <a:bodyPr/>
          <a:lstStyle/>
          <a:p>
            <a:r>
              <a:rPr lang="en-US" dirty="0"/>
              <a:t>Marketing strategies for service firms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257785"/>
            <a:ext cx="7772400" cy="614881"/>
          </a:xfrm>
        </p:spPr>
        <p:txBody>
          <a:bodyPr/>
          <a:lstStyle/>
          <a:p>
            <a:r>
              <a:rPr lang="en-US" sz="3600" dirty="0">
                <a:solidFill>
                  <a:srgbClr val="007FA3"/>
                </a:solidFill>
              </a:rPr>
              <a:t>Services marketing (Continued)</a:t>
            </a:r>
          </a:p>
        </p:txBody>
      </p:sp>
    </p:spTree>
    <p:extLst>
      <p:ext uri="{BB962C8B-B14F-4D97-AF65-F5344CB8AC3E}">
        <p14:creationId xmlns:p14="http://schemas.microsoft.com/office/powerpoint/2010/main" val="589643177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"/>
          <p:cNvSpPr>
            <a:spLocks noChangeArrowheads="1"/>
          </p:cNvSpPr>
          <p:nvPr/>
        </p:nvSpPr>
        <p:spPr bwMode="auto">
          <a:xfrm>
            <a:off x="1524001" y="-22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  <p:sp>
        <p:nvSpPr>
          <p:cNvPr id="31747" name="TextBox 9"/>
          <p:cNvSpPr txBox="1">
            <a:spLocks noChangeArrowheads="1"/>
          </p:cNvSpPr>
          <p:nvPr/>
        </p:nvSpPr>
        <p:spPr bwMode="auto">
          <a:xfrm>
            <a:off x="1524000" y="293371"/>
            <a:ext cx="9144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2800" b="1">
                <a:solidFill>
                  <a:srgbClr val="FF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Approaches to Service Quality Measurement</a:t>
            </a:r>
          </a:p>
        </p:txBody>
      </p:sp>
      <p:sp>
        <p:nvSpPr>
          <p:cNvPr id="15364" name="Rectangle 5"/>
          <p:cNvSpPr>
            <a:spLocks noChangeArrowheads="1"/>
          </p:cNvSpPr>
          <p:nvPr/>
        </p:nvSpPr>
        <p:spPr bwMode="auto">
          <a:xfrm>
            <a:off x="4521200" y="4076701"/>
            <a:ext cx="5741988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rgbClr val="000000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000000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0000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0000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0000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0000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0000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fontAlgn="auto"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altLang="en-US" sz="1600" dirty="0">
                <a:latin typeface="+mn-lt"/>
              </a:rPr>
              <a:t>Seeks to compare the performance of the different elements that make up a service with the customer’s perception of the relative importance of these elements. IPA (importance-performance analysis) is the standard measurement technique</a:t>
            </a:r>
            <a:r>
              <a:rPr lang="en-US" altLang="en-US" sz="1600" dirty="0">
                <a:solidFill>
                  <a:schemeClr val="tx1"/>
                </a:solidFill>
              </a:rPr>
              <a:t>.</a:t>
            </a:r>
            <a:endParaRPr lang="en-GB" altLang="en-US" sz="1600" dirty="0">
              <a:solidFill>
                <a:schemeClr val="tx1"/>
              </a:solidFill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3601331"/>
              </p:ext>
            </p:extLst>
          </p:nvPr>
        </p:nvGraphicFramePr>
        <p:xfrm>
          <a:off x="4521200" y="1493838"/>
          <a:ext cx="5702300" cy="2509920"/>
        </p:xfrm>
        <a:graphic>
          <a:graphicData uri="http://schemas.openxmlformats.org/drawingml/2006/table">
            <a:tbl>
              <a:tblPr/>
              <a:tblGrid>
                <a:gridCol w="5702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4126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Derived from the manufacturing sector this approach simply asks customers to rate the performance of a service encounter. SERVPERF is the standard measurement technique.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GB" sz="18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75" marR="68575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719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</a:rPr>
                        <a:t>This approach is based on the difference between what was expected from a service and was delivered, as perceived by the customer. SERVQUAL is the standard measurement technique.</a:t>
                      </a:r>
                      <a:endParaRPr lang="en-GB" sz="1800" dirty="0">
                        <a:solidFill>
                          <a:srgbClr val="00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75" marR="68575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82305" name="Rectangle 1"/>
          <p:cNvSpPr>
            <a:spLocks noChangeArrowheads="1"/>
          </p:cNvSpPr>
          <p:nvPr/>
        </p:nvSpPr>
        <p:spPr bwMode="auto">
          <a:xfrm>
            <a:off x="1524000" y="4192220"/>
            <a:ext cx="2078038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solidFill>
                  <a:srgbClr val="FF0000"/>
                </a:solidFill>
                <a:latin typeface="+mn-lt"/>
                <a:ea typeface="Times New Roman" pitchFamily="18" charset="0"/>
                <a:cs typeface="+mn-cs"/>
              </a:rPr>
              <a:t>Importance-</a:t>
            </a:r>
            <a:endParaRPr lang="en-GB" sz="2400" b="1" dirty="0">
              <a:solidFill>
                <a:srgbClr val="FF0000"/>
              </a:solidFill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solidFill>
                  <a:srgbClr val="FF0000"/>
                </a:solidFill>
                <a:latin typeface="+mn-lt"/>
                <a:ea typeface="Times New Roman" pitchFamily="18" charset="0"/>
                <a:cs typeface="+mn-cs"/>
              </a:rPr>
              <a:t>Performance</a:t>
            </a:r>
            <a:endParaRPr lang="en-US" sz="2400" b="1" dirty="0">
              <a:solidFill>
                <a:srgbClr val="FF0000"/>
              </a:solidFill>
              <a:latin typeface="+mn-lt"/>
              <a:cs typeface="+mn-cs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8009796"/>
              </p:ext>
            </p:extLst>
          </p:nvPr>
        </p:nvGraphicFramePr>
        <p:xfrm>
          <a:off x="1524000" y="1538288"/>
          <a:ext cx="2316480" cy="2138362"/>
        </p:xfrm>
        <a:graphic>
          <a:graphicData uri="http://schemas.openxmlformats.org/drawingml/2006/table">
            <a:tbl>
              <a:tblPr/>
              <a:tblGrid>
                <a:gridCol w="2316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42557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latin typeface="+mn-lt"/>
                          <a:ea typeface="Times New Roman"/>
                        </a:rPr>
                        <a:t>Performance measures</a:t>
                      </a:r>
                      <a:endParaRPr lang="en-GB" sz="2400" b="1" dirty="0">
                        <a:solidFill>
                          <a:srgbClr val="FF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78" marR="68578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278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latin typeface="+mn-lt"/>
                          <a:ea typeface="Times New Roman"/>
                        </a:rPr>
                        <a:t>Disconfirmation</a:t>
                      </a:r>
                      <a:endParaRPr lang="en-GB" sz="2400" b="1" dirty="0">
                        <a:solidFill>
                          <a:srgbClr val="FF0000"/>
                        </a:solidFill>
                        <a:latin typeface="+mn-lt"/>
                        <a:ea typeface="Times New Roman"/>
                      </a:endParaRPr>
                    </a:p>
                  </a:txBody>
                  <a:tcPr marL="68578" marR="68578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26968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>
          <a:xfrm>
            <a:off x="2225675" y="233363"/>
            <a:ext cx="7772400" cy="838200"/>
          </a:xfrm>
        </p:spPr>
        <p:txBody>
          <a:bodyPr/>
          <a:lstStyle/>
          <a:p>
            <a:pPr eaLnBrk="1" hangingPunct="1"/>
            <a:r>
              <a:rPr lang="en-GB" altLang="en-US">
                <a:solidFill>
                  <a:srgbClr val="FF0000"/>
                </a:solidFill>
                <a:ea typeface="ＭＳ Ｐゴシック" panose="020B0600070205080204" pitchFamily="34" charset="-128"/>
              </a:rPr>
              <a:t>Service Quality Gap Model</a:t>
            </a:r>
          </a:p>
        </p:txBody>
      </p:sp>
      <p:pic>
        <p:nvPicPr>
          <p:cNvPr id="32771" name="Picture 5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53298" y="1071563"/>
            <a:ext cx="8844777" cy="567522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32772" name="TextBox 4"/>
          <p:cNvSpPr txBox="1">
            <a:spLocks noChangeArrowheads="1"/>
          </p:cNvSpPr>
          <p:nvPr/>
        </p:nvSpPr>
        <p:spPr bwMode="auto">
          <a:xfrm>
            <a:off x="7188200" y="6318249"/>
            <a:ext cx="2809875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400" dirty="0">
                <a:latin typeface="Arial" panose="020B0604020202020204" pitchFamily="34" charset="0"/>
                <a:ea typeface="ＭＳ Ｐゴシック" panose="020B0600070205080204" pitchFamily="34" charset="-128"/>
              </a:rPr>
              <a:t>Source: </a:t>
            </a:r>
            <a:r>
              <a:rPr lang="en-GB" altLang="en-US" sz="1400" dirty="0" err="1">
                <a:latin typeface="Arial" panose="020B0604020202020204" pitchFamily="34" charset="0"/>
                <a:ea typeface="ＭＳ Ｐゴシック" panose="020B0600070205080204" pitchFamily="34" charset="-128"/>
              </a:rPr>
              <a:t>Parasuraman</a:t>
            </a:r>
            <a:r>
              <a:rPr lang="en-GB" altLang="en-US" sz="1400" dirty="0">
                <a:latin typeface="Arial" panose="020B0604020202020204" pitchFamily="34" charset="0"/>
                <a:ea typeface="ＭＳ Ｐゴシック" panose="020B0600070205080204" pitchFamily="34" charset="-128"/>
              </a:rPr>
              <a:t> et al. 1985</a:t>
            </a:r>
          </a:p>
        </p:txBody>
      </p:sp>
    </p:spTree>
    <p:extLst>
      <p:ext uri="{BB962C8B-B14F-4D97-AF65-F5344CB8AC3E}">
        <p14:creationId xmlns:p14="http://schemas.microsoft.com/office/powerpoint/2010/main" val="23285474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 Box 3"/>
          <p:cNvSpPr txBox="1">
            <a:spLocks noChangeArrowheads="1"/>
          </p:cNvSpPr>
          <p:nvPr/>
        </p:nvSpPr>
        <p:spPr bwMode="auto">
          <a:xfrm>
            <a:off x="1964896" y="1424203"/>
            <a:ext cx="8229600" cy="482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GB" altLang="en-US" sz="2000" dirty="0">
                <a:solidFill>
                  <a:srgbClr val="FF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SERVQUAL</a:t>
            </a:r>
            <a:r>
              <a:rPr lang="en-GB" altLang="en-US" sz="2000" dirty="0">
                <a:solidFill>
                  <a:srgbClr val="0033CC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 is a disconfirmation model and is based on the difference between the expected services and the actual perceived service. </a:t>
            </a:r>
            <a:endParaRPr lang="en-GB" altLang="en-US" sz="2000" dirty="0">
              <a:latin typeface="Times New Roman" panose="02020603050405020304" pitchFamily="18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GB" altLang="en-US" sz="2000" dirty="0">
                <a:solidFill>
                  <a:srgbClr val="0033CC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Using this </a:t>
            </a:r>
            <a:r>
              <a:rPr lang="en-GB" altLang="en-US" sz="2000" dirty="0">
                <a:solidFill>
                  <a:srgbClr val="FF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GAPS approach </a:t>
            </a:r>
            <a:r>
              <a:rPr lang="en-GB" altLang="en-US" sz="2000" dirty="0">
                <a:solidFill>
                  <a:srgbClr val="0033CC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five different dimensions of service-quality have been established. These are:</a:t>
            </a:r>
            <a:r>
              <a:rPr lang="en-GB" altLang="en-US" sz="2400" dirty="0">
                <a:solidFill>
                  <a:srgbClr val="0033CC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GB" altLang="en-US" sz="1800" dirty="0">
                <a:solidFill>
                  <a:srgbClr val="FF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Reliability </a:t>
            </a:r>
            <a:r>
              <a:rPr lang="en-GB" altLang="en-US" sz="1800" dirty="0">
                <a:solidFill>
                  <a:srgbClr val="0033C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–    the accuracy and dependability of repeated performances of 		service delivery. </a:t>
            </a:r>
          </a:p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en-GB" altLang="en-US" sz="1800" dirty="0">
                <a:solidFill>
                  <a:srgbClr val="FF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Responsiveness</a:t>
            </a:r>
            <a:r>
              <a:rPr lang="en-GB" altLang="en-US" sz="1800" dirty="0">
                <a:solidFill>
                  <a:srgbClr val="0033C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– the helpfulness and willingness of staff to provide prompt 		service.</a:t>
            </a:r>
          </a:p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en-GB" altLang="en-US" sz="1800" dirty="0">
                <a:solidFill>
                  <a:srgbClr val="FF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Assurance</a:t>
            </a:r>
            <a:r>
              <a:rPr lang="en-GB" altLang="en-US" sz="1800" dirty="0">
                <a:solidFill>
                  <a:srgbClr val="0033C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–  the courtesy, confidence and competence of employees.</a:t>
            </a:r>
          </a:p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en-GB" altLang="en-US" sz="1800" dirty="0">
                <a:solidFill>
                  <a:srgbClr val="FF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Empathy</a:t>
            </a:r>
            <a:r>
              <a:rPr lang="en-GB" altLang="en-US" sz="1800" dirty="0">
                <a:solidFill>
                  <a:srgbClr val="0033C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–     the ease and individualised care shown towards customers.</a:t>
            </a:r>
          </a:p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en-GB" altLang="en-US" sz="1800" dirty="0">
                <a:solidFill>
                  <a:srgbClr val="FF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Tangibles </a:t>
            </a:r>
            <a:r>
              <a:rPr lang="en-GB" altLang="en-US" sz="1800" dirty="0">
                <a:solidFill>
                  <a:srgbClr val="0033C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– the appearance of employees, the physical location and any 		facilities and equipment, and the communication materials.</a:t>
            </a:r>
          </a:p>
          <a:p>
            <a:pPr algn="just" eaLnBrk="1" hangingPunct="1">
              <a:spcBef>
                <a:spcPct val="50000"/>
              </a:spcBef>
              <a:buFontTx/>
              <a:buNone/>
            </a:pPr>
            <a:endParaRPr lang="en-GB" altLang="en-US" sz="1800" dirty="0">
              <a:solidFill>
                <a:srgbClr val="0033CC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>
          <a:xfrm>
            <a:off x="2063750" y="115889"/>
            <a:ext cx="7772400" cy="504825"/>
          </a:xfrm>
        </p:spPr>
        <p:txBody>
          <a:bodyPr rtlCol="0" anchor="t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GB" altLang="en-US" sz="3200" b="1" dirty="0">
                <a:solidFill>
                  <a:srgbClr val="FF0000"/>
                </a:solidFill>
                <a:ea typeface="ＭＳ Ｐゴシック" pitchFamily="34" charset="-128"/>
              </a:rPr>
              <a:t>SERVQUAL</a:t>
            </a:r>
          </a:p>
        </p:txBody>
      </p:sp>
    </p:spTree>
    <p:extLst>
      <p:ext uri="{BB962C8B-B14F-4D97-AF65-F5344CB8AC3E}">
        <p14:creationId xmlns:p14="http://schemas.microsoft.com/office/powerpoint/2010/main" val="10407360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3"/>
          <p:cNvSpPr>
            <a:spLocks noGrp="1" noChangeArrowheads="1"/>
          </p:cNvSpPr>
          <p:nvPr>
            <p:ph idx="1"/>
          </p:nvPr>
        </p:nvSpPr>
        <p:spPr>
          <a:xfrm>
            <a:off x="2209800" y="2690291"/>
            <a:ext cx="7888274" cy="2783942"/>
          </a:xfrm>
        </p:spPr>
        <p:txBody>
          <a:bodyPr/>
          <a:lstStyle/>
          <a:p>
            <a:pPr marL="301625" indent="-301625">
              <a:buNone/>
            </a:pPr>
            <a:r>
              <a:rPr lang="en-US" sz="3200" b="1" dirty="0"/>
              <a:t>Managing service productivity</a:t>
            </a:r>
            <a:r>
              <a:rPr lang="en-US" sz="3200" dirty="0"/>
              <a:t> refers to the cost side of marketing strategies for service firms</a:t>
            </a:r>
          </a:p>
          <a:p>
            <a:pPr marL="301625" indent="-301625"/>
            <a:r>
              <a:rPr lang="en-US" sz="3200" dirty="0"/>
              <a:t>Employee recruiting, hiring and training strategies.</a:t>
            </a:r>
          </a:p>
          <a:p>
            <a:pPr marL="301625" indent="-301625"/>
            <a:r>
              <a:rPr lang="en-US" sz="3200" dirty="0"/>
              <a:t>Service quantity and quality strateg</a:t>
            </a:r>
            <a:r>
              <a:rPr lang="en-US" dirty="0"/>
              <a:t>ies.</a:t>
            </a:r>
          </a:p>
        </p:txBody>
      </p:sp>
      <p:sp>
        <p:nvSpPr>
          <p:cNvPr id="83971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2209800" y="1463712"/>
            <a:ext cx="7162800" cy="609600"/>
          </a:xfrm>
        </p:spPr>
        <p:txBody>
          <a:bodyPr/>
          <a:lstStyle/>
          <a:p>
            <a:r>
              <a:rPr lang="en-US" dirty="0"/>
              <a:t>Marketing strategies for service firms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257785"/>
            <a:ext cx="7772400" cy="614881"/>
          </a:xfrm>
        </p:spPr>
        <p:txBody>
          <a:bodyPr/>
          <a:lstStyle/>
          <a:p>
            <a:r>
              <a:rPr lang="en-US" sz="3600" dirty="0">
                <a:solidFill>
                  <a:srgbClr val="007FA3"/>
                </a:solidFill>
              </a:rPr>
              <a:t>Services marketing (Continued)</a:t>
            </a:r>
          </a:p>
        </p:txBody>
      </p:sp>
    </p:spTree>
    <p:extLst>
      <p:ext uri="{BB962C8B-B14F-4D97-AF65-F5344CB8AC3E}">
        <p14:creationId xmlns:p14="http://schemas.microsoft.com/office/powerpoint/2010/main" val="332678568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Goods-dominant (G-D) Logic	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Purpose of economic activity is to make and distribute units of output, preferably tangible (i.e., goods)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Goods are embedded with utility (value) during manufacturing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Goal is to maximize profit through the efficient production and distribution of goods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goods should be standardized, produced away from the market, and inventoried till demanded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dirty="0"/>
          </a:p>
          <a:p>
            <a:r>
              <a:rPr lang="en-US" altLang="en-US" sz="3200" b="1" dirty="0">
                <a:solidFill>
                  <a:srgbClr val="FF0000"/>
                </a:solidFill>
              </a:rPr>
              <a:t>Firms exist to make and sell goods</a:t>
            </a:r>
          </a:p>
          <a:p>
            <a:endParaRPr lang="en-US" altLang="en-US" b="1" dirty="0"/>
          </a:p>
          <a:p>
            <a:pPr lvl="1" eaLnBrk="1" hangingPunct="1">
              <a:lnSpc>
                <a:spcPct val="90000"/>
              </a:lnSpc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889301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2368551" y="214314"/>
            <a:ext cx="8736013" cy="1069975"/>
          </a:xfrm>
        </p:spPr>
        <p:txBody>
          <a:bodyPr/>
          <a:lstStyle/>
          <a:p>
            <a:pPr eaLnBrk="1" hangingPunct="1"/>
            <a:r>
              <a:rPr lang="en-US" altLang="en-US" sz="3600" dirty="0"/>
              <a:t>Service(s): The G-D Logic Perspective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3600" dirty="0">
                <a:solidFill>
                  <a:srgbClr val="FF0000"/>
                </a:solidFill>
              </a:rPr>
              <a:t>Services are:</a:t>
            </a:r>
          </a:p>
          <a:p>
            <a:pPr lvl="1" eaLnBrk="1" hangingPunct="1"/>
            <a:r>
              <a:rPr lang="en-US" altLang="en-US" sz="3200" dirty="0">
                <a:solidFill>
                  <a:srgbClr val="FF0000"/>
                </a:solidFill>
              </a:rPr>
              <a:t>Value-enhancing add-ons for goods, or</a:t>
            </a:r>
          </a:p>
          <a:p>
            <a:pPr lvl="1" eaLnBrk="1" hangingPunct="1"/>
            <a:r>
              <a:rPr lang="en-US" altLang="en-US" sz="3200" dirty="0">
                <a:solidFill>
                  <a:srgbClr val="FF0000"/>
                </a:solidFill>
              </a:rPr>
              <a:t>A particular (somewhat inferior) type good, characterized by:</a:t>
            </a:r>
          </a:p>
          <a:p>
            <a:pPr lvl="2" eaLnBrk="1" hangingPunct="1"/>
            <a:r>
              <a:rPr lang="en-US" altLang="en-US" sz="2800" dirty="0"/>
              <a:t>Intangibility</a:t>
            </a:r>
          </a:p>
          <a:p>
            <a:pPr lvl="2" eaLnBrk="1" hangingPunct="1"/>
            <a:r>
              <a:rPr lang="en-US" altLang="en-US" sz="2800" dirty="0"/>
              <a:t>Heterogeneity (non-standardization)</a:t>
            </a:r>
          </a:p>
          <a:p>
            <a:pPr lvl="2" eaLnBrk="1" hangingPunct="1"/>
            <a:r>
              <a:rPr lang="en-US" altLang="en-US" sz="2800" dirty="0"/>
              <a:t>Inseparability (of production and consumption)</a:t>
            </a:r>
          </a:p>
          <a:p>
            <a:pPr lvl="2" eaLnBrk="1" hangingPunct="1"/>
            <a:r>
              <a:rPr lang="en-US" altLang="en-US" sz="2800" dirty="0"/>
              <a:t>Perishability</a:t>
            </a:r>
          </a:p>
        </p:txBody>
      </p:sp>
    </p:spTree>
    <p:extLst>
      <p:ext uri="{BB962C8B-B14F-4D97-AF65-F5344CB8AC3E}">
        <p14:creationId xmlns:p14="http://schemas.microsoft.com/office/powerpoint/2010/main" val="22384484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249796"/>
            <a:ext cx="10515600" cy="911740"/>
          </a:xfrm>
        </p:spPr>
        <p:txBody>
          <a:bodyPr/>
          <a:lstStyle/>
          <a:p>
            <a:pPr eaLnBrk="1" hangingPunct="1"/>
            <a:r>
              <a:rPr lang="en-US" altLang="en-US" dirty="0"/>
              <a:t>Problems with Goods Logic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1082040" y="1279268"/>
            <a:ext cx="10515600" cy="5578732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3200" dirty="0">
                <a:solidFill>
                  <a:srgbClr val="FF0000"/>
                </a:solidFill>
              </a:rPr>
              <a:t>Goods are not what we fundamentally “own” to exchange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3200" dirty="0"/>
              <a:t>Application of knowledge and skills (our services)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3200" dirty="0">
                <a:solidFill>
                  <a:srgbClr val="FF0000"/>
                </a:solidFill>
              </a:rPr>
              <a:t>Goods are not all that “good”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3200" dirty="0">
                <a:solidFill>
                  <a:srgbClr val="FF0000"/>
                </a:solidFill>
              </a:rPr>
              <a:t>Tangibility is not fundamentally why we buy goods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3200" dirty="0"/>
              <a:t>It is for the service they render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3200" dirty="0"/>
              <a:t>Benefits are generally intangible – brand, image, meaning, experience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3200" dirty="0"/>
              <a:t>Standardization ignores individual preferences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3200" dirty="0"/>
              <a:t>Value (customer determined) is very perishable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3200" dirty="0"/>
              <a:t>Inventory of tangible goods is resource depleting</a:t>
            </a:r>
          </a:p>
        </p:txBody>
      </p:sp>
    </p:spTree>
    <p:extLst>
      <p:ext uri="{BB962C8B-B14F-4D97-AF65-F5344CB8AC3E}">
        <p14:creationId xmlns:p14="http://schemas.microsoft.com/office/powerpoint/2010/main" val="36786467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095375"/>
          </a:xfrm>
        </p:spPr>
        <p:txBody>
          <a:bodyPr/>
          <a:lstStyle/>
          <a:p>
            <a:pPr eaLnBrk="1" hangingPunct="1"/>
            <a:r>
              <a:rPr lang="en-US" altLang="en-US" dirty="0"/>
              <a:t>Problems with Goods Logic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2389189" y="1460500"/>
            <a:ext cx="8169275" cy="53975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3200" dirty="0">
                <a:solidFill>
                  <a:srgbClr val="FF0000"/>
                </a:solidFill>
              </a:rPr>
              <a:t>Focuses on what we make, not what we do for people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800" dirty="0"/>
              <a:t>What customers need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800" dirty="0"/>
              <a:t>“Consumer orientation” does not help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3200" dirty="0">
                <a:solidFill>
                  <a:srgbClr val="FF0000"/>
                </a:solidFill>
              </a:rPr>
              <a:t>Focuses on </a:t>
            </a:r>
            <a:r>
              <a:rPr lang="en-US" altLang="en-US" sz="3200" i="1" dirty="0">
                <a:solidFill>
                  <a:srgbClr val="FF0000"/>
                </a:solidFill>
              </a:rPr>
              <a:t>efficiency</a:t>
            </a:r>
            <a:r>
              <a:rPr lang="en-US" altLang="en-US" sz="3200" dirty="0">
                <a:solidFill>
                  <a:srgbClr val="FF0000"/>
                </a:solidFill>
              </a:rPr>
              <a:t> of </a:t>
            </a:r>
            <a:r>
              <a:rPr lang="en-US" altLang="en-US" sz="3200" i="1" dirty="0">
                <a:solidFill>
                  <a:srgbClr val="FF0000"/>
                </a:solidFill>
              </a:rPr>
              <a:t>output processes </a:t>
            </a:r>
            <a:r>
              <a:rPr lang="en-US" altLang="en-US" sz="3200" dirty="0">
                <a:solidFill>
                  <a:srgbClr val="FF0000"/>
                </a:solidFill>
              </a:rPr>
              <a:t>rather than </a:t>
            </a:r>
            <a:r>
              <a:rPr lang="en-US" altLang="en-US" sz="3200" i="1" dirty="0">
                <a:solidFill>
                  <a:srgbClr val="FF0000"/>
                </a:solidFill>
              </a:rPr>
              <a:t>effectiveness</a:t>
            </a:r>
            <a:r>
              <a:rPr lang="en-US" altLang="en-US" sz="3200" dirty="0">
                <a:solidFill>
                  <a:srgbClr val="FF0000"/>
                </a:solidFill>
              </a:rPr>
              <a:t> of resource application (</a:t>
            </a:r>
            <a:r>
              <a:rPr lang="en-US" altLang="en-US" sz="3200" i="1" dirty="0">
                <a:solidFill>
                  <a:srgbClr val="FF0000"/>
                </a:solidFill>
              </a:rPr>
              <a:t>inputs</a:t>
            </a:r>
            <a:r>
              <a:rPr lang="en-US" altLang="en-US" sz="3200" dirty="0">
                <a:solidFill>
                  <a:srgbClr val="FF0000"/>
                </a:solidFill>
              </a:rPr>
              <a:t>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3200" dirty="0">
                <a:solidFill>
                  <a:srgbClr val="FF0000"/>
                </a:solidFill>
              </a:rPr>
              <a:t>Does not inform (misinforms) firm transition to service</a:t>
            </a:r>
            <a:r>
              <a:rPr lang="en-US" altLang="en-US" sz="3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843474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Service-Dominant Logic Basics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2460626" y="1439864"/>
            <a:ext cx="8018463" cy="5216525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3600" dirty="0">
                <a:solidFill>
                  <a:srgbClr val="FF0000"/>
                </a:solidFill>
              </a:rPr>
              <a:t>A logic that views </a:t>
            </a:r>
            <a:r>
              <a:rPr lang="en-US" altLang="en-US" sz="3600" dirty="0">
                <a:solidFill>
                  <a:srgbClr val="002060"/>
                </a:solidFill>
              </a:rPr>
              <a:t>service,</a:t>
            </a:r>
            <a:r>
              <a:rPr lang="en-US" altLang="en-US" sz="3600" dirty="0">
                <a:solidFill>
                  <a:srgbClr val="FF0000"/>
                </a:solidFill>
              </a:rPr>
              <a:t> rather than goods, as the focus of economic and social exchange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3200" dirty="0"/>
              <a:t>i.e., Service is exchanged for service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3298999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Service-Dominant Logic Basics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2460626" y="1439864"/>
            <a:ext cx="8018463" cy="5216525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3600" dirty="0">
                <a:solidFill>
                  <a:srgbClr val="FF0000"/>
                </a:solidFill>
              </a:rPr>
              <a:t>Essential Concepts and Components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3200" dirty="0">
                <a:solidFill>
                  <a:srgbClr val="7030A0"/>
                </a:solidFill>
              </a:rPr>
              <a:t>Service</a:t>
            </a:r>
            <a:r>
              <a:rPr lang="en-US" altLang="en-US" sz="3200" dirty="0">
                <a:solidFill>
                  <a:srgbClr val="002060"/>
                </a:solidFill>
              </a:rPr>
              <a:t>:  </a:t>
            </a:r>
            <a:r>
              <a:rPr lang="en-US" altLang="en-US" sz="3200" dirty="0"/>
              <a:t>the application of competences for the benefit of another entity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2800" dirty="0"/>
              <a:t>Service (singular) is a process—distinct from “services”— particular types of goods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3200" dirty="0"/>
              <a:t>Sees </a:t>
            </a:r>
            <a:r>
              <a:rPr lang="en-US" altLang="en-US" sz="3200" u="sng" dirty="0">
                <a:solidFill>
                  <a:srgbClr val="FF0000"/>
                </a:solidFill>
              </a:rPr>
              <a:t>value</a:t>
            </a:r>
            <a:r>
              <a:rPr lang="en-US" altLang="en-US" sz="3200" dirty="0">
                <a:solidFill>
                  <a:srgbClr val="FF0000"/>
                </a:solidFill>
              </a:rPr>
              <a:t> as </a:t>
            </a:r>
            <a:r>
              <a:rPr lang="en-US" altLang="en-US" sz="3200" u="sng" dirty="0">
                <a:solidFill>
                  <a:srgbClr val="FF0000"/>
                </a:solidFill>
              </a:rPr>
              <a:t>always co-created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3200" dirty="0"/>
              <a:t>Sees goods as appliances for service delivery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3200" dirty="0">
                <a:solidFill>
                  <a:srgbClr val="FF0000"/>
                </a:solidFill>
              </a:rPr>
              <a:t>Implies </a:t>
            </a:r>
            <a:r>
              <a:rPr lang="en-US" altLang="en-US" sz="3200" u="sng" dirty="0">
                <a:solidFill>
                  <a:srgbClr val="FF0000"/>
                </a:solidFill>
              </a:rPr>
              <a:t>all</a:t>
            </a:r>
            <a:r>
              <a:rPr lang="en-US" altLang="en-US" sz="3200" dirty="0">
                <a:solidFill>
                  <a:srgbClr val="FF0000"/>
                </a:solidFill>
              </a:rPr>
              <a:t> economies are service economies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2800" u="sng" dirty="0"/>
              <a:t>All</a:t>
            </a:r>
            <a:r>
              <a:rPr lang="en-US" altLang="en-US" sz="2800" dirty="0"/>
              <a:t> businesses are service businesses</a:t>
            </a:r>
          </a:p>
        </p:txBody>
      </p:sp>
    </p:spTree>
    <p:extLst>
      <p:ext uri="{BB962C8B-B14F-4D97-AF65-F5344CB8AC3E}">
        <p14:creationId xmlns:p14="http://schemas.microsoft.com/office/powerpoint/2010/main" val="27491530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/>
              <a:t>The Inversion of the G-D Model</a:t>
            </a:r>
          </a:p>
        </p:txBody>
      </p:sp>
      <p:sp>
        <p:nvSpPr>
          <p:cNvPr id="18435" name="Oval 3"/>
          <p:cNvSpPr>
            <a:spLocks noChangeArrowheads="1"/>
          </p:cNvSpPr>
          <p:nvPr/>
        </p:nvSpPr>
        <p:spPr bwMode="auto">
          <a:xfrm>
            <a:off x="3003550" y="3409950"/>
            <a:ext cx="19050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6600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578964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GB" altLang="en-US" sz="1800"/>
          </a:p>
        </p:txBody>
      </p:sp>
      <p:sp>
        <p:nvSpPr>
          <p:cNvPr id="18436" name="Text Box 4"/>
          <p:cNvSpPr txBox="1">
            <a:spLocks noChangeArrowheads="1"/>
          </p:cNvSpPr>
          <p:nvPr/>
        </p:nvSpPr>
        <p:spPr bwMode="auto">
          <a:xfrm>
            <a:off x="2927350" y="3486151"/>
            <a:ext cx="19812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6600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578964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Products         </a:t>
            </a:r>
            <a:r>
              <a:rPr lang="en-US" altLang="en-US" sz="1200">
                <a:latin typeface="Arial" panose="020B0604020202020204" pitchFamily="34" charset="0"/>
              </a:rPr>
              <a:t>(units of output)</a:t>
            </a:r>
          </a:p>
        </p:txBody>
      </p:sp>
      <p:sp>
        <p:nvSpPr>
          <p:cNvPr id="18437" name="Oval 5"/>
          <p:cNvSpPr>
            <a:spLocks noChangeArrowheads="1"/>
          </p:cNvSpPr>
          <p:nvPr/>
        </p:nvSpPr>
        <p:spPr bwMode="auto">
          <a:xfrm>
            <a:off x="1936750" y="4400550"/>
            <a:ext cx="19050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6600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578964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GB" altLang="en-US" sz="1800"/>
          </a:p>
        </p:txBody>
      </p:sp>
      <p:sp>
        <p:nvSpPr>
          <p:cNvPr id="18438" name="Oval 6"/>
          <p:cNvSpPr>
            <a:spLocks noChangeArrowheads="1"/>
          </p:cNvSpPr>
          <p:nvPr/>
        </p:nvSpPr>
        <p:spPr bwMode="auto">
          <a:xfrm>
            <a:off x="4070350" y="4400550"/>
            <a:ext cx="19050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6600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578964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GB" altLang="en-US" sz="1800"/>
          </a:p>
        </p:txBody>
      </p:sp>
      <p:sp>
        <p:nvSpPr>
          <p:cNvPr id="18439" name="Text Box 7"/>
          <p:cNvSpPr txBox="1">
            <a:spLocks noChangeArrowheads="1"/>
          </p:cNvSpPr>
          <p:nvPr/>
        </p:nvSpPr>
        <p:spPr bwMode="auto">
          <a:xfrm>
            <a:off x="2089150" y="4476751"/>
            <a:ext cx="1524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6600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578964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Goods</a:t>
            </a:r>
          </a:p>
        </p:txBody>
      </p:sp>
      <p:sp>
        <p:nvSpPr>
          <p:cNvPr id="18440" name="Text Box 8"/>
          <p:cNvSpPr txBox="1">
            <a:spLocks noChangeArrowheads="1"/>
          </p:cNvSpPr>
          <p:nvPr/>
        </p:nvSpPr>
        <p:spPr bwMode="auto">
          <a:xfrm>
            <a:off x="4222750" y="4552950"/>
            <a:ext cx="152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6600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578964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lnSpc>
                <a:spcPct val="80000"/>
              </a:lnSpc>
              <a:spcBef>
                <a:spcPct val="3500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Services </a:t>
            </a:r>
            <a:r>
              <a:rPr lang="en-US" altLang="en-US" sz="1200">
                <a:latin typeface="Arial" panose="020B0604020202020204" pitchFamily="34" charset="0"/>
              </a:rPr>
              <a:t>(Intangible goods)</a:t>
            </a:r>
          </a:p>
        </p:txBody>
      </p:sp>
      <p:sp>
        <p:nvSpPr>
          <p:cNvPr id="18441" name="Oval 9"/>
          <p:cNvSpPr>
            <a:spLocks noChangeArrowheads="1"/>
          </p:cNvSpPr>
          <p:nvPr/>
        </p:nvSpPr>
        <p:spPr bwMode="auto">
          <a:xfrm>
            <a:off x="7346950" y="3486150"/>
            <a:ext cx="19050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6600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578964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GB" altLang="en-US" sz="1800"/>
          </a:p>
        </p:txBody>
      </p:sp>
      <p:sp>
        <p:nvSpPr>
          <p:cNvPr id="18442" name="Text Box 10"/>
          <p:cNvSpPr txBox="1">
            <a:spLocks noChangeArrowheads="1"/>
          </p:cNvSpPr>
          <p:nvPr/>
        </p:nvSpPr>
        <p:spPr bwMode="auto">
          <a:xfrm>
            <a:off x="7270750" y="3440114"/>
            <a:ext cx="2057400" cy="731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6600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578964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Service      </a:t>
            </a:r>
            <a:r>
              <a:rPr lang="en-US" altLang="en-US" sz="1200">
                <a:latin typeface="Arial" panose="020B0604020202020204" pitchFamily="34" charset="0"/>
              </a:rPr>
              <a:t>(processes—applied competences)</a:t>
            </a:r>
          </a:p>
        </p:txBody>
      </p:sp>
      <p:sp>
        <p:nvSpPr>
          <p:cNvPr id="18443" name="Oval 11"/>
          <p:cNvSpPr>
            <a:spLocks noChangeArrowheads="1"/>
          </p:cNvSpPr>
          <p:nvPr/>
        </p:nvSpPr>
        <p:spPr bwMode="auto">
          <a:xfrm>
            <a:off x="6280150" y="4476750"/>
            <a:ext cx="19050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6600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578964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GB" altLang="en-US" sz="1800"/>
          </a:p>
        </p:txBody>
      </p:sp>
      <p:sp>
        <p:nvSpPr>
          <p:cNvPr id="18444" name="Oval 12"/>
          <p:cNvSpPr>
            <a:spLocks noChangeArrowheads="1"/>
          </p:cNvSpPr>
          <p:nvPr/>
        </p:nvSpPr>
        <p:spPr bwMode="auto">
          <a:xfrm>
            <a:off x="8413750" y="4476750"/>
            <a:ext cx="19050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6600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578964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GB" altLang="en-US" sz="1800"/>
          </a:p>
        </p:txBody>
      </p:sp>
      <p:sp>
        <p:nvSpPr>
          <p:cNvPr id="18445" name="Text Box 13"/>
          <p:cNvSpPr txBox="1">
            <a:spLocks noChangeArrowheads="1"/>
          </p:cNvSpPr>
          <p:nvPr/>
        </p:nvSpPr>
        <p:spPr bwMode="auto">
          <a:xfrm>
            <a:off x="8566150" y="4516438"/>
            <a:ext cx="1524000" cy="646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6600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578964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Direct (</a:t>
            </a:r>
            <a:r>
              <a:rPr lang="en-US" altLang="en-US" sz="1400">
                <a:latin typeface="Arial" panose="020B0604020202020204" pitchFamily="34" charset="0"/>
              </a:rPr>
              <a:t>service</a:t>
            </a:r>
            <a:r>
              <a:rPr lang="en-US" altLang="en-US" sz="1800">
                <a:latin typeface="Arial" panose="020B0604020202020204" pitchFamily="34" charset="0"/>
              </a:rPr>
              <a:t>)</a:t>
            </a:r>
          </a:p>
        </p:txBody>
      </p:sp>
      <p:sp>
        <p:nvSpPr>
          <p:cNvPr id="18446" name="Text Box 14"/>
          <p:cNvSpPr txBox="1">
            <a:spLocks noChangeArrowheads="1"/>
          </p:cNvSpPr>
          <p:nvPr/>
        </p:nvSpPr>
        <p:spPr bwMode="auto">
          <a:xfrm>
            <a:off x="6280150" y="45529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6600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578964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lnSpc>
                <a:spcPct val="80000"/>
              </a:lnSpc>
              <a:spcBef>
                <a:spcPct val="3500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Indirect       </a:t>
            </a:r>
            <a:r>
              <a:rPr lang="en-US" altLang="en-US" sz="1200">
                <a:latin typeface="Arial" panose="020B0604020202020204" pitchFamily="34" charset="0"/>
              </a:rPr>
              <a:t>(Goods--Appliances)</a:t>
            </a:r>
          </a:p>
        </p:txBody>
      </p:sp>
      <p:sp>
        <p:nvSpPr>
          <p:cNvPr id="18447" name="Line 15"/>
          <p:cNvSpPr>
            <a:spLocks noChangeShapeType="1"/>
          </p:cNvSpPr>
          <p:nvPr/>
        </p:nvSpPr>
        <p:spPr bwMode="auto">
          <a:xfrm flipH="1">
            <a:off x="2851150" y="4095750"/>
            <a:ext cx="1066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8448" name="Line 16"/>
          <p:cNvSpPr>
            <a:spLocks noChangeShapeType="1"/>
          </p:cNvSpPr>
          <p:nvPr/>
        </p:nvSpPr>
        <p:spPr bwMode="auto">
          <a:xfrm>
            <a:off x="3917950" y="4095750"/>
            <a:ext cx="1066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8449" name="Line 17"/>
          <p:cNvSpPr>
            <a:spLocks noChangeShapeType="1"/>
          </p:cNvSpPr>
          <p:nvPr/>
        </p:nvSpPr>
        <p:spPr bwMode="auto">
          <a:xfrm flipH="1">
            <a:off x="7270750" y="4171950"/>
            <a:ext cx="990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8450" name="Line 18"/>
          <p:cNvSpPr>
            <a:spLocks noChangeShapeType="1"/>
          </p:cNvSpPr>
          <p:nvPr/>
        </p:nvSpPr>
        <p:spPr bwMode="auto">
          <a:xfrm>
            <a:off x="8261350" y="4171950"/>
            <a:ext cx="1066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8451" name="Text Box 19"/>
          <p:cNvSpPr txBox="1">
            <a:spLocks noChangeArrowheads="1"/>
          </p:cNvSpPr>
          <p:nvPr/>
        </p:nvSpPr>
        <p:spPr bwMode="auto">
          <a:xfrm>
            <a:off x="2109788" y="2654301"/>
            <a:ext cx="815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6600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578964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800" b="1">
                <a:solidFill>
                  <a:srgbClr val="006600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Goods Logic	        	     Service Logic</a:t>
            </a:r>
          </a:p>
        </p:txBody>
      </p:sp>
    </p:spTree>
    <p:extLst>
      <p:ext uri="{BB962C8B-B14F-4D97-AF65-F5344CB8AC3E}">
        <p14:creationId xmlns:p14="http://schemas.microsoft.com/office/powerpoint/2010/main" val="1953479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dirty="0"/>
              <a:t> Conceptual Transitions from Goods-</a:t>
            </a:r>
            <a:r>
              <a:rPr lang="en-US" altLang="en-US" sz="4000" dirty="0" err="1"/>
              <a:t>Dominat</a:t>
            </a:r>
            <a:r>
              <a:rPr lang="en-US" altLang="en-US" sz="4000" dirty="0"/>
              <a:t> to Service-Dominant Logic</a:t>
            </a:r>
          </a:p>
        </p:txBody>
      </p:sp>
      <p:graphicFrame>
        <p:nvGraphicFramePr>
          <p:cNvPr id="204803" name="Group 3"/>
          <p:cNvGraphicFramePr>
            <a:graphicFrameLocks noGrp="1"/>
          </p:cNvGraphicFramePr>
          <p:nvPr>
            <p:ph sz="half" idx="1"/>
          </p:nvPr>
        </p:nvGraphicFramePr>
        <p:xfrm>
          <a:off x="2297114" y="1479550"/>
          <a:ext cx="2466975" cy="5016500"/>
        </p:xfrm>
        <a:graphic>
          <a:graphicData uri="http://schemas.openxmlformats.org/drawingml/2006/table">
            <a:tbl>
              <a:tblPr/>
              <a:tblGrid>
                <a:gridCol w="2466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6211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578964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0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Goods-Dominant Concepts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71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578964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0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Goods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12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578964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0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Products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454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578964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0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Feature/attribute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578964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0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Value-added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578964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0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Profit maximization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578964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0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Price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578964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0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Equilibrium systems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3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578964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0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Supply Chain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6364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578964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0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Promotion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771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578964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0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To Market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62798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578964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0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Product orientation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0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7" marB="45727"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204842" name="Group 42"/>
          <p:cNvGraphicFramePr>
            <a:graphicFrameLocks noGrp="1"/>
          </p:cNvGraphicFramePr>
          <p:nvPr>
            <p:ph sz="quarter" idx="2"/>
          </p:nvPr>
        </p:nvGraphicFramePr>
        <p:xfrm>
          <a:off x="4811713" y="1479550"/>
          <a:ext cx="2514600" cy="5018086"/>
        </p:xfrm>
        <a:graphic>
          <a:graphicData uri="http://schemas.openxmlformats.org/drawingml/2006/table">
            <a:tbl>
              <a:tblPr/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6202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578964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0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Transitional Concepts</a:t>
                      </a:r>
                    </a:p>
                  </a:txBody>
                  <a:tcPr marT="45721" marB="45721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578964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0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Services</a:t>
                      </a:r>
                    </a:p>
                  </a:txBody>
                  <a:tcPr marT="45721" marB="45721"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578964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0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Offerings</a:t>
                      </a:r>
                    </a:p>
                  </a:txBody>
                  <a:tcPr marT="45721" marB="45721"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578964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0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Benefit</a:t>
                      </a:r>
                    </a:p>
                  </a:txBody>
                  <a:tcPr marT="45721" marB="45721"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672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578964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0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Co-production</a:t>
                      </a:r>
                    </a:p>
                  </a:txBody>
                  <a:tcPr marT="45721" marB="45721"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578964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0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Financial Engineering</a:t>
                      </a:r>
                    </a:p>
                  </a:txBody>
                  <a:tcPr marT="45721" marB="45721"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578964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0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Value delivery</a:t>
                      </a:r>
                    </a:p>
                  </a:txBody>
                  <a:tcPr marT="45721" marB="45721"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578964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0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Dynamic systems</a:t>
                      </a:r>
                    </a:p>
                  </a:txBody>
                  <a:tcPr marT="45721" marB="45721"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578964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0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Value-Chain</a:t>
                      </a:r>
                    </a:p>
                  </a:txBody>
                  <a:tcPr marT="45721" marB="45721"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7913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578964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0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Integrated Marketing Communications</a:t>
                      </a:r>
                    </a:p>
                  </a:txBody>
                  <a:tcPr marT="45721" marB="45721"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2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578964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0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Market to</a:t>
                      </a:r>
                    </a:p>
                  </a:txBody>
                  <a:tcPr marT="45721" marB="45721"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62790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578964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0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Market Orientation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0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1" marB="45721"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204977" name="Group 177"/>
          <p:cNvGraphicFramePr>
            <a:graphicFrameLocks noGrp="1"/>
          </p:cNvGraphicFramePr>
          <p:nvPr>
            <p:ph sz="quarter" idx="3"/>
          </p:nvPr>
        </p:nvGraphicFramePr>
        <p:xfrm>
          <a:off x="7304088" y="1446214"/>
          <a:ext cx="3581400" cy="5021265"/>
        </p:xfrm>
        <a:graphic>
          <a:graphicData uri="http://schemas.openxmlformats.org/drawingml/2006/table">
            <a:tbl>
              <a:tblPr/>
              <a:tblGrid>
                <a:gridCol w="3581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6194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578964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0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ahoma" pitchFamily="34" charset="0"/>
                        </a:rPr>
                        <a:t>Service-Dominant Concepts</a:t>
                      </a:r>
                    </a:p>
                  </a:txBody>
                  <a:tcPr marT="45717" marB="45717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7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578964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0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</a:rPr>
                        <a:t>Service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7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578964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0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</a:rPr>
                        <a:t>Experiences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7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578964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0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</a:rPr>
                        <a:t>Solution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7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578964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0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</a:rPr>
                        <a:t>Co-creation of value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7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578964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0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</a:rPr>
                        <a:t>Financial feedback/learning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7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578964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0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</a:rPr>
                        <a:t>Value proposition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239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578964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0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</a:rPr>
                        <a:t>Complex adaptive systems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7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578964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0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</a:rPr>
                        <a:t>Value-creation network/constellation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9685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578964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0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</a:rPr>
                        <a:t>Dialog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27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578964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0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</a:rPr>
                        <a:t>Market with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62788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06600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578964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0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</a:rPr>
                        <a:t>Service-Dominant Logic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0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</a:rPr>
                        <a:t>(Consumer and relational)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4622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006600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578964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FA9DB00-FC60-48C1-9887-1B3DC38B83E0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lang="en-US" altLang="en-US" sz="1400"/>
          </a:p>
        </p:txBody>
      </p:sp>
      <p:grpSp>
        <p:nvGrpSpPr>
          <p:cNvPr id="204910" name="Group 110"/>
          <p:cNvGrpSpPr>
            <a:grpSpLocks/>
          </p:cNvGrpSpPr>
          <p:nvPr/>
        </p:nvGrpSpPr>
        <p:grpSpPr bwMode="auto">
          <a:xfrm>
            <a:off x="5802313" y="2393950"/>
            <a:ext cx="1371600" cy="3657600"/>
            <a:chOff x="2352" y="1584"/>
            <a:chExt cx="864" cy="2304"/>
          </a:xfrm>
        </p:grpSpPr>
        <p:sp>
          <p:nvSpPr>
            <p:cNvPr id="24635" name="Line 111"/>
            <p:cNvSpPr>
              <a:spLocks noChangeShapeType="1"/>
            </p:cNvSpPr>
            <p:nvPr/>
          </p:nvSpPr>
          <p:spPr bwMode="auto">
            <a:xfrm>
              <a:off x="2352" y="1584"/>
              <a:ext cx="8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4636" name="Line 112"/>
            <p:cNvSpPr>
              <a:spLocks noChangeShapeType="1"/>
            </p:cNvSpPr>
            <p:nvPr/>
          </p:nvSpPr>
          <p:spPr bwMode="auto">
            <a:xfrm>
              <a:off x="2352" y="1824"/>
              <a:ext cx="8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4637" name="Line 113"/>
            <p:cNvSpPr>
              <a:spLocks noChangeShapeType="1"/>
            </p:cNvSpPr>
            <p:nvPr/>
          </p:nvSpPr>
          <p:spPr bwMode="auto">
            <a:xfrm>
              <a:off x="2352" y="2016"/>
              <a:ext cx="8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4638" name="Line 114"/>
            <p:cNvSpPr>
              <a:spLocks noChangeShapeType="1"/>
            </p:cNvSpPr>
            <p:nvPr/>
          </p:nvSpPr>
          <p:spPr bwMode="auto">
            <a:xfrm>
              <a:off x="2640" y="2256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4639" name="Line 115"/>
            <p:cNvSpPr>
              <a:spLocks noChangeShapeType="1"/>
            </p:cNvSpPr>
            <p:nvPr/>
          </p:nvSpPr>
          <p:spPr bwMode="auto">
            <a:xfrm>
              <a:off x="2832" y="2880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4640" name="Line 116"/>
            <p:cNvSpPr>
              <a:spLocks noChangeShapeType="1"/>
            </p:cNvSpPr>
            <p:nvPr/>
          </p:nvSpPr>
          <p:spPr bwMode="auto">
            <a:xfrm>
              <a:off x="3024" y="2496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4641" name="Line 117"/>
            <p:cNvSpPr>
              <a:spLocks noChangeShapeType="1"/>
            </p:cNvSpPr>
            <p:nvPr/>
          </p:nvSpPr>
          <p:spPr bwMode="auto">
            <a:xfrm>
              <a:off x="2640" y="2688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4642" name="Line 118"/>
            <p:cNvSpPr>
              <a:spLocks noChangeShapeType="1"/>
            </p:cNvSpPr>
            <p:nvPr/>
          </p:nvSpPr>
          <p:spPr bwMode="auto">
            <a:xfrm>
              <a:off x="2544" y="3120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4643" name="Line 119"/>
            <p:cNvSpPr>
              <a:spLocks noChangeShapeType="1"/>
            </p:cNvSpPr>
            <p:nvPr/>
          </p:nvSpPr>
          <p:spPr bwMode="auto">
            <a:xfrm>
              <a:off x="2976" y="3312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4644" name="Line 120"/>
            <p:cNvSpPr>
              <a:spLocks noChangeShapeType="1"/>
            </p:cNvSpPr>
            <p:nvPr/>
          </p:nvSpPr>
          <p:spPr bwMode="auto">
            <a:xfrm>
              <a:off x="2352" y="3696"/>
              <a:ext cx="8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4645" name="Line 121"/>
            <p:cNvSpPr>
              <a:spLocks noChangeShapeType="1"/>
            </p:cNvSpPr>
            <p:nvPr/>
          </p:nvSpPr>
          <p:spPr bwMode="auto">
            <a:xfrm>
              <a:off x="2880" y="3888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4624" name="Line 122"/>
          <p:cNvSpPr>
            <a:spLocks noChangeShapeType="1"/>
          </p:cNvSpPr>
          <p:nvPr/>
        </p:nvSpPr>
        <p:spPr bwMode="auto">
          <a:xfrm>
            <a:off x="3059113" y="2393950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4625" name="Line 123"/>
          <p:cNvSpPr>
            <a:spLocks noChangeShapeType="1"/>
          </p:cNvSpPr>
          <p:nvPr/>
        </p:nvSpPr>
        <p:spPr bwMode="auto">
          <a:xfrm>
            <a:off x="3287713" y="2774950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4626" name="Line 124"/>
          <p:cNvSpPr>
            <a:spLocks noChangeShapeType="1"/>
          </p:cNvSpPr>
          <p:nvPr/>
        </p:nvSpPr>
        <p:spPr bwMode="auto">
          <a:xfrm>
            <a:off x="3973513" y="315595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4627" name="Line 125"/>
          <p:cNvSpPr>
            <a:spLocks noChangeShapeType="1"/>
          </p:cNvSpPr>
          <p:nvPr/>
        </p:nvSpPr>
        <p:spPr bwMode="auto">
          <a:xfrm>
            <a:off x="3592513" y="346075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4628" name="Line 126"/>
          <p:cNvSpPr>
            <a:spLocks noChangeShapeType="1"/>
          </p:cNvSpPr>
          <p:nvPr/>
        </p:nvSpPr>
        <p:spPr bwMode="auto">
          <a:xfrm>
            <a:off x="4202113" y="384175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4629" name="Line 127"/>
          <p:cNvSpPr>
            <a:spLocks noChangeShapeType="1"/>
          </p:cNvSpPr>
          <p:nvPr/>
        </p:nvSpPr>
        <p:spPr bwMode="auto">
          <a:xfrm>
            <a:off x="2906713" y="4146550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4630" name="Line 128"/>
          <p:cNvSpPr>
            <a:spLocks noChangeShapeType="1"/>
          </p:cNvSpPr>
          <p:nvPr/>
        </p:nvSpPr>
        <p:spPr bwMode="auto">
          <a:xfrm>
            <a:off x="4278313" y="445135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4631" name="Line 129"/>
          <p:cNvSpPr>
            <a:spLocks noChangeShapeType="1"/>
          </p:cNvSpPr>
          <p:nvPr/>
        </p:nvSpPr>
        <p:spPr bwMode="auto">
          <a:xfrm>
            <a:off x="3668713" y="483235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4632" name="Line 130"/>
          <p:cNvSpPr>
            <a:spLocks noChangeShapeType="1"/>
          </p:cNvSpPr>
          <p:nvPr/>
        </p:nvSpPr>
        <p:spPr bwMode="auto">
          <a:xfrm>
            <a:off x="3440113" y="513715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4633" name="Line 131"/>
          <p:cNvSpPr>
            <a:spLocks noChangeShapeType="1"/>
          </p:cNvSpPr>
          <p:nvPr/>
        </p:nvSpPr>
        <p:spPr bwMode="auto">
          <a:xfrm>
            <a:off x="3440113" y="567055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4634" name="Line 132"/>
          <p:cNvSpPr>
            <a:spLocks noChangeShapeType="1"/>
          </p:cNvSpPr>
          <p:nvPr/>
        </p:nvSpPr>
        <p:spPr bwMode="auto">
          <a:xfrm>
            <a:off x="4125913" y="605155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0513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4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204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Potential Implications of S-D Logic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rgbClr val="FF0000"/>
                </a:solidFill>
              </a:rPr>
              <a:t>Making “services” more “goods-like” (tangible, separable, etc.) may not be correct normative marketing goal</a:t>
            </a:r>
            <a:r>
              <a:rPr lang="en-US" altLang="en-US" dirty="0"/>
              <a:t>  </a:t>
            </a:r>
          </a:p>
          <a:p>
            <a:pPr lvl="1" eaLnBrk="1" hangingPunct="1"/>
            <a:r>
              <a:rPr lang="en-US" altLang="en-US" dirty="0"/>
              <a:t>Make goods-more service-like. </a:t>
            </a:r>
          </a:p>
          <a:p>
            <a:pPr eaLnBrk="1" hangingPunct="1"/>
            <a:r>
              <a:rPr lang="en-US" altLang="en-US" dirty="0">
                <a:solidFill>
                  <a:srgbClr val="FF0000"/>
                </a:solidFill>
              </a:rPr>
              <a:t>Reconsider the primary nature of the firm</a:t>
            </a:r>
          </a:p>
          <a:p>
            <a:pPr lvl="1" eaLnBrk="1" hangingPunct="1"/>
            <a:r>
              <a:rPr lang="en-US" altLang="en-US" dirty="0"/>
              <a:t>From </a:t>
            </a:r>
            <a:r>
              <a:rPr lang="en-US" altLang="en-US" i="1" dirty="0"/>
              <a:t>manufacturing</a:t>
            </a:r>
            <a:r>
              <a:rPr lang="en-US" altLang="en-US" dirty="0"/>
              <a:t> (make and sell) to </a:t>
            </a:r>
            <a:r>
              <a:rPr lang="en-US" altLang="en-US" i="1" dirty="0"/>
              <a:t>marketing</a:t>
            </a:r>
          </a:p>
          <a:p>
            <a:pPr lvl="2" eaLnBrk="1" hangingPunct="1"/>
            <a:r>
              <a:rPr lang="en-US" altLang="en-US" dirty="0"/>
              <a:t>resource utilization for service provision</a:t>
            </a:r>
          </a:p>
          <a:p>
            <a:pPr lvl="1" eaLnBrk="1" hangingPunct="1"/>
            <a:r>
              <a:rPr lang="en-US" altLang="en-US" dirty="0"/>
              <a:t>Outsource  manufacturing and other non-core competences</a:t>
            </a:r>
          </a:p>
          <a:p>
            <a:pPr lvl="1" eaLnBrk="1" hangingPunct="1"/>
            <a:r>
              <a:rPr lang="en-US" altLang="en-US" dirty="0"/>
              <a:t>Virtual, “on demand” modular marketing organizations</a:t>
            </a:r>
          </a:p>
        </p:txBody>
      </p:sp>
    </p:spTree>
    <p:extLst>
      <p:ext uri="{BB962C8B-B14F-4D97-AF65-F5344CB8AC3E}">
        <p14:creationId xmlns:p14="http://schemas.microsoft.com/office/powerpoint/2010/main" val="41927182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Potential Implications (2)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rgbClr val="FF0000"/>
                </a:solidFill>
              </a:rPr>
              <a:t>Selling service flows rather than ownership, even when goods are involved</a:t>
            </a:r>
          </a:p>
          <a:p>
            <a:pPr eaLnBrk="1" hangingPunct="1"/>
            <a:r>
              <a:rPr lang="en-US" altLang="en-US" dirty="0">
                <a:solidFill>
                  <a:srgbClr val="FF0000"/>
                </a:solidFill>
              </a:rPr>
              <a:t>Shifting to Value-Based Pricing</a:t>
            </a:r>
          </a:p>
          <a:p>
            <a:pPr lvl="1" eaLnBrk="1" hangingPunct="1"/>
            <a:r>
              <a:rPr lang="en-US" altLang="en-US" dirty="0"/>
              <a:t>Based on value-in-use </a:t>
            </a:r>
            <a:endParaRPr lang="en-US" altLang="en-US" dirty="0">
              <a:solidFill>
                <a:srgbClr val="FF0000"/>
              </a:solidFill>
            </a:endParaRPr>
          </a:p>
          <a:p>
            <a:pPr eaLnBrk="1" hangingPunct="1"/>
            <a:r>
              <a:rPr lang="en-US" altLang="en-US" dirty="0">
                <a:solidFill>
                  <a:srgbClr val="FF0000"/>
                </a:solidFill>
              </a:rPr>
              <a:t>Network to network marketing</a:t>
            </a:r>
          </a:p>
          <a:p>
            <a:pPr lvl="1" eaLnBrk="1" hangingPunct="1"/>
            <a:r>
              <a:rPr lang="en-US" altLang="en-US" dirty="0"/>
              <a:t>Resource integration for resource integrators</a:t>
            </a:r>
          </a:p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8711315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dirty="0"/>
              <a:t>Sub-disciplinary Divergences and Convergences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08670"/>
            <a:ext cx="10515600" cy="5387546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dirty="0">
                <a:solidFill>
                  <a:srgbClr val="FF0000"/>
                </a:solidFill>
              </a:rPr>
              <a:t>Business-to-Business Marketing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>
                <a:solidFill>
                  <a:srgbClr val="FF0000"/>
                </a:solidFill>
              </a:rPr>
              <a:t>From differences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dirty="0"/>
              <a:t>Derived demand, professional buyers, fluctuating demand, </a:t>
            </a:r>
            <a:r>
              <a:rPr lang="en-US" altLang="en-US" dirty="0" err="1"/>
              <a:t>etc</a:t>
            </a:r>
            <a:endParaRPr lang="en-US" altLang="en-US" dirty="0"/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To emerging new principles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dirty="0"/>
              <a:t>Interactivity, relationship, network theory, </a:t>
            </a:r>
            <a:r>
              <a:rPr lang="en-US" altLang="en-US" dirty="0" err="1"/>
              <a:t>etc</a:t>
            </a:r>
            <a:endParaRPr lang="en-US" altLang="en-US" dirty="0"/>
          </a:p>
          <a:p>
            <a:pPr eaLnBrk="1" hangingPunct="1">
              <a:lnSpc>
                <a:spcPct val="80000"/>
              </a:lnSpc>
            </a:pPr>
            <a:r>
              <a:rPr lang="en-US" altLang="en-US" dirty="0">
                <a:solidFill>
                  <a:srgbClr val="FF0000"/>
                </a:solidFill>
              </a:rPr>
              <a:t>Service(s) Marketing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From differences: 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dirty="0"/>
              <a:t>Inseparability, heterogeneity, etc.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To emerging new principles: 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dirty="0"/>
              <a:t>Relationship, perceived quality, </a:t>
            </a:r>
            <a:r>
              <a:rPr lang="en-US" altLang="en-US" dirty="0">
                <a:solidFill>
                  <a:srgbClr val="FF0000"/>
                </a:solidFill>
              </a:rPr>
              <a:t>customer equity</a:t>
            </a:r>
            <a:r>
              <a:rPr lang="en-US" altLang="en-US" dirty="0"/>
              <a:t>, etc.</a:t>
            </a:r>
          </a:p>
          <a:p>
            <a:pPr lvl="2" eaLnBrk="1" hangingPunct="1">
              <a:lnSpc>
                <a:spcPct val="80000"/>
              </a:lnSpc>
            </a:pPr>
            <a:endParaRPr lang="en-US" altLang="en-US" dirty="0"/>
          </a:p>
          <a:p>
            <a:pPr eaLnBrk="1" hangingPunct="1">
              <a:lnSpc>
                <a:spcPct val="80000"/>
              </a:lnSpc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987491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References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2209800" y="1600200"/>
            <a:ext cx="8229600" cy="46482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en-US" altLang="en-US" sz="2500" dirty="0" err="1"/>
              <a:t>Vargo</a:t>
            </a:r>
            <a:r>
              <a:rPr lang="en-US" altLang="en-US" sz="2500" dirty="0"/>
              <a:t>, S. L. and R.F. </a:t>
            </a:r>
            <a:r>
              <a:rPr lang="en-US" altLang="en-US" sz="2500" dirty="0" err="1"/>
              <a:t>Lusch</a:t>
            </a:r>
            <a:r>
              <a:rPr lang="en-US" altLang="en-US" sz="2500" i="1" dirty="0"/>
              <a:t> (2004) “</a:t>
            </a:r>
            <a:r>
              <a:rPr lang="en-US" altLang="en-US" sz="2500" dirty="0"/>
              <a:t>Evolving to a New Dominant Logic of Marketing,</a:t>
            </a:r>
            <a:r>
              <a:rPr lang="en-US" altLang="en-US" sz="2500" i="1" dirty="0"/>
              <a:t>”</a:t>
            </a:r>
            <a:r>
              <a:rPr lang="en-US" altLang="en-US" sz="2500" dirty="0"/>
              <a:t> </a:t>
            </a:r>
            <a:r>
              <a:rPr lang="en-US" altLang="en-US" sz="2500" b="1" i="1" dirty="0"/>
              <a:t>Journal of Marketing</a:t>
            </a:r>
            <a:r>
              <a:rPr lang="en-US" altLang="en-US" sz="2500" dirty="0"/>
              <a:t> 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en-US" sz="2500" dirty="0" err="1"/>
              <a:t>Lusch</a:t>
            </a:r>
            <a:r>
              <a:rPr lang="en-US" altLang="en-US" sz="2500" dirty="0"/>
              <a:t>, R.F., S.L. </a:t>
            </a:r>
            <a:r>
              <a:rPr lang="en-US" altLang="en-US" sz="2500" dirty="0" err="1"/>
              <a:t>Vargo</a:t>
            </a:r>
            <a:r>
              <a:rPr lang="en-US" altLang="en-US" sz="2500" dirty="0"/>
              <a:t>, and M. O’Brien (2007),</a:t>
            </a:r>
            <a:r>
              <a:rPr lang="en-US" altLang="en-US" sz="2500" b="1" dirty="0"/>
              <a:t> “</a:t>
            </a:r>
            <a:r>
              <a:rPr lang="en-US" altLang="en-US" sz="2500" dirty="0"/>
              <a:t>Competing Through Service: Insights from Service-Dominant Logic,” </a:t>
            </a:r>
            <a:r>
              <a:rPr lang="en-US" altLang="en-US" sz="2500" b="1" i="1" dirty="0"/>
              <a:t>Journal of Retailing</a:t>
            </a:r>
            <a:r>
              <a:rPr lang="en-US" altLang="en-US" sz="2500" dirty="0"/>
              <a:t> </a:t>
            </a:r>
          </a:p>
          <a:p>
            <a:pPr eaLnBrk="1" hangingPunct="1">
              <a:lnSpc>
                <a:spcPct val="80000"/>
              </a:lnSpc>
              <a:defRPr/>
            </a:pPr>
            <a:endParaRPr lang="en-US" altLang="en-US" sz="2500" b="1" dirty="0"/>
          </a:p>
          <a:p>
            <a:pPr eaLnBrk="1" hangingPunct="1">
              <a:lnSpc>
                <a:spcPct val="80000"/>
              </a:lnSpc>
              <a:defRPr/>
            </a:pPr>
            <a:endParaRPr lang="en-US" altLang="en-US" sz="2500" b="1" dirty="0"/>
          </a:p>
          <a:p>
            <a:pPr eaLnBrk="1" hangingPunct="1">
              <a:lnSpc>
                <a:spcPct val="80000"/>
              </a:lnSpc>
              <a:defRPr/>
            </a:pPr>
            <a:endParaRPr lang="en-US" altLang="en-US" sz="2500" b="1" dirty="0"/>
          </a:p>
          <a:p>
            <a:pPr eaLnBrk="1" hangingPunct="1">
              <a:lnSpc>
                <a:spcPct val="80000"/>
              </a:lnSpc>
              <a:defRPr/>
            </a:pPr>
            <a:endParaRPr lang="en-US" altLang="en-US" sz="2500" b="1" dirty="0"/>
          </a:p>
          <a:p>
            <a:pPr eaLnBrk="1" hangingPunct="1">
              <a:lnSpc>
                <a:spcPct val="80000"/>
              </a:lnSpc>
              <a:defRPr/>
            </a:pPr>
            <a:endParaRPr lang="en-US" altLang="en-US" sz="2500" b="1" dirty="0"/>
          </a:p>
          <a:p>
            <a:pPr eaLnBrk="1" hangingPunct="1">
              <a:lnSpc>
                <a:spcPct val="80000"/>
              </a:lnSpc>
              <a:defRPr/>
            </a:pPr>
            <a:endParaRPr lang="en-US" altLang="en-US" sz="2500" b="1" dirty="0"/>
          </a:p>
          <a:p>
            <a:pPr marL="0" indent="0">
              <a:lnSpc>
                <a:spcPct val="80000"/>
              </a:lnSpc>
              <a:buNone/>
              <a:defRPr/>
            </a:pPr>
            <a:endParaRPr lang="en-US" altLang="en-US" sz="2500" b="1" dirty="0"/>
          </a:p>
          <a:p>
            <a:pPr lvl="1" eaLnBrk="1" hangingPunct="1">
              <a:lnSpc>
                <a:spcPct val="80000"/>
              </a:lnSpc>
              <a:defRPr/>
            </a:pPr>
            <a:endParaRPr lang="en-US" altLang="en-US" sz="2500" dirty="0"/>
          </a:p>
        </p:txBody>
      </p:sp>
      <p:sp>
        <p:nvSpPr>
          <p:cNvPr id="3584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006600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578964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5D4C2E2-B24A-4263-BC75-0C0BE2BE928A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35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3712968632"/>
      </p:ext>
    </p:extLst>
  </p:cSld>
  <p:clrMapOvr>
    <a:masterClrMapping/>
  </p:clrMapOvr>
</p:sld>
</file>

<file path=ppt/theme/theme1.xml><?xml version="1.0" encoding="utf-8"?>
<a:theme xmlns:a="http://schemas.openxmlformats.org/drawingml/2006/main" name="University of Roehampt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niversity of Roehampton PowerPoint Template [Compatibility Mode]" id="{E5B5E309-F8AA-487B-8D1A-F3FF829A02BB}" vid="{DF524CFD-4E3D-45F1-941A-862A0545FB0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LongProperties xmlns="http://schemas.microsoft.com/office/2006/metadata/longProperties"/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2C08C9299421240B6D995644B6E3C3E" ma:contentTypeVersion="9" ma:contentTypeDescription="Create a new document." ma:contentTypeScope="" ma:versionID="3e4f4863867cfc740a384538f6557aaa">
  <xsd:schema xmlns:xsd="http://www.w3.org/2001/XMLSchema" xmlns:xs="http://www.w3.org/2001/XMLSchema" xmlns:p="http://schemas.microsoft.com/office/2006/metadata/properties" xmlns:ns3="8cba260e-3241-4289-a037-e391f31897a2" xmlns:ns4="55be59d9-bb19-454e-bd1f-d925a42bc5eb" targetNamespace="http://schemas.microsoft.com/office/2006/metadata/properties" ma:root="true" ma:fieldsID="8c1059f8eb4e870c18b54324517b06af" ns3:_="" ns4:_="">
    <xsd:import namespace="8cba260e-3241-4289-a037-e391f31897a2"/>
    <xsd:import namespace="55be59d9-bb19-454e-bd1f-d925a42bc5e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ba260e-3241-4289-a037-e391f31897a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be59d9-bb19-454e-bd1f-d925a42bc5eb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C16663B-B2F8-4314-BFE5-CDF70FF4ABB4}">
  <ds:schemaRefs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8cba260e-3241-4289-a037-e391f31897a2"/>
    <ds:schemaRef ds:uri="http://purl.org/dc/dcmitype/"/>
    <ds:schemaRef ds:uri="http://schemas.microsoft.com/office/infopath/2007/PartnerControls"/>
    <ds:schemaRef ds:uri="55be59d9-bb19-454e-bd1f-d925a42bc5eb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5C3D5511-235D-4507-82A9-D5CFF352CBE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0FF4E3E-C1B4-4C97-B492-9DE287D30438}">
  <ds:schemaRefs>
    <ds:schemaRef ds:uri="http://schemas.microsoft.com/office/2006/metadata/longProperties"/>
  </ds:schemaRefs>
</ds:datastoreItem>
</file>

<file path=customXml/itemProps4.xml><?xml version="1.0" encoding="utf-8"?>
<ds:datastoreItem xmlns:ds="http://schemas.openxmlformats.org/officeDocument/2006/customXml" ds:itemID="{9F5402C3-DE85-4E7C-9FA2-EA5C1008FCF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cba260e-3241-4289-a037-e391f31897a2"/>
    <ds:schemaRef ds:uri="55be59d9-bb19-454e-bd1f-d925a42bc5e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Roehampton-Powerpoint-Template-2017-Brand (1)</Template>
  <TotalTime>4</TotalTime>
  <Words>1699</Words>
  <Application>Microsoft Office PowerPoint</Application>
  <PresentationFormat>Widescreen</PresentationFormat>
  <Paragraphs>283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4" baseType="lpstr">
      <vt:lpstr>ＭＳ Ｐゴシック</vt:lpstr>
      <vt:lpstr>Arial</vt:lpstr>
      <vt:lpstr>Calibri</vt:lpstr>
      <vt:lpstr>Calibri Light</vt:lpstr>
      <vt:lpstr>Lucida Sans Unicode</vt:lpstr>
      <vt:lpstr>Tahoma</vt:lpstr>
      <vt:lpstr>Times New Roman</vt:lpstr>
      <vt:lpstr>Wingdings</vt:lpstr>
      <vt:lpstr>University of Roehampton</vt:lpstr>
      <vt:lpstr>  STRATEGIC MARKETING  </vt:lpstr>
      <vt:lpstr>Agenda</vt:lpstr>
      <vt:lpstr>What is a product? </vt:lpstr>
      <vt:lpstr>What is a product? (Continued)</vt:lpstr>
      <vt:lpstr>Services marketing (Continued)</vt:lpstr>
      <vt:lpstr>The Good / Service Spectrum     </vt:lpstr>
      <vt:lpstr>Continuum of Evaluation for Different Types of Products</vt:lpstr>
      <vt:lpstr>PowerPoint Presentation</vt:lpstr>
      <vt:lpstr>Services marketing</vt:lpstr>
      <vt:lpstr>Traditional Marketing Mix</vt:lpstr>
      <vt:lpstr>Extended Marketing Mix for Services –The 7 Ps</vt:lpstr>
      <vt:lpstr>Extended Marketing Mix for Services</vt:lpstr>
      <vt:lpstr>Services marketing (Continued)</vt:lpstr>
      <vt:lpstr>Service Profit Chain</vt:lpstr>
      <vt:lpstr>Services marketing (Continued)</vt:lpstr>
      <vt:lpstr>Services marketing (Continued)</vt:lpstr>
      <vt:lpstr> The Service Marketing Triangle</vt:lpstr>
      <vt:lpstr>Services marketing (Continued)</vt:lpstr>
      <vt:lpstr>Services marketing (Continued)</vt:lpstr>
      <vt:lpstr>PowerPoint Presentation</vt:lpstr>
      <vt:lpstr>Service Quality Gap Model</vt:lpstr>
      <vt:lpstr>SERVQUAL</vt:lpstr>
      <vt:lpstr>Services marketing (Continued)</vt:lpstr>
      <vt:lpstr>Goods-dominant (G-D) Logic </vt:lpstr>
      <vt:lpstr>Service(s): The G-D Logic Perspective</vt:lpstr>
      <vt:lpstr>Problems with Goods Logic</vt:lpstr>
      <vt:lpstr>Problems with Goods Logic</vt:lpstr>
      <vt:lpstr>Service-Dominant Logic Basics</vt:lpstr>
      <vt:lpstr>Service-Dominant Logic Basics</vt:lpstr>
      <vt:lpstr>The Inversion of the G-D Model</vt:lpstr>
      <vt:lpstr> Conceptual Transitions from Goods-Dominat to Service-Dominant Logic</vt:lpstr>
      <vt:lpstr>Potential Implications of S-D Logic</vt:lpstr>
      <vt:lpstr>Potential Implications (2)</vt:lpstr>
      <vt:lpstr>Sub-disciplinary Divergences and Convergences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Dumebi Konwea</cp:lastModifiedBy>
  <cp:revision>145</cp:revision>
  <dcterms:created xsi:type="dcterms:W3CDTF">2017-12-14T05:23:46Z</dcterms:created>
  <dcterms:modified xsi:type="dcterms:W3CDTF">2025-07-09T10:30:55Z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dlc_DocId">
    <vt:lpwstr>EX52UCZS3WNW-50-7</vt:lpwstr>
  </property>
  <property fmtid="{D5CDD505-2E9C-101B-9397-08002B2CF9AE}" pid="3" name="_dlc_DocIdItemGuid">
    <vt:lpwstr>9921b913-4ad3-4564-a374-b22e9e4eb2ae</vt:lpwstr>
  </property>
  <property fmtid="{D5CDD505-2E9C-101B-9397-08002B2CF9AE}" pid="4" name="_dlc_DocIdUrl">
    <vt:lpwstr>https://portal.roehampton.ac.uk/information/_layouts/15/DocIdRedir.aspx?ID=EX52UCZS3WNW-50-7, EX52UCZS3WNW-50-7</vt:lpwstr>
  </property>
  <property fmtid="{D5CDD505-2E9C-101B-9397-08002B2CF9AE}" pid="5" name="ContentTypeId">
    <vt:lpwstr>0x01010002C08C9299421240B6D995644B6E3C3E</vt:lpwstr>
  </property>
</Properties>
</file>