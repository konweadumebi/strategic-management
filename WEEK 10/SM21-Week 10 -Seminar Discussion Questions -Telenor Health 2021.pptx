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9" r:id="rId5"/>
    <p:sldId id="260" r:id="rId6"/>
    <p:sldId id="261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755" autoAdjust="0"/>
    <p:restoredTop sz="94660"/>
  </p:normalViewPr>
  <p:slideViewPr>
    <p:cSldViewPr snapToGrid="0">
      <p:cViewPr varScale="1">
        <p:scale>
          <a:sx n="75" d="100"/>
          <a:sy n="75" d="100"/>
        </p:scale>
        <p:origin x="6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252913" cy="2589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rgbClr val="06353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rgbClr val="06353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84144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6353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063532"/>
                </a:solidFill>
              </a:defRPr>
            </a:lvl1pPr>
            <a:lvl2pPr>
              <a:defRPr>
                <a:solidFill>
                  <a:srgbClr val="063532"/>
                </a:solidFill>
              </a:defRPr>
            </a:lvl2pPr>
            <a:lvl3pPr>
              <a:defRPr>
                <a:solidFill>
                  <a:srgbClr val="063532"/>
                </a:solidFill>
              </a:defRPr>
            </a:lvl3pPr>
            <a:lvl4pPr>
              <a:defRPr>
                <a:solidFill>
                  <a:srgbClr val="063532"/>
                </a:solidFill>
              </a:defRPr>
            </a:lvl4pPr>
            <a:lvl5pPr>
              <a:defRPr>
                <a:solidFill>
                  <a:srgbClr val="06353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83CD2D-347F-417C-886D-273536740474}" type="datetimeFigureOut">
              <a:rPr lang="en-GB"/>
              <a:pPr>
                <a:defRPr/>
              </a:pPr>
              <a:t>09/07/2025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D35F60-FE4A-4476-B52F-29F8950812D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4219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69004D-800C-4230-8BED-3D981703420C}" type="datetimeFigureOut">
              <a:rPr lang="en-GB"/>
              <a:pPr>
                <a:defRPr/>
              </a:pPr>
              <a:t>09/07/2025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425C34-A69D-4402-B7D8-BAB5A48CF0B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22893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BAD35B-FA32-400E-B001-5FD5168C6B39}" type="datetimeFigureOut">
              <a:rPr lang="en-GB"/>
              <a:pPr>
                <a:defRPr/>
              </a:pPr>
              <a:t>09/07/2025</a:t>
            </a:fld>
            <a:endParaRPr lang="en-GB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086A5D-7A97-4E2E-A328-5E1595936FF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9424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98F702-7B2B-4191-AADB-9326B959CBB1}" type="datetimeFigureOut">
              <a:rPr lang="en-GB"/>
              <a:pPr>
                <a:defRPr/>
              </a:pPr>
              <a:t>09/07/2025</a:t>
            </a:fld>
            <a:endParaRPr lang="en-GB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DF13A9-6EEC-43E7-807C-7954534FE44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2309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B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rgbClr val="063532"/>
                </a:solidFill>
                <a:latin typeface="+mn-lt"/>
              </a:defRPr>
            </a:lvl1pPr>
          </a:lstStyle>
          <a:p>
            <a:pPr>
              <a:defRPr/>
            </a:pPr>
            <a:fld id="{CE7D3133-C8CC-49B1-BACB-6866EED8069D}" type="datetimeFigureOut">
              <a:rPr lang="en-GB"/>
              <a:pPr>
                <a:defRPr/>
              </a:pPr>
              <a:t>09/07/2025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rgbClr val="063532"/>
                </a:solidFill>
                <a:latin typeface="+mn-lt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rgbClr val="063532"/>
                </a:solidFill>
                <a:latin typeface="+mn-lt"/>
              </a:defRPr>
            </a:lvl1pPr>
          </a:lstStyle>
          <a:p>
            <a:pPr>
              <a:defRPr/>
            </a:pPr>
            <a:fld id="{C8F75B9A-495D-4CA4-9D63-CBFCE0B3500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0362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rgbClr val="06353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063532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063532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063532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063532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063532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063532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063532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063532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rgbClr val="063532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rgbClr val="063532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rgbClr val="063532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rgbClr val="063532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rgbClr val="06353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Strategic Marketing</a:t>
            </a:r>
          </a:p>
        </p:txBody>
      </p:sp>
      <p:sp>
        <p:nvSpPr>
          <p:cNvPr id="3075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 sz="3600" dirty="0"/>
              <a:t>Week 10 – Seminar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24986-4A81-47E8-ADB2-BCB6A536A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Questions For Discussion- Telenor Health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231A1F-9FBB-4CD0-BEE2-A8A163AEA6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/>
          <a:lstStyle/>
          <a:p>
            <a:pPr marL="342900" marR="137795" lvl="0" indent="-342900" algn="just">
              <a:spcAft>
                <a:spcPts val="0"/>
              </a:spcAft>
              <a:buSzPts val="1100"/>
              <a:buFont typeface="+mj-lt"/>
              <a:buAutoNum type="arabicPeriod"/>
              <a:tabLst>
                <a:tab pos="368300" algn="l"/>
              </a:tabLst>
            </a:pPr>
            <a:r>
              <a:rPr lang="en-US" sz="2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Discuss</a:t>
            </a:r>
            <a:r>
              <a:rPr lang="en-US" sz="2200" b="1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examples</a:t>
            </a:r>
            <a:r>
              <a:rPr lang="en-US" sz="2200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of</a:t>
            </a:r>
            <a:r>
              <a:rPr lang="en-US" sz="2200" b="1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the three</a:t>
            </a:r>
            <a:r>
              <a:rPr lang="en-US" sz="2200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product</a:t>
            </a:r>
            <a:r>
              <a:rPr lang="en-US" sz="2200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levels</a:t>
            </a:r>
            <a:r>
              <a:rPr lang="en-US" sz="2200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for</a:t>
            </a:r>
            <a:r>
              <a:rPr lang="en-US" sz="2200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Tonic</a:t>
            </a:r>
            <a:r>
              <a:rPr lang="en-US" sz="2200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digital</a:t>
            </a:r>
            <a:r>
              <a:rPr lang="en-US" sz="2200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health</a:t>
            </a:r>
            <a:r>
              <a:rPr lang="en-US" sz="2200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services.</a:t>
            </a:r>
            <a:endParaRPr lang="en-GB" sz="2200" b="1" dirty="0"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342900" indent="-342900">
              <a:spcBef>
                <a:spcPts val="50"/>
              </a:spcBef>
              <a:buFont typeface="+mj-lt"/>
              <a:buAutoNum type="arabicPeriod"/>
            </a:pPr>
            <a:endParaRPr lang="en-GB" sz="2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138430" lvl="0" indent="-342900" algn="just">
              <a:spcBef>
                <a:spcPts val="5"/>
              </a:spcBef>
              <a:spcAft>
                <a:spcPts val="0"/>
              </a:spcAft>
              <a:buSzPts val="1100"/>
              <a:buFont typeface="+mj-lt"/>
              <a:buAutoNum type="arabicPeriod"/>
              <a:tabLst>
                <a:tab pos="367665" algn="l"/>
              </a:tabLst>
            </a:pPr>
            <a:r>
              <a:rPr lang="en-US" sz="2200" b="1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How</a:t>
            </a:r>
            <a:r>
              <a:rPr lang="en-US" sz="2200" b="1" spc="-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b="1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do</a:t>
            </a:r>
            <a:r>
              <a:rPr lang="en-US" sz="2200" b="1" spc="-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b="1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you</a:t>
            </a:r>
            <a:r>
              <a:rPr lang="en-US" sz="2200" b="1" spc="-7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b="1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think</a:t>
            </a:r>
            <a:r>
              <a:rPr lang="en-US" sz="2200" b="1" spc="-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b="1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technology</a:t>
            </a:r>
            <a:r>
              <a:rPr lang="en-US" sz="2200" b="1" spc="-7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b="1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has</a:t>
            </a:r>
            <a:r>
              <a:rPr lang="en-US" sz="2200" b="1" spc="-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b="1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helped</a:t>
            </a:r>
            <a:r>
              <a:rPr lang="en-US" sz="2200" b="1" spc="-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b="1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Telenor</a:t>
            </a:r>
            <a:r>
              <a:rPr lang="en-US" sz="2200" b="1" spc="-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b="1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Health</a:t>
            </a:r>
            <a:r>
              <a:rPr lang="en-US" sz="2200" b="1" spc="-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b="1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manage</a:t>
            </a:r>
            <a:r>
              <a:rPr lang="en-US" sz="2200" b="1" spc="-7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b="1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z="2200" b="1" spc="-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b="1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challenges</a:t>
            </a:r>
            <a:r>
              <a:rPr lang="en-US" sz="2200" b="1" spc="-7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b="1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associated</a:t>
            </a:r>
            <a:r>
              <a:rPr lang="en-US" sz="2200" b="1" spc="-7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b="1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with</a:t>
            </a:r>
            <a:r>
              <a:rPr lang="en-US" sz="2200" b="1" spc="-2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b="1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service</a:t>
            </a:r>
            <a:r>
              <a:rPr lang="en-US" sz="2200" b="1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b="1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characteristics</a:t>
            </a:r>
            <a:r>
              <a:rPr lang="en-US" sz="2200" b="1" spc="-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b="1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such</a:t>
            </a:r>
            <a:r>
              <a:rPr lang="en-US" sz="2200" b="1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b="1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as</a:t>
            </a:r>
            <a:r>
              <a:rPr lang="en-US" sz="2200" b="1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b="1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intangibility,</a:t>
            </a:r>
            <a:r>
              <a:rPr lang="en-US" sz="2200" b="1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b="1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heterogeneity,</a:t>
            </a:r>
            <a:r>
              <a:rPr lang="en-US" sz="2200" b="1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b="1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perishability</a:t>
            </a:r>
            <a:r>
              <a:rPr lang="en-US" sz="2200" b="1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b="1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</a:t>
            </a:r>
            <a:r>
              <a:rPr lang="en-US" sz="2200" b="1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b="1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inseparability?</a:t>
            </a:r>
          </a:p>
          <a:p>
            <a:pPr marL="342900" marR="138430" lvl="0" indent="-342900" algn="just">
              <a:spcBef>
                <a:spcPts val="5"/>
              </a:spcBef>
              <a:spcAft>
                <a:spcPts val="0"/>
              </a:spcAft>
              <a:buSzPts val="1100"/>
              <a:buFont typeface="+mj-lt"/>
              <a:buAutoNum type="arabicPeriod"/>
              <a:tabLst>
                <a:tab pos="367665" algn="l"/>
              </a:tabLst>
            </a:pPr>
            <a:endParaRPr lang="en-US" sz="2200" b="1" spc="-2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139065" lvl="0" indent="-342900" algn="just">
              <a:spcAft>
                <a:spcPts val="0"/>
              </a:spcAft>
              <a:buSzPts val="1100"/>
              <a:buFont typeface="+mj-lt"/>
              <a:buAutoNum type="arabicPeriod"/>
              <a:tabLst>
                <a:tab pos="367665" algn="l"/>
              </a:tabLst>
            </a:pPr>
            <a:r>
              <a:rPr lang="en-US" sz="2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Explain</a:t>
            </a:r>
            <a:r>
              <a:rPr lang="en-US" sz="2200" b="1" spc="2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with</a:t>
            </a:r>
            <a:r>
              <a:rPr lang="en-US" sz="2200" b="1" spc="2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examples</a:t>
            </a:r>
            <a:r>
              <a:rPr lang="en-US" sz="2200" b="1" spc="2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the</a:t>
            </a:r>
            <a:r>
              <a:rPr lang="en-US" sz="2200" b="1" spc="2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extent</a:t>
            </a:r>
            <a:r>
              <a:rPr lang="en-US" sz="2200" b="1" spc="2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to</a:t>
            </a:r>
            <a:r>
              <a:rPr lang="en-US" sz="2200" b="1" spc="2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which</a:t>
            </a:r>
            <a:r>
              <a:rPr lang="en-US" sz="2200" b="1" spc="2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physical</a:t>
            </a:r>
            <a:r>
              <a:rPr lang="en-US" sz="2200" b="1" spc="2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evidence</a:t>
            </a:r>
            <a:r>
              <a:rPr lang="en-US" sz="2200" b="1" spc="2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and</a:t>
            </a:r>
            <a:r>
              <a:rPr lang="en-US" sz="2200" b="1" spc="2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process</a:t>
            </a:r>
            <a:r>
              <a:rPr lang="en-US" sz="2200" b="1" spc="2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factors</a:t>
            </a:r>
            <a:r>
              <a:rPr lang="en-US" sz="2200" b="1" spc="2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are</a:t>
            </a:r>
            <a:r>
              <a:rPr lang="en-US" sz="2200" b="1" spc="-2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important</a:t>
            </a:r>
            <a:r>
              <a:rPr lang="en-US" sz="2200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for Tonic services.</a:t>
            </a:r>
            <a:endParaRPr lang="en-GB" sz="2200" b="1" dirty="0"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342900" indent="-342900">
              <a:spcBef>
                <a:spcPts val="45"/>
              </a:spcBef>
              <a:buFont typeface="+mj-lt"/>
              <a:buAutoNum type="arabicPeriod"/>
            </a:pPr>
            <a:endParaRPr lang="en-GB" sz="2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138430" lvl="0" indent="-342900" algn="just">
              <a:spcAft>
                <a:spcPts val="0"/>
              </a:spcAft>
              <a:buSzPts val="1100"/>
              <a:buFont typeface="+mj-lt"/>
              <a:buAutoNum type="arabicPeriod"/>
              <a:tabLst>
                <a:tab pos="368300" algn="l"/>
              </a:tabLst>
            </a:pPr>
            <a:r>
              <a:rPr lang="en-US" sz="2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How</a:t>
            </a:r>
            <a:r>
              <a:rPr lang="en-US" sz="2200" b="1" spc="1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would</a:t>
            </a:r>
            <a:r>
              <a:rPr lang="en-US" sz="2200" b="1" spc="1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you</a:t>
            </a:r>
            <a:r>
              <a:rPr lang="en-US" sz="2200" b="1" spc="17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describe</a:t>
            </a:r>
            <a:r>
              <a:rPr lang="en-US" sz="2200" b="1" spc="1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Tonic’s</a:t>
            </a:r>
            <a:r>
              <a:rPr lang="en-US" sz="2200" b="1" spc="17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brand</a:t>
            </a:r>
            <a:r>
              <a:rPr lang="en-US" sz="2200" b="1" spc="1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positioning</a:t>
            </a:r>
            <a:r>
              <a:rPr lang="en-US" sz="2200" b="1" spc="1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strategy?</a:t>
            </a:r>
            <a:r>
              <a:rPr lang="en-US" sz="2200" b="1" spc="17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Provide</a:t>
            </a:r>
            <a:r>
              <a:rPr lang="en-US" sz="2200" b="1" spc="1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examples</a:t>
            </a:r>
            <a:r>
              <a:rPr lang="en-US" sz="2200" b="1" spc="17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en-US" sz="2200" b="1" spc="1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how</a:t>
            </a:r>
            <a:r>
              <a:rPr lang="en-US" sz="2200" b="1" spc="-2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Tonic</a:t>
            </a:r>
            <a:r>
              <a:rPr lang="en-US" sz="2200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is differentiating its services</a:t>
            </a:r>
            <a:r>
              <a:rPr lang="en-US" sz="2200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from those</a:t>
            </a:r>
            <a:r>
              <a:rPr lang="en-US" sz="2200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 competitors.</a:t>
            </a:r>
          </a:p>
          <a:p>
            <a:pPr marL="342900" marR="138430" indent="-342900" algn="just">
              <a:spcAft>
                <a:spcPts val="0"/>
              </a:spcAft>
              <a:buSzPts val="1100"/>
              <a:buFont typeface="+mj-lt"/>
              <a:buAutoNum type="arabicPeriod"/>
              <a:tabLst>
                <a:tab pos="368300" algn="l"/>
              </a:tabLst>
            </a:pPr>
            <a:r>
              <a:rPr lang="en-US" sz="2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Using the service profit chain perspective, recommend steps that Telenor Health can take</a:t>
            </a:r>
            <a:r>
              <a:rPr lang="en-US" sz="2200" b="1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</a:t>
            </a:r>
            <a:r>
              <a:rPr lang="en-US" sz="2200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reduce employee turnover</a:t>
            </a:r>
            <a:r>
              <a:rPr lang="en-US" sz="2200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 </a:t>
            </a:r>
            <a:r>
              <a:rPr lang="en-US" sz="2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revitalise</a:t>
            </a:r>
            <a:r>
              <a:rPr lang="en-US" sz="2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their company</a:t>
            </a:r>
            <a:r>
              <a:rPr lang="en-US" sz="2200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culture.</a:t>
            </a:r>
            <a:endParaRPr lang="en-GB" sz="2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138430" lvl="0" indent="0" algn="just">
              <a:spcAft>
                <a:spcPts val="0"/>
              </a:spcAft>
              <a:buSzPts val="1100"/>
              <a:buNone/>
              <a:tabLst>
                <a:tab pos="368300" algn="l"/>
              </a:tabLst>
            </a:pPr>
            <a:endParaRPr lang="en-GB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138430" lvl="0" indent="-342900" algn="just">
              <a:spcBef>
                <a:spcPts val="5"/>
              </a:spcBef>
              <a:spcAft>
                <a:spcPts val="0"/>
              </a:spcAft>
              <a:buSzPts val="1100"/>
              <a:buFont typeface="Times New Roman" panose="02020603050405020304" pitchFamily="18" charset="0"/>
              <a:buAutoNum type="arabicPeriod"/>
              <a:tabLst>
                <a:tab pos="367665" algn="l"/>
              </a:tabLst>
            </a:pP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16274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70516-3309-4A9E-9D15-EEF765E0A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Questions for 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A6E263-E010-44E3-BBBD-5EA3221838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Q6 Discuss  how relevant the Service –Dominant Logic is  for a chocolate manufacturer (such as Thorntons) versus Telenor health. Does the concept add anything new to the marketing of products and services?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345892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CE4C6-9447-4E62-9599-52C416247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0501"/>
            <a:ext cx="10515600" cy="1200149"/>
          </a:xfrm>
        </p:spPr>
        <p:txBody>
          <a:bodyPr/>
          <a:lstStyle/>
          <a:p>
            <a:r>
              <a:rPr lang="en-US" sz="3600" b="0" i="0" dirty="0">
                <a:solidFill>
                  <a:srgbClr val="373A3C"/>
                </a:solidFill>
                <a:effectLst/>
                <a:latin typeface="Roboto" panose="02000000000000000000" pitchFamily="2" charset="0"/>
              </a:rPr>
              <a:t>Telenor Health and Tonic digital health services</a:t>
            </a:r>
            <a:endParaRPr lang="en-GB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EE04E2-CD16-49DE-9217-8CF52CB82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390650"/>
            <a:ext cx="10515600" cy="5276849"/>
          </a:xfrm>
        </p:spPr>
        <p:txBody>
          <a:bodyPr/>
          <a:lstStyle/>
          <a:p>
            <a:pPr marL="6350" indent="-6350">
              <a:lnSpc>
                <a:spcPct val="109000"/>
              </a:lnSpc>
              <a:spcAft>
                <a:spcPts val="1285"/>
              </a:spcAft>
            </a:pPr>
            <a:r>
              <a:rPr lang="en-GB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Synopsis </a:t>
            </a:r>
            <a:r>
              <a:rPr lang="en-GB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(click  on the Resource in Moodle to read the full case)</a:t>
            </a:r>
          </a:p>
          <a:p>
            <a:pPr marL="0" marR="134620" indent="0" algn="just">
              <a:spcAft>
                <a:spcPts val="0"/>
              </a:spcAft>
              <a:buNone/>
            </a:pPr>
            <a:r>
              <a:rPr lang="en-US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Tonic</a:t>
            </a:r>
            <a:r>
              <a:rPr lang="en-US" sz="1800" spc="-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is</a:t>
            </a:r>
            <a:r>
              <a:rPr lang="en-US" sz="1800" spc="-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one</a:t>
            </a:r>
            <a:r>
              <a:rPr lang="en-US" sz="1800" spc="-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en-US" sz="1800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Asia’s</a:t>
            </a:r>
            <a:r>
              <a:rPr lang="en-US" sz="1800" spc="-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first</a:t>
            </a:r>
            <a:r>
              <a:rPr lang="en-US" sz="1800" spc="-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mobile-based</a:t>
            </a:r>
            <a:r>
              <a:rPr lang="en-US" sz="1800" spc="-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health</a:t>
            </a:r>
            <a:r>
              <a:rPr lang="en-US" sz="1800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</a:t>
            </a:r>
            <a:r>
              <a:rPr lang="en-US" sz="1800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wellness</a:t>
            </a:r>
            <a:r>
              <a:rPr lang="en-US" sz="1800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services</a:t>
            </a:r>
            <a:r>
              <a:rPr lang="en-US" sz="1800" spc="-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brands,</a:t>
            </a:r>
            <a:r>
              <a:rPr lang="en-US" sz="1800" spc="-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providing</a:t>
            </a:r>
            <a:r>
              <a:rPr lang="en-US" sz="1800" spc="-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US" sz="1800" spc="-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range</a:t>
            </a:r>
            <a:r>
              <a:rPr lang="en-US" sz="1800" spc="-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en-US" sz="1800" spc="-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digital</a:t>
            </a:r>
            <a:r>
              <a:rPr lang="en-US" sz="1800" spc="-2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services</a:t>
            </a:r>
            <a:r>
              <a:rPr lang="en-US" sz="1800" spc="-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from</a:t>
            </a:r>
            <a:r>
              <a:rPr lang="en-US" sz="1800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information</a:t>
            </a:r>
            <a:r>
              <a:rPr lang="en-US" sz="1800" spc="-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</a:t>
            </a:r>
            <a:r>
              <a:rPr lang="en-US" sz="1800" spc="-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US" sz="1800" spc="-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healthcare</a:t>
            </a:r>
            <a:r>
              <a:rPr lang="en-US" sz="1800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helpline</a:t>
            </a:r>
            <a:r>
              <a:rPr lang="en-US" sz="1800" spc="-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</a:t>
            </a:r>
            <a:r>
              <a:rPr lang="en-US" sz="1800" spc="-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medically</a:t>
            </a:r>
            <a:r>
              <a:rPr lang="en-US" sz="1800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related</a:t>
            </a:r>
            <a:r>
              <a:rPr lang="en-US" sz="1800" spc="-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financial</a:t>
            </a:r>
            <a:r>
              <a:rPr lang="en-US" sz="1800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benefits.</a:t>
            </a:r>
            <a:r>
              <a:rPr lang="en-US" sz="1800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Tonic</a:t>
            </a:r>
            <a:r>
              <a:rPr lang="en-US" sz="1800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was</a:t>
            </a:r>
            <a:r>
              <a:rPr lang="en-US" sz="1800" spc="-2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launched</a:t>
            </a:r>
            <a:r>
              <a:rPr lang="en-US" sz="1800" spc="-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through</a:t>
            </a:r>
            <a:r>
              <a:rPr lang="en-US" sz="1800" spc="-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Telenor’s</a:t>
            </a:r>
            <a:r>
              <a:rPr lang="en-US" sz="1800" spc="-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Group’s</a:t>
            </a:r>
            <a:r>
              <a:rPr lang="en-US" sz="1800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mobile</a:t>
            </a:r>
            <a:r>
              <a:rPr lang="en-US" sz="1800" spc="-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operator</a:t>
            </a:r>
            <a:r>
              <a:rPr lang="en-US" sz="1800" spc="-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Grameenphone</a:t>
            </a:r>
            <a:r>
              <a:rPr lang="en-US" sz="1800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(GP),</a:t>
            </a:r>
            <a:r>
              <a:rPr lang="en-US" sz="1800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which</a:t>
            </a:r>
            <a:r>
              <a:rPr lang="en-US" sz="1800" spc="-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is</a:t>
            </a:r>
            <a:r>
              <a:rPr lang="en-US" sz="1800" spc="-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z="1800" spc="-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market</a:t>
            </a:r>
            <a:r>
              <a:rPr lang="en-US" sz="1800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leader</a:t>
            </a:r>
            <a:r>
              <a:rPr lang="en-US" sz="1800" spc="-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</a:t>
            </a:r>
            <a:r>
              <a:rPr lang="en-US" sz="1800" spc="-2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Bangladesh.</a:t>
            </a:r>
            <a:r>
              <a:rPr lang="en-US" sz="1800" spc="-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Despite</a:t>
            </a:r>
            <a:r>
              <a:rPr lang="en-US" sz="1800" spc="-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Bangladesh</a:t>
            </a:r>
            <a:r>
              <a:rPr lang="en-US" sz="1800" spc="-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being</a:t>
            </a:r>
            <a:r>
              <a:rPr lang="en-US" sz="1800" spc="-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</a:t>
            </a:r>
            <a:r>
              <a:rPr lang="en-US" sz="1800" spc="-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emerging</a:t>
            </a:r>
            <a:r>
              <a:rPr lang="en-US" sz="1800" spc="-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market,</a:t>
            </a:r>
            <a:r>
              <a:rPr lang="en-US" sz="1800" spc="-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mobile</a:t>
            </a:r>
            <a:r>
              <a:rPr lang="en-US" sz="1800" spc="-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penetration,</a:t>
            </a:r>
            <a:r>
              <a:rPr lang="en-US" sz="1800" spc="-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at</a:t>
            </a:r>
            <a:r>
              <a:rPr lang="en-US" sz="1800" spc="-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over</a:t>
            </a:r>
            <a:r>
              <a:rPr lang="en-US" sz="1800" spc="-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51</a:t>
            </a:r>
            <a:r>
              <a:rPr lang="en-US" sz="1800" spc="-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percent,</a:t>
            </a:r>
            <a:r>
              <a:rPr lang="en-US" sz="1800" spc="-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is</a:t>
            </a:r>
            <a:r>
              <a:rPr lang="en-US" sz="1800" spc="-2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above</a:t>
            </a:r>
            <a:r>
              <a:rPr lang="en-US" sz="1800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z="18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Asian</a:t>
            </a:r>
            <a:r>
              <a:rPr lang="en-US" sz="18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average</a:t>
            </a:r>
            <a:r>
              <a:rPr lang="en-US" sz="1800" spc="-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</a:t>
            </a:r>
            <a:r>
              <a:rPr lang="en-US" sz="18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mobile</a:t>
            </a:r>
            <a:r>
              <a:rPr lang="en-US" sz="18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internet</a:t>
            </a:r>
            <a:r>
              <a:rPr lang="en-US" sz="18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penetration</a:t>
            </a:r>
            <a:r>
              <a:rPr lang="en-US" sz="18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at</a:t>
            </a:r>
            <a:r>
              <a:rPr lang="en-US" sz="1800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33</a:t>
            </a:r>
            <a:r>
              <a:rPr lang="en-US" sz="1800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percent.</a:t>
            </a:r>
            <a:r>
              <a:rPr lang="en-US" sz="18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With</a:t>
            </a:r>
            <a:r>
              <a:rPr lang="en-US" sz="18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US" sz="1800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population</a:t>
            </a:r>
            <a:r>
              <a:rPr lang="en-US" sz="1800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en-US" sz="1800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over</a:t>
            </a:r>
            <a:r>
              <a:rPr lang="en-US" sz="18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167</a:t>
            </a:r>
            <a:r>
              <a:rPr lang="en-US" sz="1800" spc="-2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million</a:t>
            </a:r>
            <a:r>
              <a:rPr lang="en-US" sz="1800" spc="-8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people,</a:t>
            </a:r>
            <a:r>
              <a:rPr lang="en-US" sz="1800" spc="-8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only</a:t>
            </a:r>
            <a:r>
              <a:rPr lang="en-US" sz="1800" spc="-8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0.4</a:t>
            </a:r>
            <a:r>
              <a:rPr lang="en-US" sz="1800" spc="-8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doctors</a:t>
            </a:r>
            <a:r>
              <a:rPr lang="en-US" sz="1800" spc="-8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per</a:t>
            </a:r>
            <a:r>
              <a:rPr lang="en-US" sz="1800" spc="-8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1,000</a:t>
            </a:r>
            <a:r>
              <a:rPr lang="en-US" sz="1800" spc="-8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people</a:t>
            </a:r>
            <a:r>
              <a:rPr lang="en-US" sz="1800" spc="-8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</a:t>
            </a:r>
            <a:r>
              <a:rPr lang="en-US" sz="1800" spc="-8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around</a:t>
            </a:r>
            <a:r>
              <a:rPr lang="en-US" sz="1800" spc="-8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60</a:t>
            </a:r>
            <a:r>
              <a:rPr lang="en-US" sz="1800" spc="-9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percent</a:t>
            </a:r>
            <a:r>
              <a:rPr lang="en-US" sz="1800" spc="-8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en-US" sz="1800" spc="-8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national</a:t>
            </a:r>
            <a:r>
              <a:rPr lang="en-US" sz="1800" spc="-8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healthcare</a:t>
            </a:r>
            <a:r>
              <a:rPr lang="en-US" sz="1800" spc="-8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not</a:t>
            </a:r>
            <a:r>
              <a:rPr lang="en-US" sz="1800" spc="-8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covered</a:t>
            </a:r>
            <a:r>
              <a:rPr lang="en-US" sz="1800" spc="-2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by insurance it’s easy to understand why Telenor Health believes that mobile access can transform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healthcare</a:t>
            </a:r>
            <a:r>
              <a:rPr lang="en-US" sz="1800" spc="-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services</a:t>
            </a:r>
            <a:r>
              <a:rPr lang="en-US" sz="1800" spc="-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</a:t>
            </a:r>
            <a:r>
              <a:rPr lang="en-US" sz="1800" spc="-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Bangladesh.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Bef>
                <a:spcPts val="5"/>
              </a:spcBef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Although Telenor Health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utilises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traditional channels of marketing to promote its brand, they also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partner with pharmacies to create awareness among customers so that whenever customers come to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purchase</a:t>
            </a:r>
            <a:r>
              <a:rPr lang="en-US" sz="180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medication,</a:t>
            </a:r>
            <a:r>
              <a:rPr lang="en-US" sz="180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they</a:t>
            </a:r>
            <a:r>
              <a:rPr lang="en-US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also</a:t>
            </a:r>
            <a:r>
              <a:rPr lang="en-US" sz="18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receive</a:t>
            </a:r>
            <a:r>
              <a:rPr lang="en-US" sz="180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z="180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benefits</a:t>
            </a:r>
            <a:r>
              <a:rPr lang="en-US" sz="18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en-US" sz="180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Tonic</a:t>
            </a:r>
            <a:r>
              <a:rPr lang="en-US" sz="180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services.</a:t>
            </a:r>
            <a:r>
              <a:rPr lang="en-US" sz="180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</a:t>
            </a:r>
            <a:r>
              <a:rPr lang="en-US" sz="18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2018,</a:t>
            </a:r>
            <a:r>
              <a:rPr lang="en-US" sz="180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Fortune</a:t>
            </a:r>
            <a:r>
              <a:rPr lang="en-US" sz="180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listed</a:t>
            </a:r>
            <a:r>
              <a:rPr lang="en-US" sz="18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Telenor</a:t>
            </a:r>
            <a:r>
              <a:rPr lang="en-US" sz="1800" spc="-2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 its fourth annual ‘Change the World’ list of companies for its work in bringing affordable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healthcare to the mass market through Tonic. The strategic priority for Telenor Health is to design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personalised</a:t>
            </a:r>
            <a:r>
              <a:rPr lang="en-US" sz="1800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services</a:t>
            </a:r>
            <a:r>
              <a:rPr lang="en-US" sz="18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that</a:t>
            </a:r>
            <a:r>
              <a:rPr lang="en-US" sz="180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cater</a:t>
            </a:r>
            <a:r>
              <a:rPr lang="en-US" sz="1800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</a:t>
            </a:r>
            <a:r>
              <a:rPr lang="en-US" sz="18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</a:t>
            </a:r>
            <a:r>
              <a:rPr lang="en-US" sz="18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entire</a:t>
            </a:r>
            <a:r>
              <a:rPr lang="en-US" sz="1800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family</a:t>
            </a:r>
            <a:r>
              <a:rPr lang="en-US" sz="180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rather</a:t>
            </a:r>
            <a:r>
              <a:rPr lang="en-US" sz="18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than</a:t>
            </a:r>
            <a:r>
              <a:rPr lang="en-US" sz="1800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</a:t>
            </a:r>
            <a:r>
              <a:rPr lang="en-US" sz="18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individual</a:t>
            </a:r>
            <a:r>
              <a:rPr lang="en-US" sz="18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only.</a:t>
            </a:r>
            <a:r>
              <a:rPr lang="en-US" sz="1800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</a:t>
            </a:r>
            <a:r>
              <a:rPr lang="en-US" sz="18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terms</a:t>
            </a:r>
            <a:r>
              <a:rPr lang="en-US" sz="18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en-US" sz="1800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business</a:t>
            </a:r>
            <a:r>
              <a:rPr lang="en-US" sz="1800" spc="-2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development, the focus is on building a sustainable business, one which can overcome challenges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posed</a:t>
            </a:r>
            <a:r>
              <a:rPr lang="en-US" sz="18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by</a:t>
            </a:r>
            <a:r>
              <a:rPr lang="en-US" sz="180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customer</a:t>
            </a:r>
            <a:r>
              <a:rPr lang="en-US" sz="180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reluctance</a:t>
            </a:r>
            <a:r>
              <a:rPr lang="en-US" sz="180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</a:t>
            </a:r>
            <a:r>
              <a:rPr lang="en-US" sz="180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use</a:t>
            </a:r>
            <a:r>
              <a:rPr lang="en-US" sz="1800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digital</a:t>
            </a:r>
            <a:r>
              <a:rPr lang="en-US" sz="180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health</a:t>
            </a:r>
            <a:r>
              <a:rPr lang="en-US" sz="180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content</a:t>
            </a:r>
            <a:r>
              <a:rPr lang="en-US" sz="18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</a:t>
            </a:r>
            <a:r>
              <a:rPr lang="en-US" sz="180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seek</a:t>
            </a:r>
            <a:r>
              <a:rPr lang="en-US" sz="180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medical</a:t>
            </a:r>
            <a:r>
              <a:rPr lang="en-US" sz="180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advice</a:t>
            </a:r>
            <a:r>
              <a:rPr lang="en-US" sz="180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digitally</a:t>
            </a:r>
            <a:r>
              <a:rPr lang="en-US" sz="180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</a:t>
            </a:r>
            <a:r>
              <a:rPr lang="en-US" sz="180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also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internal</a:t>
            </a:r>
            <a:r>
              <a:rPr lang="en-US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cultural issues inherent in start-up businesses.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71153657"/>
      </p:ext>
    </p:extLst>
  </p:cSld>
  <p:clrMapOvr>
    <a:masterClrMapping/>
  </p:clrMapOvr>
</p:sld>
</file>

<file path=ppt/theme/theme1.xml><?xml version="1.0" encoding="utf-8"?>
<a:theme xmlns:a="http://schemas.openxmlformats.org/drawingml/2006/main" name="University of Roehampto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eek 1- Seminar Discussion Questions.pot [Compatibility Mode]" id="{707DB747-BDAE-43B9-9D86-1EFC7F82B10D}" vid="{EFE640EC-0A76-4F5C-B490-EA066F06D30F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2C08C9299421240B6D995644B6E3C3E" ma:contentTypeVersion="5" ma:contentTypeDescription="Create a new document." ma:contentTypeScope="" ma:versionID="f3baa54f500732990aa009a1c76f0bac">
  <xsd:schema xmlns:xsd="http://www.w3.org/2001/XMLSchema" xmlns:xs="http://www.w3.org/2001/XMLSchema" xmlns:p="http://schemas.microsoft.com/office/2006/metadata/properties" xmlns:ns3="8cba260e-3241-4289-a037-e391f31897a2" targetNamespace="http://schemas.microsoft.com/office/2006/metadata/properties" ma:root="true" ma:fieldsID="c255195508ac04f43878341bffda53dc" ns3:_="">
    <xsd:import namespace="8cba260e-3241-4289-a037-e391f31897a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cba260e-3241-4289-a037-e391f31897a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6294ABD-B005-40A0-B001-D188765AAB1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DE4E559-7BAA-43C2-815E-854644DB78FE}">
  <ds:schemaRefs>
    <ds:schemaRef ds:uri="http://purl.org/dc/terms/"/>
    <ds:schemaRef ds:uri="http://schemas.openxmlformats.org/package/2006/metadata/core-properties"/>
    <ds:schemaRef ds:uri="8cba260e-3241-4289-a037-e391f31897a2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A0101C81-EFDE-4C7C-B0A5-66752CC6D20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cba260e-3241-4289-a037-e391f31897a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440</Words>
  <Application>Microsoft Office PowerPoint</Application>
  <PresentationFormat>Widescreen</PresentationFormat>
  <Paragraphs>18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Roboto</vt:lpstr>
      <vt:lpstr>Times New Roman</vt:lpstr>
      <vt:lpstr>University of Roehampton</vt:lpstr>
      <vt:lpstr>Strategic Marketing</vt:lpstr>
      <vt:lpstr>Questions For Discussion- Telenor Health</vt:lpstr>
      <vt:lpstr>Questions for Discussion</vt:lpstr>
      <vt:lpstr>Telenor Health and Tonic digital health services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Strategic Marketing</dc:title>
  <dc:creator>Mohammed Rafiq</dc:creator>
  <cp:lastModifiedBy>Dumebi Konwea</cp:lastModifiedBy>
  <cp:revision>41</cp:revision>
  <dcterms:created xsi:type="dcterms:W3CDTF">2020-09-10T09:09:59Z</dcterms:created>
  <dcterms:modified xsi:type="dcterms:W3CDTF">2025-07-09T10:31:33Z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0x01010002C08C9299421240B6D995644B6E3C3E</vt:lpwstr>
  </property>
</Properties>
</file>