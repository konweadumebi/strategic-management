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5"/>
  </p:sldMasterIdLst>
  <p:notesMasterIdLst>
    <p:notesMasterId r:id="rId26"/>
  </p:notesMasterIdLst>
  <p:sldIdLst>
    <p:sldId id="256" r:id="rId6"/>
    <p:sldId id="307" r:id="rId7"/>
    <p:sldId id="310" r:id="rId8"/>
    <p:sldId id="311" r:id="rId9"/>
    <p:sldId id="789" r:id="rId10"/>
    <p:sldId id="270" r:id="rId11"/>
    <p:sldId id="272" r:id="rId12"/>
    <p:sldId id="309" r:id="rId13"/>
    <p:sldId id="790" r:id="rId14"/>
    <p:sldId id="791" r:id="rId15"/>
    <p:sldId id="316" r:id="rId16"/>
    <p:sldId id="803" r:id="rId17"/>
    <p:sldId id="269" r:id="rId18"/>
    <p:sldId id="303" r:id="rId19"/>
    <p:sldId id="292" r:id="rId20"/>
    <p:sldId id="280" r:id="rId21"/>
    <p:sldId id="288" r:id="rId22"/>
    <p:sldId id="290" r:id="rId23"/>
    <p:sldId id="805" r:id="rId24"/>
    <p:sldId id="807" r:id="rId25"/>
  </p:sldIdLst>
  <p:sldSz cx="12192000" cy="6858000"/>
  <p:notesSz cx="7102475" cy="9388475"/>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532"/>
    <a:srgbClr val="ECEBEA"/>
    <a:srgbClr val="00A0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2261D5-4D8D-4723-AFAA-F180C136EC67}" v="32" dt="2023-11-19T20:25:18.2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11" autoAdjust="0"/>
    <p:restoredTop sz="51220" autoAdjust="0"/>
  </p:normalViewPr>
  <p:slideViewPr>
    <p:cSldViewPr snapToGrid="0">
      <p:cViewPr varScale="1">
        <p:scale>
          <a:sx n="73" d="100"/>
          <a:sy n="73" d="100"/>
        </p:scale>
        <p:origin x="76" y="128"/>
      </p:cViewPr>
      <p:guideLst/>
    </p:cSldViewPr>
  </p:slideViewPr>
  <p:notesTextViewPr>
    <p:cViewPr>
      <p:scale>
        <a:sx n="1" d="1"/>
        <a:sy n="1" d="1"/>
      </p:scale>
      <p:origin x="0" y="0"/>
    </p:cViewPr>
  </p:notesTextViewPr>
  <p:sorterViewPr>
    <p:cViewPr>
      <p:scale>
        <a:sx n="34" d="100"/>
        <a:sy n="34"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D90DB4-38B7-4436-9448-F2D44F933FC3}" type="doc">
      <dgm:prSet loTypeId="urn:microsoft.com/office/officeart/2016/7/layout/VerticalDownArrowProcess" loCatId="process" qsTypeId="urn:microsoft.com/office/officeart/2005/8/quickstyle/simple1" qsCatId="simple" csTypeId="urn:microsoft.com/office/officeart/2005/8/colors/colorful2" csCatId="colorful"/>
      <dgm:spPr/>
      <dgm:t>
        <a:bodyPr/>
        <a:lstStyle/>
        <a:p>
          <a:endParaRPr lang="en-US"/>
        </a:p>
      </dgm:t>
    </dgm:pt>
    <dgm:pt modelId="{5C9B9A2F-583F-43F7-8D19-77D5FCE31470}">
      <dgm:prSet/>
      <dgm:spPr/>
      <dgm:t>
        <a:bodyPr/>
        <a:lstStyle/>
        <a:p>
          <a:r>
            <a:rPr lang="en-US"/>
            <a:t>Confirm</a:t>
          </a:r>
        </a:p>
      </dgm:t>
    </dgm:pt>
    <dgm:pt modelId="{A31EC2C3-607C-4E4F-89D0-C000FFCA8C5F}" type="parTrans" cxnId="{C4B7E630-D023-4853-AFBC-83C4EC112A59}">
      <dgm:prSet/>
      <dgm:spPr/>
      <dgm:t>
        <a:bodyPr/>
        <a:lstStyle/>
        <a:p>
          <a:endParaRPr lang="en-US"/>
        </a:p>
      </dgm:t>
    </dgm:pt>
    <dgm:pt modelId="{CC721C67-1210-4CC3-B1F7-F21729BF852B}" type="sibTrans" cxnId="{C4B7E630-D023-4853-AFBC-83C4EC112A59}">
      <dgm:prSet/>
      <dgm:spPr/>
      <dgm:t>
        <a:bodyPr/>
        <a:lstStyle/>
        <a:p>
          <a:endParaRPr lang="en-US"/>
        </a:p>
      </dgm:t>
    </dgm:pt>
    <dgm:pt modelId="{52D4F7A8-B5F1-426D-84F5-8C0F31AF8D94}">
      <dgm:prSet custT="1"/>
      <dgm:spPr/>
      <dgm:t>
        <a:bodyPr/>
        <a:lstStyle/>
        <a:p>
          <a:r>
            <a:rPr lang="en-US" sz="2000" dirty="0"/>
            <a:t>Confirm your objectives, target channels and align some measurable KPIs</a:t>
          </a:r>
        </a:p>
      </dgm:t>
    </dgm:pt>
    <dgm:pt modelId="{B6404094-CD00-48E3-9922-44673EFE10AB}" type="parTrans" cxnId="{0E14015E-F203-4073-B3FA-17055D5D8EB2}">
      <dgm:prSet/>
      <dgm:spPr/>
      <dgm:t>
        <a:bodyPr/>
        <a:lstStyle/>
        <a:p>
          <a:endParaRPr lang="en-US"/>
        </a:p>
      </dgm:t>
    </dgm:pt>
    <dgm:pt modelId="{6CDAA2A1-7146-4C38-A06A-3ACE7809CAC6}" type="sibTrans" cxnId="{0E14015E-F203-4073-B3FA-17055D5D8EB2}">
      <dgm:prSet/>
      <dgm:spPr/>
      <dgm:t>
        <a:bodyPr/>
        <a:lstStyle/>
        <a:p>
          <a:endParaRPr lang="en-US"/>
        </a:p>
      </dgm:t>
    </dgm:pt>
    <dgm:pt modelId="{9F1D3517-BED6-4498-8E67-7943704D5EAC}">
      <dgm:prSet/>
      <dgm:spPr/>
      <dgm:t>
        <a:bodyPr/>
        <a:lstStyle/>
        <a:p>
          <a:r>
            <a:rPr lang="en-US"/>
            <a:t>Define</a:t>
          </a:r>
        </a:p>
      </dgm:t>
    </dgm:pt>
    <dgm:pt modelId="{0ED0A542-523D-4BFE-9E4F-5939EBB3C90A}" type="parTrans" cxnId="{BA8DA73F-FFD0-4405-ABFB-D9657AC95E61}">
      <dgm:prSet/>
      <dgm:spPr/>
      <dgm:t>
        <a:bodyPr/>
        <a:lstStyle/>
        <a:p>
          <a:endParaRPr lang="en-US"/>
        </a:p>
      </dgm:t>
    </dgm:pt>
    <dgm:pt modelId="{8571882F-1D66-4B01-9710-E23FF7B0A435}" type="sibTrans" cxnId="{BA8DA73F-FFD0-4405-ABFB-D9657AC95E61}">
      <dgm:prSet/>
      <dgm:spPr/>
      <dgm:t>
        <a:bodyPr/>
        <a:lstStyle/>
        <a:p>
          <a:endParaRPr lang="en-US"/>
        </a:p>
      </dgm:t>
    </dgm:pt>
    <dgm:pt modelId="{6FDE43D8-BEB0-4830-9D7C-43E6DD08B0D0}">
      <dgm:prSet custT="1"/>
      <dgm:spPr/>
      <dgm:t>
        <a:bodyPr/>
        <a:lstStyle/>
        <a:p>
          <a:r>
            <a:rPr lang="en-US" sz="2400" dirty="0"/>
            <a:t>Define your target influencers</a:t>
          </a:r>
        </a:p>
      </dgm:t>
    </dgm:pt>
    <dgm:pt modelId="{3770657A-16FE-4F11-AF33-865B5EF3007D}" type="parTrans" cxnId="{5C021F7B-35D0-4E22-8AFD-2C71B41A2928}">
      <dgm:prSet/>
      <dgm:spPr/>
      <dgm:t>
        <a:bodyPr/>
        <a:lstStyle/>
        <a:p>
          <a:endParaRPr lang="en-US"/>
        </a:p>
      </dgm:t>
    </dgm:pt>
    <dgm:pt modelId="{5FC48DD7-116D-4253-B406-4EB1496F7742}" type="sibTrans" cxnId="{5C021F7B-35D0-4E22-8AFD-2C71B41A2928}">
      <dgm:prSet/>
      <dgm:spPr/>
      <dgm:t>
        <a:bodyPr/>
        <a:lstStyle/>
        <a:p>
          <a:endParaRPr lang="en-US"/>
        </a:p>
      </dgm:t>
    </dgm:pt>
    <dgm:pt modelId="{B37506A8-C8AC-42BA-A53A-213F21C9A230}">
      <dgm:prSet/>
      <dgm:spPr/>
      <dgm:t>
        <a:bodyPr/>
        <a:lstStyle/>
        <a:p>
          <a:r>
            <a:rPr lang="en-US"/>
            <a:t>Define</a:t>
          </a:r>
        </a:p>
      </dgm:t>
    </dgm:pt>
    <dgm:pt modelId="{A1FAE0B7-DACA-4EB5-AEBF-469B51162E77}" type="parTrans" cxnId="{566BE5BA-2368-4512-A1B4-A67F476E6C3A}">
      <dgm:prSet/>
      <dgm:spPr/>
      <dgm:t>
        <a:bodyPr/>
        <a:lstStyle/>
        <a:p>
          <a:endParaRPr lang="en-US"/>
        </a:p>
      </dgm:t>
    </dgm:pt>
    <dgm:pt modelId="{BF05A3C7-8E87-4BB0-89D8-F83BE8464E45}" type="sibTrans" cxnId="{566BE5BA-2368-4512-A1B4-A67F476E6C3A}">
      <dgm:prSet/>
      <dgm:spPr/>
      <dgm:t>
        <a:bodyPr/>
        <a:lstStyle/>
        <a:p>
          <a:endParaRPr lang="en-US"/>
        </a:p>
      </dgm:t>
    </dgm:pt>
    <dgm:pt modelId="{B2FFC5A6-8F5A-4D89-AC0C-FB001BA0DBB6}">
      <dgm:prSet custT="1"/>
      <dgm:spPr/>
      <dgm:t>
        <a:bodyPr/>
        <a:lstStyle/>
        <a:p>
          <a:r>
            <a:rPr lang="en-US" sz="2400" dirty="0"/>
            <a:t>Define your budget</a:t>
          </a:r>
        </a:p>
      </dgm:t>
    </dgm:pt>
    <dgm:pt modelId="{2110295C-C958-4147-8006-D1CC0A02F7F5}" type="parTrans" cxnId="{AD30A6D0-BD1E-47EE-8E10-564398E77E5E}">
      <dgm:prSet/>
      <dgm:spPr/>
      <dgm:t>
        <a:bodyPr/>
        <a:lstStyle/>
        <a:p>
          <a:endParaRPr lang="en-US"/>
        </a:p>
      </dgm:t>
    </dgm:pt>
    <dgm:pt modelId="{FE2585E7-0FA3-49AA-87EB-B64D06ADAA76}" type="sibTrans" cxnId="{AD30A6D0-BD1E-47EE-8E10-564398E77E5E}">
      <dgm:prSet/>
      <dgm:spPr/>
      <dgm:t>
        <a:bodyPr/>
        <a:lstStyle/>
        <a:p>
          <a:endParaRPr lang="en-US"/>
        </a:p>
      </dgm:t>
    </dgm:pt>
    <dgm:pt modelId="{20D38DBC-9CCC-4692-9D1E-2C98B55DBF3A}">
      <dgm:prSet/>
      <dgm:spPr/>
      <dgm:t>
        <a:bodyPr/>
        <a:lstStyle/>
        <a:p>
          <a:r>
            <a:rPr lang="en-US"/>
            <a:t>Build</a:t>
          </a:r>
        </a:p>
      </dgm:t>
    </dgm:pt>
    <dgm:pt modelId="{8A721D53-CE32-41B1-A3E0-2019D7C4824C}" type="parTrans" cxnId="{AD59E689-17E1-4C3D-8A10-8495E9BC90D8}">
      <dgm:prSet/>
      <dgm:spPr/>
      <dgm:t>
        <a:bodyPr/>
        <a:lstStyle/>
        <a:p>
          <a:endParaRPr lang="en-US"/>
        </a:p>
      </dgm:t>
    </dgm:pt>
    <dgm:pt modelId="{89C5AAF4-C051-43CF-9DE0-3DA91513E392}" type="sibTrans" cxnId="{AD59E689-17E1-4C3D-8A10-8495E9BC90D8}">
      <dgm:prSet/>
      <dgm:spPr/>
      <dgm:t>
        <a:bodyPr/>
        <a:lstStyle/>
        <a:p>
          <a:endParaRPr lang="en-US"/>
        </a:p>
      </dgm:t>
    </dgm:pt>
    <dgm:pt modelId="{A5809097-5AA5-4F07-980C-B7FEAC4471D8}">
      <dgm:prSet custT="1"/>
      <dgm:spPr/>
      <dgm:t>
        <a:bodyPr/>
        <a:lstStyle/>
        <a:p>
          <a:r>
            <a:rPr lang="en-US" sz="2800" dirty="0"/>
            <a:t>Build an influencer list and do your research</a:t>
          </a:r>
        </a:p>
      </dgm:t>
    </dgm:pt>
    <dgm:pt modelId="{AF2FCA31-BE39-42C9-9792-98C07A0C0494}" type="parTrans" cxnId="{640AAECB-C9F7-4381-AA9E-35A228F69D75}">
      <dgm:prSet/>
      <dgm:spPr/>
      <dgm:t>
        <a:bodyPr/>
        <a:lstStyle/>
        <a:p>
          <a:endParaRPr lang="en-US"/>
        </a:p>
      </dgm:t>
    </dgm:pt>
    <dgm:pt modelId="{D5E53B3F-9E7C-4EC7-BF47-1348A413F1BE}" type="sibTrans" cxnId="{640AAECB-C9F7-4381-AA9E-35A228F69D75}">
      <dgm:prSet/>
      <dgm:spPr/>
      <dgm:t>
        <a:bodyPr/>
        <a:lstStyle/>
        <a:p>
          <a:endParaRPr lang="en-US"/>
        </a:p>
      </dgm:t>
    </dgm:pt>
    <dgm:pt modelId="{12C66AB7-CBE0-4105-92C8-3AEF5E7889CE}">
      <dgm:prSet/>
      <dgm:spPr/>
      <dgm:t>
        <a:bodyPr/>
        <a:lstStyle/>
        <a:p>
          <a:r>
            <a:rPr lang="en-US"/>
            <a:t>Base</a:t>
          </a:r>
        </a:p>
      </dgm:t>
    </dgm:pt>
    <dgm:pt modelId="{83D8D343-5B74-4E1B-8B30-9299EDE948F0}" type="parTrans" cxnId="{0891F2E7-DFED-42DE-A8D6-B9C0C1DC549E}">
      <dgm:prSet/>
      <dgm:spPr/>
      <dgm:t>
        <a:bodyPr/>
        <a:lstStyle/>
        <a:p>
          <a:endParaRPr lang="en-US"/>
        </a:p>
      </dgm:t>
    </dgm:pt>
    <dgm:pt modelId="{2679B3CB-24E6-4299-97E9-CF80B497A8EA}" type="sibTrans" cxnId="{0891F2E7-DFED-42DE-A8D6-B9C0C1DC549E}">
      <dgm:prSet/>
      <dgm:spPr/>
      <dgm:t>
        <a:bodyPr/>
        <a:lstStyle/>
        <a:p>
          <a:endParaRPr lang="en-US"/>
        </a:p>
      </dgm:t>
    </dgm:pt>
    <dgm:pt modelId="{3C62182F-7F25-4F4B-B234-68DF0C04F498}">
      <dgm:prSet custT="1"/>
      <dgm:spPr/>
      <dgm:t>
        <a:bodyPr/>
        <a:lstStyle/>
        <a:p>
          <a:r>
            <a:rPr lang="en-US" sz="2400" dirty="0"/>
            <a:t>Base your pitch on the individual and clearly list the essentials</a:t>
          </a:r>
        </a:p>
      </dgm:t>
    </dgm:pt>
    <dgm:pt modelId="{0726BC58-0E7B-44EC-BE02-63AD6212A5D9}" type="parTrans" cxnId="{F684F492-8128-47CE-BC01-CEBDB8BFDC55}">
      <dgm:prSet/>
      <dgm:spPr/>
      <dgm:t>
        <a:bodyPr/>
        <a:lstStyle/>
        <a:p>
          <a:endParaRPr lang="en-US"/>
        </a:p>
      </dgm:t>
    </dgm:pt>
    <dgm:pt modelId="{181383AA-9F0D-487B-912E-F6C3955B6DA8}" type="sibTrans" cxnId="{F684F492-8128-47CE-BC01-CEBDB8BFDC55}">
      <dgm:prSet/>
      <dgm:spPr/>
      <dgm:t>
        <a:bodyPr/>
        <a:lstStyle/>
        <a:p>
          <a:endParaRPr lang="en-US"/>
        </a:p>
      </dgm:t>
    </dgm:pt>
    <dgm:pt modelId="{3029DD85-C7ED-DA4D-981A-79E868F2C416}" type="pres">
      <dgm:prSet presAssocID="{F7D90DB4-38B7-4436-9448-F2D44F933FC3}" presName="Name0" presStyleCnt="0">
        <dgm:presLayoutVars>
          <dgm:dir/>
          <dgm:animLvl val="lvl"/>
          <dgm:resizeHandles val="exact"/>
        </dgm:presLayoutVars>
      </dgm:prSet>
      <dgm:spPr/>
    </dgm:pt>
    <dgm:pt modelId="{0FBB1F09-2308-4C48-AB66-0306CEDFDB2C}" type="pres">
      <dgm:prSet presAssocID="{12C66AB7-CBE0-4105-92C8-3AEF5E7889CE}" presName="boxAndChildren" presStyleCnt="0"/>
      <dgm:spPr/>
    </dgm:pt>
    <dgm:pt modelId="{27E01DFF-9B32-154E-9A7B-7367F88EFCDD}" type="pres">
      <dgm:prSet presAssocID="{12C66AB7-CBE0-4105-92C8-3AEF5E7889CE}" presName="parentTextBox" presStyleLbl="alignNode1" presStyleIdx="0" presStyleCnt="5"/>
      <dgm:spPr/>
    </dgm:pt>
    <dgm:pt modelId="{6E145C96-971E-7246-B542-E0637785976F}" type="pres">
      <dgm:prSet presAssocID="{12C66AB7-CBE0-4105-92C8-3AEF5E7889CE}" presName="descendantBox" presStyleLbl="bgAccFollowNode1" presStyleIdx="0" presStyleCnt="5"/>
      <dgm:spPr/>
    </dgm:pt>
    <dgm:pt modelId="{CF3C1BE5-1821-2341-A6C5-95124403C90E}" type="pres">
      <dgm:prSet presAssocID="{89C5AAF4-C051-43CF-9DE0-3DA91513E392}" presName="sp" presStyleCnt="0"/>
      <dgm:spPr/>
    </dgm:pt>
    <dgm:pt modelId="{814A71B7-D43A-F742-845F-06A56A99D0B4}" type="pres">
      <dgm:prSet presAssocID="{20D38DBC-9CCC-4692-9D1E-2C98B55DBF3A}" presName="arrowAndChildren" presStyleCnt="0"/>
      <dgm:spPr/>
    </dgm:pt>
    <dgm:pt modelId="{A259B890-50D6-174C-857F-B663BD5D35C7}" type="pres">
      <dgm:prSet presAssocID="{20D38DBC-9CCC-4692-9D1E-2C98B55DBF3A}" presName="parentTextArrow" presStyleLbl="node1" presStyleIdx="0" presStyleCnt="0"/>
      <dgm:spPr/>
    </dgm:pt>
    <dgm:pt modelId="{E10BEC25-6554-774C-A45E-B889509E709C}" type="pres">
      <dgm:prSet presAssocID="{20D38DBC-9CCC-4692-9D1E-2C98B55DBF3A}" presName="arrow" presStyleLbl="alignNode1" presStyleIdx="1" presStyleCnt="5"/>
      <dgm:spPr/>
    </dgm:pt>
    <dgm:pt modelId="{8C78BB51-6B33-F44B-B6B4-7C98C66C637A}" type="pres">
      <dgm:prSet presAssocID="{20D38DBC-9CCC-4692-9D1E-2C98B55DBF3A}" presName="descendantArrow" presStyleLbl="bgAccFollowNode1" presStyleIdx="1" presStyleCnt="5"/>
      <dgm:spPr/>
    </dgm:pt>
    <dgm:pt modelId="{6CD92329-5676-204F-986A-5778677EFBDF}" type="pres">
      <dgm:prSet presAssocID="{BF05A3C7-8E87-4BB0-89D8-F83BE8464E45}" presName="sp" presStyleCnt="0"/>
      <dgm:spPr/>
    </dgm:pt>
    <dgm:pt modelId="{3E2B3CEC-6C4F-AD4F-BFBB-B11C8BD46C6F}" type="pres">
      <dgm:prSet presAssocID="{B37506A8-C8AC-42BA-A53A-213F21C9A230}" presName="arrowAndChildren" presStyleCnt="0"/>
      <dgm:spPr/>
    </dgm:pt>
    <dgm:pt modelId="{BA0CCB2A-095C-184A-AE2A-B30E8C8D699E}" type="pres">
      <dgm:prSet presAssocID="{B37506A8-C8AC-42BA-A53A-213F21C9A230}" presName="parentTextArrow" presStyleLbl="node1" presStyleIdx="0" presStyleCnt="0"/>
      <dgm:spPr/>
    </dgm:pt>
    <dgm:pt modelId="{F8ABC6A6-A8FF-5B4F-B3E1-9D4F1107ECE8}" type="pres">
      <dgm:prSet presAssocID="{B37506A8-C8AC-42BA-A53A-213F21C9A230}" presName="arrow" presStyleLbl="alignNode1" presStyleIdx="2" presStyleCnt="5"/>
      <dgm:spPr/>
    </dgm:pt>
    <dgm:pt modelId="{8B223604-0774-D245-A56C-65916DF461DA}" type="pres">
      <dgm:prSet presAssocID="{B37506A8-C8AC-42BA-A53A-213F21C9A230}" presName="descendantArrow" presStyleLbl="bgAccFollowNode1" presStyleIdx="2" presStyleCnt="5"/>
      <dgm:spPr/>
    </dgm:pt>
    <dgm:pt modelId="{DA573798-1E02-2148-A2BD-E3A5E2D4E2C7}" type="pres">
      <dgm:prSet presAssocID="{8571882F-1D66-4B01-9710-E23FF7B0A435}" presName="sp" presStyleCnt="0"/>
      <dgm:spPr/>
    </dgm:pt>
    <dgm:pt modelId="{44726D93-DDDE-9146-BE12-11F1C1465CCE}" type="pres">
      <dgm:prSet presAssocID="{9F1D3517-BED6-4498-8E67-7943704D5EAC}" presName="arrowAndChildren" presStyleCnt="0"/>
      <dgm:spPr/>
    </dgm:pt>
    <dgm:pt modelId="{07445EAC-B0BB-2A45-B467-80F7503D5280}" type="pres">
      <dgm:prSet presAssocID="{9F1D3517-BED6-4498-8E67-7943704D5EAC}" presName="parentTextArrow" presStyleLbl="node1" presStyleIdx="0" presStyleCnt="0"/>
      <dgm:spPr/>
    </dgm:pt>
    <dgm:pt modelId="{AF7726BA-18BB-374A-AA8D-0E604404D110}" type="pres">
      <dgm:prSet presAssocID="{9F1D3517-BED6-4498-8E67-7943704D5EAC}" presName="arrow" presStyleLbl="alignNode1" presStyleIdx="3" presStyleCnt="5"/>
      <dgm:spPr/>
    </dgm:pt>
    <dgm:pt modelId="{14FFDD9A-778E-0F4E-AB5C-CE1E3848303F}" type="pres">
      <dgm:prSet presAssocID="{9F1D3517-BED6-4498-8E67-7943704D5EAC}" presName="descendantArrow" presStyleLbl="bgAccFollowNode1" presStyleIdx="3" presStyleCnt="5"/>
      <dgm:spPr/>
    </dgm:pt>
    <dgm:pt modelId="{C7244928-EB1C-2D4A-BEB0-EE28F76202B7}" type="pres">
      <dgm:prSet presAssocID="{CC721C67-1210-4CC3-B1F7-F21729BF852B}" presName="sp" presStyleCnt="0"/>
      <dgm:spPr/>
    </dgm:pt>
    <dgm:pt modelId="{3CAD4585-8030-484E-9094-D7404E5D05E5}" type="pres">
      <dgm:prSet presAssocID="{5C9B9A2F-583F-43F7-8D19-77D5FCE31470}" presName="arrowAndChildren" presStyleCnt="0"/>
      <dgm:spPr/>
    </dgm:pt>
    <dgm:pt modelId="{AEFF6069-E911-FA41-9706-53516856F034}" type="pres">
      <dgm:prSet presAssocID="{5C9B9A2F-583F-43F7-8D19-77D5FCE31470}" presName="parentTextArrow" presStyleLbl="node1" presStyleIdx="0" presStyleCnt="0"/>
      <dgm:spPr/>
    </dgm:pt>
    <dgm:pt modelId="{C1938F9E-DAB7-F24D-A55A-F765B1F7DC61}" type="pres">
      <dgm:prSet presAssocID="{5C9B9A2F-583F-43F7-8D19-77D5FCE31470}" presName="arrow" presStyleLbl="alignNode1" presStyleIdx="4" presStyleCnt="5"/>
      <dgm:spPr/>
    </dgm:pt>
    <dgm:pt modelId="{A49BA4D6-9006-AF44-912C-DC7B50CA6140}" type="pres">
      <dgm:prSet presAssocID="{5C9B9A2F-583F-43F7-8D19-77D5FCE31470}" presName="descendantArrow" presStyleLbl="bgAccFollowNode1" presStyleIdx="4" presStyleCnt="5"/>
      <dgm:spPr/>
    </dgm:pt>
  </dgm:ptLst>
  <dgm:cxnLst>
    <dgm:cxn modelId="{FDE86D06-4F7A-2A46-97A4-4ACC63A61283}" type="presOf" srcId="{5C9B9A2F-583F-43F7-8D19-77D5FCE31470}" destId="{C1938F9E-DAB7-F24D-A55A-F765B1F7DC61}" srcOrd="1" destOrd="0" presId="urn:microsoft.com/office/officeart/2016/7/layout/VerticalDownArrowProcess"/>
    <dgm:cxn modelId="{045A570C-18E2-7A4B-91F3-3C352EB68F5D}" type="presOf" srcId="{20D38DBC-9CCC-4692-9D1E-2C98B55DBF3A}" destId="{E10BEC25-6554-774C-A45E-B889509E709C}" srcOrd="1" destOrd="0" presId="urn:microsoft.com/office/officeart/2016/7/layout/VerticalDownArrowProcess"/>
    <dgm:cxn modelId="{D3620213-0A7D-DF4A-A61B-91C98AB99CCE}" type="presOf" srcId="{B2FFC5A6-8F5A-4D89-AC0C-FB001BA0DBB6}" destId="{8B223604-0774-D245-A56C-65916DF461DA}" srcOrd="0" destOrd="0" presId="urn:microsoft.com/office/officeart/2016/7/layout/VerticalDownArrowProcess"/>
    <dgm:cxn modelId="{46D2721D-8EFD-4541-84CD-4774DBEFFF81}" type="presOf" srcId="{A5809097-5AA5-4F07-980C-B7FEAC4471D8}" destId="{8C78BB51-6B33-F44B-B6B4-7C98C66C637A}" srcOrd="0" destOrd="0" presId="urn:microsoft.com/office/officeart/2016/7/layout/VerticalDownArrowProcess"/>
    <dgm:cxn modelId="{54937F1D-174F-F34C-82C5-E6360D77AE19}" type="presOf" srcId="{B37506A8-C8AC-42BA-A53A-213F21C9A230}" destId="{BA0CCB2A-095C-184A-AE2A-B30E8C8D699E}" srcOrd="0" destOrd="0" presId="urn:microsoft.com/office/officeart/2016/7/layout/VerticalDownArrowProcess"/>
    <dgm:cxn modelId="{C8DB8E2C-E898-1441-AF8D-B6A42FF6DE82}" type="presOf" srcId="{9F1D3517-BED6-4498-8E67-7943704D5EAC}" destId="{07445EAC-B0BB-2A45-B467-80F7503D5280}" srcOrd="0" destOrd="0" presId="urn:microsoft.com/office/officeart/2016/7/layout/VerticalDownArrowProcess"/>
    <dgm:cxn modelId="{C4B7E630-D023-4853-AFBC-83C4EC112A59}" srcId="{F7D90DB4-38B7-4436-9448-F2D44F933FC3}" destId="{5C9B9A2F-583F-43F7-8D19-77D5FCE31470}" srcOrd="0" destOrd="0" parTransId="{A31EC2C3-607C-4E4F-89D0-C000FFCA8C5F}" sibTransId="{CC721C67-1210-4CC3-B1F7-F21729BF852B}"/>
    <dgm:cxn modelId="{BD70FE38-980B-534A-A5B2-4AC379E425BE}" type="presOf" srcId="{3C62182F-7F25-4F4B-B234-68DF0C04F498}" destId="{6E145C96-971E-7246-B542-E0637785976F}" srcOrd="0" destOrd="0" presId="urn:microsoft.com/office/officeart/2016/7/layout/VerticalDownArrowProcess"/>
    <dgm:cxn modelId="{BA8DA73F-FFD0-4405-ABFB-D9657AC95E61}" srcId="{F7D90DB4-38B7-4436-9448-F2D44F933FC3}" destId="{9F1D3517-BED6-4498-8E67-7943704D5EAC}" srcOrd="1" destOrd="0" parTransId="{0ED0A542-523D-4BFE-9E4F-5939EBB3C90A}" sibTransId="{8571882F-1D66-4B01-9710-E23FF7B0A435}"/>
    <dgm:cxn modelId="{0E14015E-F203-4073-B3FA-17055D5D8EB2}" srcId="{5C9B9A2F-583F-43F7-8D19-77D5FCE31470}" destId="{52D4F7A8-B5F1-426D-84F5-8C0F31AF8D94}" srcOrd="0" destOrd="0" parTransId="{B6404094-CD00-48E3-9922-44673EFE10AB}" sibTransId="{6CDAA2A1-7146-4C38-A06A-3ACE7809CAC6}"/>
    <dgm:cxn modelId="{019FA847-ABF5-7740-878F-545531C6253A}" type="presOf" srcId="{6FDE43D8-BEB0-4830-9D7C-43E6DD08B0D0}" destId="{14FFDD9A-778E-0F4E-AB5C-CE1E3848303F}" srcOrd="0" destOrd="0" presId="urn:microsoft.com/office/officeart/2016/7/layout/VerticalDownArrowProcess"/>
    <dgm:cxn modelId="{D6A2156A-C262-E744-AC4E-2305136D17C3}" type="presOf" srcId="{12C66AB7-CBE0-4105-92C8-3AEF5E7889CE}" destId="{27E01DFF-9B32-154E-9A7B-7367F88EFCDD}" srcOrd="0" destOrd="0" presId="urn:microsoft.com/office/officeart/2016/7/layout/VerticalDownArrowProcess"/>
    <dgm:cxn modelId="{AEF73976-7C69-E149-826E-D7BEB18B8A6F}" type="presOf" srcId="{52D4F7A8-B5F1-426D-84F5-8C0F31AF8D94}" destId="{A49BA4D6-9006-AF44-912C-DC7B50CA6140}" srcOrd="0" destOrd="0" presId="urn:microsoft.com/office/officeart/2016/7/layout/VerticalDownArrowProcess"/>
    <dgm:cxn modelId="{5C021F7B-35D0-4E22-8AFD-2C71B41A2928}" srcId="{9F1D3517-BED6-4498-8E67-7943704D5EAC}" destId="{6FDE43D8-BEB0-4830-9D7C-43E6DD08B0D0}" srcOrd="0" destOrd="0" parTransId="{3770657A-16FE-4F11-AF33-865B5EF3007D}" sibTransId="{5FC48DD7-116D-4253-B406-4EB1496F7742}"/>
    <dgm:cxn modelId="{027E3889-2F45-A140-800A-1B2C75B14CBB}" type="presOf" srcId="{9F1D3517-BED6-4498-8E67-7943704D5EAC}" destId="{AF7726BA-18BB-374A-AA8D-0E604404D110}" srcOrd="1" destOrd="0" presId="urn:microsoft.com/office/officeart/2016/7/layout/VerticalDownArrowProcess"/>
    <dgm:cxn modelId="{AD59E689-17E1-4C3D-8A10-8495E9BC90D8}" srcId="{F7D90DB4-38B7-4436-9448-F2D44F933FC3}" destId="{20D38DBC-9CCC-4692-9D1E-2C98B55DBF3A}" srcOrd="3" destOrd="0" parTransId="{8A721D53-CE32-41B1-A3E0-2019D7C4824C}" sibTransId="{89C5AAF4-C051-43CF-9DE0-3DA91513E392}"/>
    <dgm:cxn modelId="{F684F492-8128-47CE-BC01-CEBDB8BFDC55}" srcId="{12C66AB7-CBE0-4105-92C8-3AEF5E7889CE}" destId="{3C62182F-7F25-4F4B-B234-68DF0C04F498}" srcOrd="0" destOrd="0" parTransId="{0726BC58-0E7B-44EC-BE02-63AD6212A5D9}" sibTransId="{181383AA-9F0D-487B-912E-F6C3955B6DA8}"/>
    <dgm:cxn modelId="{D24B5FA6-E403-424C-9FFA-33AEBAD4340D}" type="presOf" srcId="{B37506A8-C8AC-42BA-A53A-213F21C9A230}" destId="{F8ABC6A6-A8FF-5B4F-B3E1-9D4F1107ECE8}" srcOrd="1" destOrd="0" presId="urn:microsoft.com/office/officeart/2016/7/layout/VerticalDownArrowProcess"/>
    <dgm:cxn modelId="{566BE5BA-2368-4512-A1B4-A67F476E6C3A}" srcId="{F7D90DB4-38B7-4436-9448-F2D44F933FC3}" destId="{B37506A8-C8AC-42BA-A53A-213F21C9A230}" srcOrd="2" destOrd="0" parTransId="{A1FAE0B7-DACA-4EB5-AEBF-469B51162E77}" sibTransId="{BF05A3C7-8E87-4BB0-89D8-F83BE8464E45}"/>
    <dgm:cxn modelId="{5927A6C6-3D78-CA43-A226-FD51CACBC298}" type="presOf" srcId="{20D38DBC-9CCC-4692-9D1E-2C98B55DBF3A}" destId="{A259B890-50D6-174C-857F-B663BD5D35C7}" srcOrd="0" destOrd="0" presId="urn:microsoft.com/office/officeart/2016/7/layout/VerticalDownArrowProcess"/>
    <dgm:cxn modelId="{640AAECB-C9F7-4381-AA9E-35A228F69D75}" srcId="{20D38DBC-9CCC-4692-9D1E-2C98B55DBF3A}" destId="{A5809097-5AA5-4F07-980C-B7FEAC4471D8}" srcOrd="0" destOrd="0" parTransId="{AF2FCA31-BE39-42C9-9792-98C07A0C0494}" sibTransId="{D5E53B3F-9E7C-4EC7-BF47-1348A413F1BE}"/>
    <dgm:cxn modelId="{AD30A6D0-BD1E-47EE-8E10-564398E77E5E}" srcId="{B37506A8-C8AC-42BA-A53A-213F21C9A230}" destId="{B2FFC5A6-8F5A-4D89-AC0C-FB001BA0DBB6}" srcOrd="0" destOrd="0" parTransId="{2110295C-C958-4147-8006-D1CC0A02F7F5}" sibTransId="{FE2585E7-0FA3-49AA-87EB-B64D06ADAA76}"/>
    <dgm:cxn modelId="{0891F2E7-DFED-42DE-A8D6-B9C0C1DC549E}" srcId="{F7D90DB4-38B7-4436-9448-F2D44F933FC3}" destId="{12C66AB7-CBE0-4105-92C8-3AEF5E7889CE}" srcOrd="4" destOrd="0" parTransId="{83D8D343-5B74-4E1B-8B30-9299EDE948F0}" sibTransId="{2679B3CB-24E6-4299-97E9-CF80B497A8EA}"/>
    <dgm:cxn modelId="{B8F372ED-130D-6646-88D4-CDFDF74636BF}" type="presOf" srcId="{5C9B9A2F-583F-43F7-8D19-77D5FCE31470}" destId="{AEFF6069-E911-FA41-9706-53516856F034}" srcOrd="0" destOrd="0" presId="urn:microsoft.com/office/officeart/2016/7/layout/VerticalDownArrowProcess"/>
    <dgm:cxn modelId="{48F0B2F9-79BA-D444-BB0D-33B8618FAD92}" type="presOf" srcId="{F7D90DB4-38B7-4436-9448-F2D44F933FC3}" destId="{3029DD85-C7ED-DA4D-981A-79E868F2C416}" srcOrd="0" destOrd="0" presId="urn:microsoft.com/office/officeart/2016/7/layout/VerticalDownArrowProcess"/>
    <dgm:cxn modelId="{07ACA7FB-4D69-434F-98B9-D6AADB240C8B}" type="presParOf" srcId="{3029DD85-C7ED-DA4D-981A-79E868F2C416}" destId="{0FBB1F09-2308-4C48-AB66-0306CEDFDB2C}" srcOrd="0" destOrd="0" presId="urn:microsoft.com/office/officeart/2016/7/layout/VerticalDownArrowProcess"/>
    <dgm:cxn modelId="{68C414E3-96EA-8F42-9047-7D3FB8655821}" type="presParOf" srcId="{0FBB1F09-2308-4C48-AB66-0306CEDFDB2C}" destId="{27E01DFF-9B32-154E-9A7B-7367F88EFCDD}" srcOrd="0" destOrd="0" presId="urn:microsoft.com/office/officeart/2016/7/layout/VerticalDownArrowProcess"/>
    <dgm:cxn modelId="{906C3FE0-2FF3-374A-A8A6-AD47240CB1D7}" type="presParOf" srcId="{0FBB1F09-2308-4C48-AB66-0306CEDFDB2C}" destId="{6E145C96-971E-7246-B542-E0637785976F}" srcOrd="1" destOrd="0" presId="urn:microsoft.com/office/officeart/2016/7/layout/VerticalDownArrowProcess"/>
    <dgm:cxn modelId="{9D34E2A0-4B72-294B-B4A4-074208B9CCF7}" type="presParOf" srcId="{3029DD85-C7ED-DA4D-981A-79E868F2C416}" destId="{CF3C1BE5-1821-2341-A6C5-95124403C90E}" srcOrd="1" destOrd="0" presId="urn:microsoft.com/office/officeart/2016/7/layout/VerticalDownArrowProcess"/>
    <dgm:cxn modelId="{0B93CC49-1CC0-D649-8CD0-C6C9F377B3AC}" type="presParOf" srcId="{3029DD85-C7ED-DA4D-981A-79E868F2C416}" destId="{814A71B7-D43A-F742-845F-06A56A99D0B4}" srcOrd="2" destOrd="0" presId="urn:microsoft.com/office/officeart/2016/7/layout/VerticalDownArrowProcess"/>
    <dgm:cxn modelId="{17658F42-03B9-444A-BDAF-9104BA9D76C4}" type="presParOf" srcId="{814A71B7-D43A-F742-845F-06A56A99D0B4}" destId="{A259B890-50D6-174C-857F-B663BD5D35C7}" srcOrd="0" destOrd="0" presId="urn:microsoft.com/office/officeart/2016/7/layout/VerticalDownArrowProcess"/>
    <dgm:cxn modelId="{08FCEBA1-1F3B-5C4C-9E88-2136447EF3D3}" type="presParOf" srcId="{814A71B7-D43A-F742-845F-06A56A99D0B4}" destId="{E10BEC25-6554-774C-A45E-B889509E709C}" srcOrd="1" destOrd="0" presId="urn:microsoft.com/office/officeart/2016/7/layout/VerticalDownArrowProcess"/>
    <dgm:cxn modelId="{44FD9A9D-32FE-2E4A-890B-C081A6E9C258}" type="presParOf" srcId="{814A71B7-D43A-F742-845F-06A56A99D0B4}" destId="{8C78BB51-6B33-F44B-B6B4-7C98C66C637A}" srcOrd="2" destOrd="0" presId="urn:microsoft.com/office/officeart/2016/7/layout/VerticalDownArrowProcess"/>
    <dgm:cxn modelId="{422B3C8E-E8D1-E747-B386-F671FF09E7C1}" type="presParOf" srcId="{3029DD85-C7ED-DA4D-981A-79E868F2C416}" destId="{6CD92329-5676-204F-986A-5778677EFBDF}" srcOrd="3" destOrd="0" presId="urn:microsoft.com/office/officeart/2016/7/layout/VerticalDownArrowProcess"/>
    <dgm:cxn modelId="{F849E2D1-CEE5-9640-B93F-560CB3154411}" type="presParOf" srcId="{3029DD85-C7ED-DA4D-981A-79E868F2C416}" destId="{3E2B3CEC-6C4F-AD4F-BFBB-B11C8BD46C6F}" srcOrd="4" destOrd="0" presId="urn:microsoft.com/office/officeart/2016/7/layout/VerticalDownArrowProcess"/>
    <dgm:cxn modelId="{93AEDA97-D5B9-D041-989D-5B21801252CF}" type="presParOf" srcId="{3E2B3CEC-6C4F-AD4F-BFBB-B11C8BD46C6F}" destId="{BA0CCB2A-095C-184A-AE2A-B30E8C8D699E}" srcOrd="0" destOrd="0" presId="urn:microsoft.com/office/officeart/2016/7/layout/VerticalDownArrowProcess"/>
    <dgm:cxn modelId="{907F0BFF-4C3B-EC43-9C61-1F01B257FFEC}" type="presParOf" srcId="{3E2B3CEC-6C4F-AD4F-BFBB-B11C8BD46C6F}" destId="{F8ABC6A6-A8FF-5B4F-B3E1-9D4F1107ECE8}" srcOrd="1" destOrd="0" presId="urn:microsoft.com/office/officeart/2016/7/layout/VerticalDownArrowProcess"/>
    <dgm:cxn modelId="{A250D0D2-977C-444A-BA52-10F8A88F84E0}" type="presParOf" srcId="{3E2B3CEC-6C4F-AD4F-BFBB-B11C8BD46C6F}" destId="{8B223604-0774-D245-A56C-65916DF461DA}" srcOrd="2" destOrd="0" presId="urn:microsoft.com/office/officeart/2016/7/layout/VerticalDownArrowProcess"/>
    <dgm:cxn modelId="{226B2F90-48DF-5A4C-AE71-0235FE839287}" type="presParOf" srcId="{3029DD85-C7ED-DA4D-981A-79E868F2C416}" destId="{DA573798-1E02-2148-A2BD-E3A5E2D4E2C7}" srcOrd="5" destOrd="0" presId="urn:microsoft.com/office/officeart/2016/7/layout/VerticalDownArrowProcess"/>
    <dgm:cxn modelId="{6EEF9975-779C-F14D-BC6E-076BB5B88AD8}" type="presParOf" srcId="{3029DD85-C7ED-DA4D-981A-79E868F2C416}" destId="{44726D93-DDDE-9146-BE12-11F1C1465CCE}" srcOrd="6" destOrd="0" presId="urn:microsoft.com/office/officeart/2016/7/layout/VerticalDownArrowProcess"/>
    <dgm:cxn modelId="{85E817D9-4331-184D-8FD2-11CE3521AF37}" type="presParOf" srcId="{44726D93-DDDE-9146-BE12-11F1C1465CCE}" destId="{07445EAC-B0BB-2A45-B467-80F7503D5280}" srcOrd="0" destOrd="0" presId="urn:microsoft.com/office/officeart/2016/7/layout/VerticalDownArrowProcess"/>
    <dgm:cxn modelId="{BFD7862E-407A-BD4B-B2B5-8E2DF842E9E2}" type="presParOf" srcId="{44726D93-DDDE-9146-BE12-11F1C1465CCE}" destId="{AF7726BA-18BB-374A-AA8D-0E604404D110}" srcOrd="1" destOrd="0" presId="urn:microsoft.com/office/officeart/2016/7/layout/VerticalDownArrowProcess"/>
    <dgm:cxn modelId="{9808B945-C0B3-0F46-8A58-93A05BFC5628}" type="presParOf" srcId="{44726D93-DDDE-9146-BE12-11F1C1465CCE}" destId="{14FFDD9A-778E-0F4E-AB5C-CE1E3848303F}" srcOrd="2" destOrd="0" presId="urn:microsoft.com/office/officeart/2016/7/layout/VerticalDownArrowProcess"/>
    <dgm:cxn modelId="{E5A8A154-29CF-6349-9931-D48E65AA1E73}" type="presParOf" srcId="{3029DD85-C7ED-DA4D-981A-79E868F2C416}" destId="{C7244928-EB1C-2D4A-BEB0-EE28F76202B7}" srcOrd="7" destOrd="0" presId="urn:microsoft.com/office/officeart/2016/7/layout/VerticalDownArrowProcess"/>
    <dgm:cxn modelId="{F9F20A08-B6EB-6D4C-9B9D-1F71856683A8}" type="presParOf" srcId="{3029DD85-C7ED-DA4D-981A-79E868F2C416}" destId="{3CAD4585-8030-484E-9094-D7404E5D05E5}" srcOrd="8" destOrd="0" presId="urn:microsoft.com/office/officeart/2016/7/layout/VerticalDownArrowProcess"/>
    <dgm:cxn modelId="{C3B3EF5F-040D-664A-BAB6-83198F12DF81}" type="presParOf" srcId="{3CAD4585-8030-484E-9094-D7404E5D05E5}" destId="{AEFF6069-E911-FA41-9706-53516856F034}" srcOrd="0" destOrd="0" presId="urn:microsoft.com/office/officeart/2016/7/layout/VerticalDownArrowProcess"/>
    <dgm:cxn modelId="{28B8BCE7-FE6E-A64B-B83F-3B9362075B2C}" type="presParOf" srcId="{3CAD4585-8030-484E-9094-D7404E5D05E5}" destId="{C1938F9E-DAB7-F24D-A55A-F765B1F7DC61}" srcOrd="1" destOrd="0" presId="urn:microsoft.com/office/officeart/2016/7/layout/VerticalDownArrowProcess"/>
    <dgm:cxn modelId="{3FBFE945-333C-5542-B084-87C67A059B7D}" type="presParOf" srcId="{3CAD4585-8030-484E-9094-D7404E5D05E5}" destId="{A49BA4D6-9006-AF44-912C-DC7B50CA6140}"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01DFF-9B32-154E-9A7B-7367F88EFCDD}">
      <dsp:nvSpPr>
        <dsp:cNvPr id="0" name=""/>
        <dsp:cNvSpPr/>
      </dsp:nvSpPr>
      <dsp:spPr>
        <a:xfrm>
          <a:off x="0" y="5053661"/>
          <a:ext cx="1640940" cy="829095"/>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Base</a:t>
          </a:r>
        </a:p>
      </dsp:txBody>
      <dsp:txXfrm>
        <a:off x="0" y="5053661"/>
        <a:ext cx="1640940" cy="829095"/>
      </dsp:txXfrm>
    </dsp:sp>
    <dsp:sp modelId="{6E145C96-971E-7246-B542-E0637785976F}">
      <dsp:nvSpPr>
        <dsp:cNvPr id="0" name=""/>
        <dsp:cNvSpPr/>
      </dsp:nvSpPr>
      <dsp:spPr>
        <a:xfrm>
          <a:off x="1640940" y="5053661"/>
          <a:ext cx="4922821" cy="82909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304800" rIns="99858" bIns="304800" numCol="1" spcCol="1270" anchor="ctr" anchorCtr="0">
          <a:noAutofit/>
        </a:bodyPr>
        <a:lstStyle/>
        <a:p>
          <a:pPr marL="0" lvl="0" indent="0" algn="l" defTabSz="1066800">
            <a:lnSpc>
              <a:spcPct val="90000"/>
            </a:lnSpc>
            <a:spcBef>
              <a:spcPct val="0"/>
            </a:spcBef>
            <a:spcAft>
              <a:spcPct val="35000"/>
            </a:spcAft>
            <a:buNone/>
          </a:pPr>
          <a:r>
            <a:rPr lang="en-US" sz="2400" kern="1200" dirty="0"/>
            <a:t>Base your pitch on the individual and clearly list the essentials</a:t>
          </a:r>
        </a:p>
      </dsp:txBody>
      <dsp:txXfrm>
        <a:off x="1640940" y="5053661"/>
        <a:ext cx="4922821" cy="829095"/>
      </dsp:txXfrm>
    </dsp:sp>
    <dsp:sp modelId="{E10BEC25-6554-774C-A45E-B889509E709C}">
      <dsp:nvSpPr>
        <dsp:cNvPr id="0" name=""/>
        <dsp:cNvSpPr/>
      </dsp:nvSpPr>
      <dsp:spPr>
        <a:xfrm rot="10800000">
          <a:off x="0" y="3790949"/>
          <a:ext cx="1640940" cy="1275148"/>
        </a:xfrm>
        <a:prstGeom prst="upArrowCallout">
          <a:avLst>
            <a:gd name="adj1" fmla="val 5000"/>
            <a:gd name="adj2" fmla="val 10000"/>
            <a:gd name="adj3" fmla="val 15000"/>
            <a:gd name="adj4" fmla="val 64977"/>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Build</a:t>
          </a:r>
        </a:p>
      </dsp:txBody>
      <dsp:txXfrm rot="-10800000">
        <a:off x="0" y="3790949"/>
        <a:ext cx="1640940" cy="828846"/>
      </dsp:txXfrm>
    </dsp:sp>
    <dsp:sp modelId="{8C78BB51-6B33-F44B-B6B4-7C98C66C637A}">
      <dsp:nvSpPr>
        <dsp:cNvPr id="0" name=""/>
        <dsp:cNvSpPr/>
      </dsp:nvSpPr>
      <dsp:spPr>
        <a:xfrm>
          <a:off x="1640940" y="3790949"/>
          <a:ext cx="4922821" cy="828846"/>
        </a:xfrm>
        <a:prstGeom prst="rect">
          <a:avLst/>
        </a:prstGeom>
        <a:solidFill>
          <a:schemeClr val="accent2">
            <a:tint val="40000"/>
            <a:alpha val="90000"/>
            <a:hueOff val="-212306"/>
            <a:satOff val="-18836"/>
            <a:lumOff val="-192"/>
            <a:alphaOff val="0"/>
          </a:schemeClr>
        </a:solidFill>
        <a:ln w="12700" cap="flat" cmpd="sng" algn="ctr">
          <a:solidFill>
            <a:schemeClr val="accent2">
              <a:tint val="40000"/>
              <a:alpha val="90000"/>
              <a:hueOff val="-212306"/>
              <a:satOff val="-18836"/>
              <a:lumOff val="-19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355600" rIns="99858" bIns="355600" numCol="1" spcCol="1270" anchor="ctr" anchorCtr="0">
          <a:noAutofit/>
        </a:bodyPr>
        <a:lstStyle/>
        <a:p>
          <a:pPr marL="0" lvl="0" indent="0" algn="l" defTabSz="1244600">
            <a:lnSpc>
              <a:spcPct val="90000"/>
            </a:lnSpc>
            <a:spcBef>
              <a:spcPct val="0"/>
            </a:spcBef>
            <a:spcAft>
              <a:spcPct val="35000"/>
            </a:spcAft>
            <a:buNone/>
          </a:pPr>
          <a:r>
            <a:rPr lang="en-US" sz="2800" kern="1200" dirty="0"/>
            <a:t>Build an influencer list and do your research</a:t>
          </a:r>
        </a:p>
      </dsp:txBody>
      <dsp:txXfrm>
        <a:off x="1640940" y="3790949"/>
        <a:ext cx="4922821" cy="828846"/>
      </dsp:txXfrm>
    </dsp:sp>
    <dsp:sp modelId="{F8ABC6A6-A8FF-5B4F-B3E1-9D4F1107ECE8}">
      <dsp:nvSpPr>
        <dsp:cNvPr id="0" name=""/>
        <dsp:cNvSpPr/>
      </dsp:nvSpPr>
      <dsp:spPr>
        <a:xfrm rot="10800000">
          <a:off x="0" y="2528237"/>
          <a:ext cx="1640940" cy="1275148"/>
        </a:xfrm>
        <a:prstGeom prst="upArrowCallout">
          <a:avLst>
            <a:gd name="adj1" fmla="val 5000"/>
            <a:gd name="adj2" fmla="val 10000"/>
            <a:gd name="adj3" fmla="val 15000"/>
            <a:gd name="adj4" fmla="val 64977"/>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Define</a:t>
          </a:r>
        </a:p>
      </dsp:txBody>
      <dsp:txXfrm rot="-10800000">
        <a:off x="0" y="2528237"/>
        <a:ext cx="1640940" cy="828846"/>
      </dsp:txXfrm>
    </dsp:sp>
    <dsp:sp modelId="{8B223604-0774-D245-A56C-65916DF461DA}">
      <dsp:nvSpPr>
        <dsp:cNvPr id="0" name=""/>
        <dsp:cNvSpPr/>
      </dsp:nvSpPr>
      <dsp:spPr>
        <a:xfrm>
          <a:off x="1640940" y="2528237"/>
          <a:ext cx="4922821" cy="828846"/>
        </a:xfrm>
        <a:prstGeom prst="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304800" rIns="99858" bIns="304800" numCol="1" spcCol="1270" anchor="ctr" anchorCtr="0">
          <a:noAutofit/>
        </a:bodyPr>
        <a:lstStyle/>
        <a:p>
          <a:pPr marL="0" lvl="0" indent="0" algn="l" defTabSz="1066800">
            <a:lnSpc>
              <a:spcPct val="90000"/>
            </a:lnSpc>
            <a:spcBef>
              <a:spcPct val="0"/>
            </a:spcBef>
            <a:spcAft>
              <a:spcPct val="35000"/>
            </a:spcAft>
            <a:buNone/>
          </a:pPr>
          <a:r>
            <a:rPr lang="en-US" sz="2400" kern="1200" dirty="0"/>
            <a:t>Define your budget</a:t>
          </a:r>
        </a:p>
      </dsp:txBody>
      <dsp:txXfrm>
        <a:off x="1640940" y="2528237"/>
        <a:ext cx="4922821" cy="828846"/>
      </dsp:txXfrm>
    </dsp:sp>
    <dsp:sp modelId="{AF7726BA-18BB-374A-AA8D-0E604404D110}">
      <dsp:nvSpPr>
        <dsp:cNvPr id="0" name=""/>
        <dsp:cNvSpPr/>
      </dsp:nvSpPr>
      <dsp:spPr>
        <a:xfrm rot="10800000">
          <a:off x="0" y="1265525"/>
          <a:ext cx="1640940" cy="1275148"/>
        </a:xfrm>
        <a:prstGeom prst="upArrowCallout">
          <a:avLst>
            <a:gd name="adj1" fmla="val 5000"/>
            <a:gd name="adj2" fmla="val 10000"/>
            <a:gd name="adj3" fmla="val 15000"/>
            <a:gd name="adj4" fmla="val 64977"/>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Define</a:t>
          </a:r>
        </a:p>
      </dsp:txBody>
      <dsp:txXfrm rot="-10800000">
        <a:off x="0" y="1265525"/>
        <a:ext cx="1640940" cy="828846"/>
      </dsp:txXfrm>
    </dsp:sp>
    <dsp:sp modelId="{14FFDD9A-778E-0F4E-AB5C-CE1E3848303F}">
      <dsp:nvSpPr>
        <dsp:cNvPr id="0" name=""/>
        <dsp:cNvSpPr/>
      </dsp:nvSpPr>
      <dsp:spPr>
        <a:xfrm>
          <a:off x="1640940" y="1265525"/>
          <a:ext cx="4922821" cy="828846"/>
        </a:xfrm>
        <a:prstGeom prst="rect">
          <a:avLst/>
        </a:prstGeom>
        <a:solidFill>
          <a:schemeClr val="accent2">
            <a:tint val="40000"/>
            <a:alpha val="90000"/>
            <a:hueOff val="-636919"/>
            <a:satOff val="-56510"/>
            <a:lumOff val="-577"/>
            <a:alphaOff val="0"/>
          </a:schemeClr>
        </a:solidFill>
        <a:ln w="12700" cap="flat" cmpd="sng" algn="ctr">
          <a:solidFill>
            <a:schemeClr val="accent2">
              <a:tint val="40000"/>
              <a:alpha val="90000"/>
              <a:hueOff val="-636919"/>
              <a:satOff val="-56510"/>
              <a:lumOff val="-5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304800" rIns="99858" bIns="304800" numCol="1" spcCol="1270" anchor="ctr" anchorCtr="0">
          <a:noAutofit/>
        </a:bodyPr>
        <a:lstStyle/>
        <a:p>
          <a:pPr marL="0" lvl="0" indent="0" algn="l" defTabSz="1066800">
            <a:lnSpc>
              <a:spcPct val="90000"/>
            </a:lnSpc>
            <a:spcBef>
              <a:spcPct val="0"/>
            </a:spcBef>
            <a:spcAft>
              <a:spcPct val="35000"/>
            </a:spcAft>
            <a:buNone/>
          </a:pPr>
          <a:r>
            <a:rPr lang="en-US" sz="2400" kern="1200" dirty="0"/>
            <a:t>Define your target influencers</a:t>
          </a:r>
        </a:p>
      </dsp:txBody>
      <dsp:txXfrm>
        <a:off x="1640940" y="1265525"/>
        <a:ext cx="4922821" cy="828846"/>
      </dsp:txXfrm>
    </dsp:sp>
    <dsp:sp modelId="{C1938F9E-DAB7-F24D-A55A-F765B1F7DC61}">
      <dsp:nvSpPr>
        <dsp:cNvPr id="0" name=""/>
        <dsp:cNvSpPr/>
      </dsp:nvSpPr>
      <dsp:spPr>
        <a:xfrm rot="10800000">
          <a:off x="0" y="2813"/>
          <a:ext cx="1640940" cy="1275148"/>
        </a:xfrm>
        <a:prstGeom prst="upArrowCallout">
          <a:avLst>
            <a:gd name="adj1" fmla="val 5000"/>
            <a:gd name="adj2" fmla="val 10000"/>
            <a:gd name="adj3" fmla="val 15000"/>
            <a:gd name="adj4" fmla="val 64977"/>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704" tIns="206248" rIns="116704" bIns="206248" numCol="1" spcCol="1270" anchor="ctr" anchorCtr="0">
          <a:noAutofit/>
        </a:bodyPr>
        <a:lstStyle/>
        <a:p>
          <a:pPr marL="0" lvl="0" indent="0" algn="ctr" defTabSz="1289050">
            <a:lnSpc>
              <a:spcPct val="90000"/>
            </a:lnSpc>
            <a:spcBef>
              <a:spcPct val="0"/>
            </a:spcBef>
            <a:spcAft>
              <a:spcPct val="35000"/>
            </a:spcAft>
            <a:buNone/>
          </a:pPr>
          <a:r>
            <a:rPr lang="en-US" sz="2900" kern="1200"/>
            <a:t>Confirm</a:t>
          </a:r>
        </a:p>
      </dsp:txBody>
      <dsp:txXfrm rot="-10800000">
        <a:off x="0" y="2813"/>
        <a:ext cx="1640940" cy="828846"/>
      </dsp:txXfrm>
    </dsp:sp>
    <dsp:sp modelId="{A49BA4D6-9006-AF44-912C-DC7B50CA6140}">
      <dsp:nvSpPr>
        <dsp:cNvPr id="0" name=""/>
        <dsp:cNvSpPr/>
      </dsp:nvSpPr>
      <dsp:spPr>
        <a:xfrm>
          <a:off x="1640940" y="2813"/>
          <a:ext cx="4922821" cy="828846"/>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858" tIns="254000" rIns="99858" bIns="254000" numCol="1" spcCol="1270" anchor="ctr" anchorCtr="0">
          <a:noAutofit/>
        </a:bodyPr>
        <a:lstStyle/>
        <a:p>
          <a:pPr marL="0" lvl="0" indent="0" algn="l" defTabSz="889000">
            <a:lnSpc>
              <a:spcPct val="90000"/>
            </a:lnSpc>
            <a:spcBef>
              <a:spcPct val="0"/>
            </a:spcBef>
            <a:spcAft>
              <a:spcPct val="35000"/>
            </a:spcAft>
            <a:buNone/>
          </a:pPr>
          <a:r>
            <a:rPr lang="en-US" sz="2000" kern="1200" dirty="0"/>
            <a:t>Confirm your objectives, target channels and align some measurable KPIs</a:t>
          </a:r>
        </a:p>
      </dsp:txBody>
      <dsp:txXfrm>
        <a:off x="1640940" y="2813"/>
        <a:ext cx="4922821" cy="828846"/>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DD257B70-E3B7-8344-B635-0F25D4CACEB8}" type="datetimeFigureOut">
              <a:rPr lang="en-US" smtClean="0"/>
              <a:t>7/9/2025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20196083-5C37-8041-9477-EF3CED45B519}" type="slidenum">
              <a:rPr lang="en-US" smtClean="0"/>
              <a:t>‹#›</a:t>
            </a:fld>
            <a:endParaRPr lang="en-US"/>
          </a:p>
        </p:txBody>
      </p:sp>
    </p:spTree>
    <p:extLst>
      <p:ext uri="{BB962C8B-B14F-4D97-AF65-F5344CB8AC3E}">
        <p14:creationId xmlns:p14="http://schemas.microsoft.com/office/powerpoint/2010/main" val="1810353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and Welcome  to todays lecture on Digital and Social Media Marketing.</a:t>
            </a:r>
          </a:p>
        </p:txBody>
      </p:sp>
      <p:sp>
        <p:nvSpPr>
          <p:cNvPr id="4" name="Slide Number Placeholder 3"/>
          <p:cNvSpPr>
            <a:spLocks noGrp="1"/>
          </p:cNvSpPr>
          <p:nvPr>
            <p:ph type="sldNum" sz="quarter" idx="5"/>
          </p:nvPr>
        </p:nvSpPr>
        <p:spPr/>
        <p:txBody>
          <a:bodyPr/>
          <a:lstStyle/>
          <a:p>
            <a:fld id="{20196083-5C37-8041-9477-EF3CED45B519}" type="slidenum">
              <a:rPr lang="en-US" smtClean="0"/>
              <a:t>1</a:t>
            </a:fld>
            <a:endParaRPr lang="en-US"/>
          </a:p>
        </p:txBody>
      </p:sp>
    </p:spTree>
    <p:extLst>
      <p:ext uri="{BB962C8B-B14F-4D97-AF65-F5344CB8AC3E}">
        <p14:creationId xmlns:p14="http://schemas.microsoft.com/office/powerpoint/2010/main" val="3694583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bwMode="auto">
          <a:noFill/>
          <a:ln>
            <a:miter lim="800000"/>
            <a:headEnd/>
            <a:tailEnd/>
          </a:ln>
        </p:spPr>
        <p:txBody>
          <a:bodyPr/>
          <a:lstStyle/>
          <a:p>
            <a:fld id="{F6C432F3-A9F3-42AA-BBF6-E6A37CE0C8B8}" type="slidenum">
              <a:rPr lang="en-US" smtClean="0">
                <a:latin typeface="Calibri" pitchFamily="34" charset="0"/>
                <a:ea typeface="ヒラギノ角ゴ Pro W3"/>
                <a:cs typeface="ヒラギノ角ゴ Pro W3"/>
              </a:rPr>
              <a:pPr/>
              <a:t>2</a:t>
            </a:fld>
            <a:endParaRPr lang="en-US" dirty="0">
              <a:latin typeface="Calibri" pitchFamily="34" charset="0"/>
              <a:ea typeface="ヒラギノ角ゴ Pro W3"/>
              <a:cs typeface="ヒラギノ角ゴ Pro W3"/>
            </a:endParaRPr>
          </a:p>
        </p:txBody>
      </p:sp>
      <p:sp>
        <p:nvSpPr>
          <p:cNvPr id="184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435" name="Rectangle 3"/>
          <p:cNvSpPr>
            <a:spLocks noGrp="1" noChangeArrowheads="1"/>
          </p:cNvSpPr>
          <p:nvPr>
            <p:ph type="body" idx="1"/>
          </p:nvPr>
        </p:nvSpPr>
        <p:spPr bwMode="auto">
          <a:noFill/>
        </p:spPr>
        <p:txBody>
          <a:bodyPr/>
          <a:lstStyle/>
          <a:p>
            <a:r>
              <a:rPr lang="en-GB" dirty="0">
                <a:ea typeface="ＭＳ Ｐゴシック"/>
                <a:cs typeface="ＭＳ Ｐゴシック"/>
              </a:rPr>
              <a:t>In the previous lecture  we discussed how to engage customers and communicate marketing value through integrated marketing communications  (IMC) and the four elements of the communications mix namely, advertising, public relations (publicity), personal selling and sales promotions.  In this lecture we examine digital marketing (that is online,  social media and mobile marketing). </a:t>
            </a:r>
          </a:p>
          <a:p>
            <a:r>
              <a:rPr lang="en-GB" dirty="0">
                <a:ea typeface="ＭＳ Ｐゴシック"/>
                <a:cs typeface="ＭＳ Ｐゴシック"/>
              </a:rPr>
              <a:t>Spurred on by  a surge in internet usage as well as rapid  advances in digital  technologies ranging from smartphones and  tablets to the spate of social media platforms–(direct) digital marketing has undergone a dramatic transformation – it has become a blend of communications and distribution channels all rolled into one. </a:t>
            </a:r>
          </a:p>
        </p:txBody>
      </p:sp>
    </p:spTree>
    <p:extLst>
      <p:ext uri="{BB962C8B-B14F-4D97-AF65-F5344CB8AC3E}">
        <p14:creationId xmlns:p14="http://schemas.microsoft.com/office/powerpoint/2010/main" val="3804716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42289" eaLnBrk="0" fontAlgn="base" hangingPunct="0">
              <a:spcBef>
                <a:spcPct val="0"/>
              </a:spcBef>
              <a:spcAft>
                <a:spcPct val="0"/>
              </a:spcAft>
              <a:defRPr/>
            </a:pPr>
            <a:r>
              <a:rPr lang="en-GB" b="1" kern="0" dirty="0"/>
              <a:t>Figure 17.1  </a:t>
            </a:r>
            <a:r>
              <a:rPr lang="en-US" b="1" kern="0" dirty="0"/>
              <a:t>Forms of direct and digital marketing</a:t>
            </a:r>
          </a:p>
          <a:p>
            <a:pPr defTabSz="942289" eaLnBrk="0" fontAlgn="base" hangingPunct="0">
              <a:spcBef>
                <a:spcPct val="30000"/>
              </a:spcBef>
              <a:spcAft>
                <a:spcPct val="0"/>
              </a:spcAft>
              <a:defRPr/>
            </a:pPr>
            <a:r>
              <a:rPr lang="en-US" dirty="0">
                <a:ea typeface="ＭＳ Ｐゴシック" charset="-128"/>
                <a:cs typeface="ＭＳ Ｐゴシック" charset="-128"/>
              </a:rPr>
              <a:t>The major forms of direct marketing—as shown in this slide —are digital and social media marketing, and traditional direct marketing.</a:t>
            </a:r>
          </a:p>
          <a:p>
            <a:pPr defTabSz="942289" eaLnBrk="0" fontAlgn="base" hangingPunct="0">
              <a:spcBef>
                <a:spcPct val="30000"/>
              </a:spcBef>
              <a:spcAft>
                <a:spcPct val="0"/>
              </a:spcAft>
              <a:defRPr/>
            </a:pPr>
            <a:endParaRPr lang="en-US" dirty="0">
              <a:ea typeface="ＭＳ Ｐゴシック" charset="-128"/>
              <a:cs typeface="ＭＳ Ｐゴシック" charset="-128"/>
            </a:endParaRPr>
          </a:p>
          <a:p>
            <a:r>
              <a:rPr lang="en-US" dirty="0"/>
              <a:t>Traditional direct marketing tools, as we discussed previously, include face-to-face selling, direct-mail marketing, catalog marketing, telemarketing, direct-response television marketing, and kiosk marketing. </a:t>
            </a:r>
          </a:p>
          <a:p>
            <a:endParaRPr lang="en-US" dirty="0"/>
          </a:p>
          <a:p>
            <a:r>
              <a:rPr lang="en-US" dirty="0"/>
              <a:t>In recent years, however, a dazzling new set of digital direct marketing tools has burst onto the marketing scene, including online marketing (Web sites, online ads and promotions, e-mail, online videos, and blogs), social media marketing, and mobile marketing and have taken over  much of traditional marketing activities.</a:t>
            </a:r>
            <a:endParaRPr lang="en-US" dirty="0">
              <a:ea typeface="ＭＳ Ｐゴシック" pitchFamily="-65" charset="-128"/>
            </a:endParaRPr>
          </a:p>
          <a:p>
            <a:pPr defTabSz="942289" eaLnBrk="0" fontAlgn="base" hangingPunct="0">
              <a:spcBef>
                <a:spcPct val="0"/>
              </a:spcBef>
              <a:spcAft>
                <a:spcPct val="0"/>
              </a:spcAft>
              <a:defRPr/>
            </a:pPr>
            <a:endParaRPr lang="en-US" dirty="0">
              <a:solidFill>
                <a:schemeClr val="tx1"/>
              </a:solidFill>
            </a:endParaRPr>
          </a:p>
        </p:txBody>
      </p:sp>
      <p:sp>
        <p:nvSpPr>
          <p:cNvPr id="4" name="Slide Number Placeholder 3"/>
          <p:cNvSpPr>
            <a:spLocks noGrp="1"/>
          </p:cNvSpPr>
          <p:nvPr>
            <p:ph type="sldNum" sz="quarter" idx="10"/>
          </p:nvPr>
        </p:nvSpPr>
        <p:spPr/>
        <p:txBody>
          <a:bodyPr/>
          <a:lstStyle/>
          <a:p>
            <a:fld id="{D425409B-43B5-4F1C-A2A0-FA43B8DB38CD}" type="slidenum">
              <a:rPr lang="en-IN" smtClean="0"/>
              <a:pPr/>
              <a:t>3</a:t>
            </a:fld>
            <a:endParaRPr lang="en-IN"/>
          </a:p>
        </p:txBody>
      </p:sp>
    </p:spTree>
    <p:extLst>
      <p:ext uri="{BB962C8B-B14F-4D97-AF65-F5344CB8AC3E}">
        <p14:creationId xmlns:p14="http://schemas.microsoft.com/office/powerpoint/2010/main" val="989899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So what is digital marketing?</a:t>
            </a:r>
          </a:p>
          <a:p>
            <a:r>
              <a:rPr lang="en-IN" b="1" dirty="0"/>
              <a:t>Digital and social media marketing </a:t>
            </a:r>
            <a:r>
              <a:rPr lang="en-IN" dirty="0"/>
              <a:t>– is the use of digital marketing tools such as websites, social media, mobile apps and ads, online video, e-mail and blogs that engage consumers anywhere, anytime via their digital devices</a:t>
            </a:r>
            <a:endParaRPr lang="en-GB" dirty="0"/>
          </a:p>
        </p:txBody>
      </p:sp>
      <p:sp>
        <p:nvSpPr>
          <p:cNvPr id="4" name="Slide Number Placeholder 3"/>
          <p:cNvSpPr>
            <a:spLocks noGrp="1"/>
          </p:cNvSpPr>
          <p:nvPr>
            <p:ph type="sldNum" sz="quarter" idx="5"/>
          </p:nvPr>
        </p:nvSpPr>
        <p:spPr/>
        <p:txBody>
          <a:bodyPr/>
          <a:lstStyle/>
          <a:p>
            <a:fld id="{20196083-5C37-8041-9477-EF3CED45B519}" type="slidenum">
              <a:rPr lang="en-US" smtClean="0"/>
              <a:t>4</a:t>
            </a:fld>
            <a:endParaRPr lang="en-US"/>
          </a:p>
        </p:txBody>
      </p:sp>
    </p:spTree>
    <p:extLst>
      <p:ext uri="{BB962C8B-B14F-4D97-AF65-F5344CB8AC3E}">
        <p14:creationId xmlns:p14="http://schemas.microsoft.com/office/powerpoint/2010/main" val="2828319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bwMode="auto">
          <a:noFill/>
          <a:ln>
            <a:miter lim="800000"/>
            <a:headEnd/>
            <a:tailEnd/>
          </a:ln>
        </p:spPr>
        <p:txBody>
          <a:bodyPr/>
          <a:lstStyle/>
          <a:p>
            <a:fld id="{21369FB5-585D-4FD3-97DB-28D88A2CD41D}" type="slidenum">
              <a:rPr lang="en-US" smtClean="0">
                <a:latin typeface="Calibri" pitchFamily="34" charset="0"/>
                <a:ea typeface="ヒラギノ角ゴ Pro W3"/>
                <a:cs typeface="ヒラギノ角ゴ Pro W3"/>
              </a:rPr>
              <a:pPr/>
              <a:t>5</a:t>
            </a:fld>
            <a:endParaRPr lang="en-US" dirty="0">
              <a:latin typeface="Calibri" pitchFamily="34" charset="0"/>
              <a:ea typeface="ヒラギノ角ゴ Pro W3"/>
              <a:cs typeface="ヒラギノ角ゴ Pro W3"/>
            </a:endParaRPr>
          </a:p>
        </p:txBody>
      </p:sp>
      <p:sp>
        <p:nvSpPr>
          <p:cNvPr id="256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603" name="Rectangle 3"/>
          <p:cNvSpPr>
            <a:spLocks noGrp="1" noChangeArrowheads="1"/>
          </p:cNvSpPr>
          <p:nvPr>
            <p:ph type="body" idx="1"/>
          </p:nvPr>
        </p:nvSpPr>
        <p:spPr bwMode="auto">
          <a:noFill/>
        </p:spPr>
        <p:txBody>
          <a:bodyPr/>
          <a:lstStyle/>
          <a:p>
            <a:r>
              <a:rPr lang="en-US" dirty="0"/>
              <a:t>The emergence of digital marketing has led  to a  new direct marketing model:  For instance,  the US based Online travel agency Priceline.co, illustrated here,  sells its services exclusively through online, mobile, and social media channels. Along with other online competitors, </a:t>
            </a:r>
            <a:r>
              <a:rPr lang="en-US" dirty="0" err="1"/>
              <a:t>Priceline.com</a:t>
            </a:r>
            <a:r>
              <a:rPr lang="en-US" dirty="0"/>
              <a:t> has pretty much driven traditional offline travel agencies into extinction. </a:t>
            </a:r>
          </a:p>
          <a:p>
            <a:r>
              <a:rPr lang="en-US" b="1" dirty="0"/>
              <a:t> </a:t>
            </a:r>
            <a:endParaRPr lang="en-US" dirty="0"/>
          </a:p>
          <a:p>
            <a:r>
              <a:rPr lang="en-US" dirty="0"/>
              <a:t>Most companies still use direct marketing as a supplementary channel or medium, but for many companies today, direct and digital marketing are more than just supplementary channels or advertising media— they constitute a complete model for doing business. Firms employing this direct model use it as the only approach. Companies such as Facebook, Amazon, Google, eBay, Netflix, and Priceline.com have successfully built their entire approach to the marketplace around direct and digital marketing. </a:t>
            </a:r>
          </a:p>
          <a:p>
            <a:endParaRPr lang="en-US" dirty="0"/>
          </a:p>
          <a:p>
            <a:r>
              <a:rPr lang="en-US" dirty="0"/>
              <a:t>Spurred by the surge in Internet usage and buying, and by rapid advances in digital technologies direct marketing has undergone a dramatic transformation. In previous chapters we have discussed direct marketing as direct distribution—as marketing channels that contain no intermediaries. We also included direct and digital marketing elements of the promotion mix—as an approach for engaging consumers directly and creating brand community. In actuality, direct marketing is both of these things and much more.</a:t>
            </a:r>
          </a:p>
        </p:txBody>
      </p:sp>
    </p:spTree>
    <p:extLst>
      <p:ext uri="{BB962C8B-B14F-4D97-AF65-F5344CB8AC3E}">
        <p14:creationId xmlns:p14="http://schemas.microsoft.com/office/powerpoint/2010/main" val="3905788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a:normAutofit fontScale="92500" lnSpcReduction="10000"/>
          </a:bodyPr>
          <a:lstStyle/>
          <a:p>
            <a:r>
              <a:rPr lang="en-US" dirty="0"/>
              <a:t>Multichannel marketing: More than 43 percent of Staples’ sales come from its online marketing operations, including its Web site and mobile app, its presence on social media, and its own Staples.com community.</a:t>
            </a:r>
          </a:p>
          <a:p>
            <a:endParaRPr lang="en-US" dirty="0"/>
          </a:p>
          <a:p>
            <a:r>
              <a:rPr lang="en-US" dirty="0"/>
              <a:t>The digital age has fundamentally changed customers’ notions of convenience, speed, price, product information, service, and brand interactions. As a result, it has given marketers a whole new way to create customer value, engage customers, and build customer relationships.</a:t>
            </a:r>
          </a:p>
          <a:p>
            <a:endParaRPr lang="en-US" dirty="0"/>
          </a:p>
          <a:p>
            <a:r>
              <a:rPr lang="en-US" dirty="0"/>
              <a:t>More than half of all U.S. households now regularly shop online, and digital buying continues to grow at a healthy double-digit rate. It’s estimated that nearly half of all U.S. retail sales were either transacted directly online or influenced by Internet research. In the UK, over 30 % of all retail sales are now online and growing rapidly as result of restriction s resulting from Covid-19.</a:t>
            </a:r>
          </a:p>
          <a:p>
            <a:endParaRPr lang="en-US" dirty="0"/>
          </a:p>
          <a:p>
            <a:r>
              <a:rPr lang="en-US" dirty="0"/>
              <a:t>To reach this burgeoning market, most companies now market online. Some companies operate </a:t>
            </a:r>
            <a:r>
              <a:rPr lang="en-US" i="1" dirty="0"/>
              <a:t>only</a:t>
            </a:r>
            <a:r>
              <a:rPr lang="en-US" dirty="0"/>
              <a:t> online. Today, however, it’s hard to find a company that doesn’t have a substantial online presence. </a:t>
            </a:r>
          </a:p>
          <a:p>
            <a:endParaRPr lang="en-US" dirty="0"/>
          </a:p>
          <a:p>
            <a:r>
              <a:rPr lang="en-US" dirty="0"/>
              <a:t> Even companies that have traditionally operated offline have now created their own online sales, marketing, and brand community channels. In fact, </a:t>
            </a:r>
            <a:r>
              <a:rPr lang="en-US" b="1" dirty="0"/>
              <a:t>multichannel  marketing</a:t>
            </a:r>
            <a:r>
              <a:rPr lang="en-US" dirty="0"/>
              <a:t> companies are having more online success than their online-only competitors.</a:t>
            </a:r>
          </a:p>
          <a:p>
            <a:r>
              <a:rPr lang="en-US" dirty="0"/>
              <a:t>In fact, </a:t>
            </a:r>
            <a:r>
              <a:rPr lang="en-US" b="1" dirty="0"/>
              <a:t>Multichannel marketing has now given way to omnichannel marketing where offline and online communications and sales are closely integrated so that consumers can shop seamlessly through any channel</a:t>
            </a:r>
            <a:r>
              <a:rPr lang="en-US" dirty="0"/>
              <a:t>.</a:t>
            </a:r>
            <a:endParaRPr lang="en-US" dirty="0">
              <a:ea typeface="ＭＳ Ｐゴシック" pitchFamily="-65" charset="-128"/>
            </a:endParaRPr>
          </a:p>
        </p:txBody>
      </p:sp>
      <p:sp>
        <p:nvSpPr>
          <p:cNvPr id="44036" name="Slide Number Placeholder 3"/>
          <p:cNvSpPr>
            <a:spLocks noGrp="1"/>
          </p:cNvSpPr>
          <p:nvPr>
            <p:ph type="sldNum" sz="quarter" idx="5"/>
          </p:nvPr>
        </p:nvSpPr>
        <p:spPr bwMode="auto">
          <a:noFill/>
          <a:ln>
            <a:miter lim="800000"/>
            <a:headEnd/>
            <a:tailEnd/>
          </a:ln>
        </p:spPr>
        <p:txBody>
          <a:bodyPr/>
          <a:lstStyle/>
          <a:p>
            <a:fld id="{475EA303-B9F8-4608-A82B-1EADA70C9FDF}" type="slidenum">
              <a:rPr lang="en-US"/>
              <a:pPr/>
              <a:t>6</a:t>
            </a:fld>
            <a:endParaRPr lang="en-US" dirty="0"/>
          </a:p>
        </p:txBody>
      </p:sp>
    </p:spTree>
    <p:extLst>
      <p:ext uri="{BB962C8B-B14F-4D97-AF65-F5344CB8AC3E}">
        <p14:creationId xmlns:p14="http://schemas.microsoft.com/office/powerpoint/2010/main" val="3512715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normAutofit/>
          </a:bodyPr>
          <a:lstStyle/>
          <a:p>
            <a:r>
              <a:rPr lang="en-US" b="1" dirty="0"/>
              <a:t>Digital and social media  now takes on many forms – we discuss the some of the major ones now</a:t>
            </a:r>
          </a:p>
          <a:p>
            <a:endParaRPr lang="en-US" b="1" dirty="0"/>
          </a:p>
          <a:p>
            <a:r>
              <a:rPr lang="en-US" b="1" dirty="0"/>
              <a:t>Online marketing</a:t>
            </a:r>
            <a:r>
              <a:rPr lang="en-US" dirty="0"/>
              <a:t> refers to marketing via the Internet using company Web sites, online advertising and promotions, e-mail marketing, online video, and blogs. Social media and mobile marketing also take place online and must be closely coordinated with other forms of digital marketing. However, because of their special characteristics, we discuss the fast growing social media and mobile marketing approaches in separate sections. </a:t>
            </a:r>
          </a:p>
          <a:p>
            <a:endParaRPr lang="en-US" dirty="0"/>
          </a:p>
          <a:p>
            <a:r>
              <a:rPr lang="en-US" dirty="0"/>
              <a:t>For most companies, the first step in conducting online marketing is to create a Web site. Web sites vary greatly in purpose and content. Some Web sites are primarily </a:t>
            </a:r>
            <a:r>
              <a:rPr lang="en-US" b="1" dirty="0"/>
              <a:t>marketing Web sites.</a:t>
            </a:r>
            <a:endParaRPr lang="en-US" dirty="0"/>
          </a:p>
          <a:p>
            <a:r>
              <a:rPr lang="en-US" dirty="0"/>
              <a:t>While </a:t>
            </a:r>
            <a:r>
              <a:rPr lang="en-US" b="1" dirty="0"/>
              <a:t>branded community Web sites</a:t>
            </a:r>
            <a:r>
              <a:rPr lang="en-US" dirty="0"/>
              <a:t> don’t try to sell anything at all, they promote the brand its values and attempt to engage customers and prospects.</a:t>
            </a:r>
            <a:endParaRPr lang="en-US" dirty="0">
              <a:ea typeface="ＭＳ Ｐゴシック" pitchFamily="-65" charset="-128"/>
            </a:endParaRPr>
          </a:p>
        </p:txBody>
      </p:sp>
      <p:sp>
        <p:nvSpPr>
          <p:cNvPr id="48132" name="Slide Number Placeholder 3"/>
          <p:cNvSpPr>
            <a:spLocks noGrp="1"/>
          </p:cNvSpPr>
          <p:nvPr>
            <p:ph type="sldNum" sz="quarter" idx="5"/>
          </p:nvPr>
        </p:nvSpPr>
        <p:spPr bwMode="auto">
          <a:noFill/>
          <a:ln>
            <a:miter lim="800000"/>
            <a:headEnd/>
            <a:tailEnd/>
          </a:ln>
        </p:spPr>
        <p:txBody>
          <a:bodyPr/>
          <a:lstStyle/>
          <a:p>
            <a:fld id="{3DB649A8-BA61-41FA-BE02-32DD7C440952}" type="slidenum">
              <a:rPr lang="en-US"/>
              <a:pPr/>
              <a:t>7</a:t>
            </a:fld>
            <a:endParaRPr lang="en-US" dirty="0"/>
          </a:p>
        </p:txBody>
      </p:sp>
    </p:spTree>
    <p:extLst>
      <p:ext uri="{BB962C8B-B14F-4D97-AF65-F5344CB8AC3E}">
        <p14:creationId xmlns:p14="http://schemas.microsoft.com/office/powerpoint/2010/main" val="4101024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normAutofit/>
          </a:bodyPr>
          <a:lstStyle/>
          <a:p>
            <a:r>
              <a:rPr lang="en-US" dirty="0"/>
              <a:t>As consumers spend more and more time online, companies are shifting more of their marketing spend to </a:t>
            </a:r>
            <a:r>
              <a:rPr lang="en-US" b="1" dirty="0"/>
              <a:t>online advertising</a:t>
            </a:r>
            <a:r>
              <a:rPr lang="en-US" dirty="0"/>
              <a:t> to build brand sales or attract visitors to their Internet, mobile, and social media sites. Online advertising has become a major promotional medium. Together, display and search-related ads account for the largest portion of firms’ digital marketing budgets, capturing 30 percent of all digital marketing spending.</a:t>
            </a:r>
          </a:p>
          <a:p>
            <a:br>
              <a:rPr lang="en-US" dirty="0"/>
            </a:br>
            <a:r>
              <a:rPr lang="en-US" b="1" dirty="0"/>
              <a:t>E-mail marketing</a:t>
            </a:r>
            <a:r>
              <a:rPr lang="en-US" dirty="0"/>
              <a:t> remains an important and growing digital marketing tool. “Social media is the hot new thing,” says one observer, “but e-mail is still the king.”</a:t>
            </a:r>
            <a:r>
              <a:rPr lang="en-US" baseline="30000" dirty="0"/>
              <a:t> </a:t>
            </a:r>
            <a:r>
              <a:rPr lang="en-US" dirty="0"/>
              <a:t>By one estimate,  over 90 percent of consumers use e-mail every day. What’s more,  e-mail is no longer limited to PCs and workstations; 65 percent of all e-mails are now opened on mobile devices. Not surprisingly, then, a recent study found that e-mail is more effective at capturing customers than Facebook and Twitter combined.  Marketers sent an estimated more than 838 </a:t>
            </a:r>
            <a:r>
              <a:rPr lang="en-US" i="1" dirty="0"/>
              <a:t>billion</a:t>
            </a:r>
            <a:r>
              <a:rPr lang="en-US" dirty="0"/>
              <a:t> e-mails last year.</a:t>
            </a:r>
            <a:endParaRPr lang="en-US" dirty="0">
              <a:ea typeface="ＭＳ Ｐゴシック" pitchFamily="-65" charset="-128"/>
            </a:endParaRPr>
          </a:p>
        </p:txBody>
      </p:sp>
      <p:sp>
        <p:nvSpPr>
          <p:cNvPr id="48132" name="Slide Number Placeholder 3"/>
          <p:cNvSpPr>
            <a:spLocks noGrp="1"/>
          </p:cNvSpPr>
          <p:nvPr>
            <p:ph type="sldNum" sz="quarter" idx="5"/>
          </p:nvPr>
        </p:nvSpPr>
        <p:spPr bwMode="auto">
          <a:noFill/>
          <a:ln>
            <a:miter lim="800000"/>
            <a:headEnd/>
            <a:tailEnd/>
          </a:ln>
        </p:spPr>
        <p:txBody>
          <a:bodyPr/>
          <a:lstStyle/>
          <a:p>
            <a:fld id="{3DB649A8-BA61-41FA-BE02-32DD7C440952}" type="slidenum">
              <a:rPr lang="en-US"/>
              <a:pPr/>
              <a:t>8</a:t>
            </a:fld>
            <a:endParaRPr lang="en-US" dirty="0"/>
          </a:p>
        </p:txBody>
      </p:sp>
    </p:spTree>
    <p:extLst>
      <p:ext uri="{BB962C8B-B14F-4D97-AF65-F5344CB8AC3E}">
        <p14:creationId xmlns:p14="http://schemas.microsoft.com/office/powerpoint/2010/main" val="601713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normAutofit/>
          </a:bodyPr>
          <a:lstStyle/>
          <a:p>
            <a:pPr defTabSz="942289">
              <a:defRPr/>
            </a:pPr>
            <a:r>
              <a:rPr lang="en-US" dirty="0"/>
              <a:t>Because customers find and pass along the message or promotion, viral marketing can be very inexpensive. And when video or other information comes from a friend, the recipient is much more likely to view or read it.</a:t>
            </a:r>
          </a:p>
          <a:p>
            <a:pPr defTabSz="942289">
              <a:defRPr/>
            </a:pPr>
            <a:endParaRPr lang="en-US" dirty="0"/>
          </a:p>
          <a:p>
            <a:r>
              <a:rPr lang="en-US" dirty="0"/>
              <a:t>Some videos are made for the Web and social media. Such videos range from “how-to” instructional videos and public relations (PR) pieces to brand promotions and brand-related entertainment. Other videos are ads that a company makes primarily for TV and other media but posts o</a:t>
            </a:r>
          </a:p>
          <a:p>
            <a:r>
              <a:rPr lang="en-US" dirty="0"/>
              <a:t>online before or after an advertising campaign to extend their reach and impact. </a:t>
            </a:r>
          </a:p>
          <a:p>
            <a:endParaRPr lang="en-US" dirty="0"/>
          </a:p>
        </p:txBody>
      </p:sp>
      <p:sp>
        <p:nvSpPr>
          <p:cNvPr id="48132" name="Slide Number Placeholder 3"/>
          <p:cNvSpPr>
            <a:spLocks noGrp="1"/>
          </p:cNvSpPr>
          <p:nvPr>
            <p:ph type="sldNum" sz="quarter" idx="5"/>
          </p:nvPr>
        </p:nvSpPr>
        <p:spPr bwMode="auto">
          <a:noFill/>
          <a:ln>
            <a:miter lim="800000"/>
            <a:headEnd/>
            <a:tailEnd/>
          </a:ln>
        </p:spPr>
        <p:txBody>
          <a:bodyPr/>
          <a:lstStyle/>
          <a:p>
            <a:fld id="{3DB649A8-BA61-41FA-BE02-32DD7C440952}" type="slidenum">
              <a:rPr lang="en-US"/>
              <a:pPr/>
              <a:t>9</a:t>
            </a:fld>
            <a:endParaRPr lang="en-US" dirty="0"/>
          </a:p>
        </p:txBody>
      </p:sp>
    </p:spTree>
    <p:extLst>
      <p:ext uri="{BB962C8B-B14F-4D97-AF65-F5344CB8AC3E}">
        <p14:creationId xmlns:p14="http://schemas.microsoft.com/office/powerpoint/2010/main" val="1057944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normAutofit/>
          </a:bodyPr>
          <a:lstStyle/>
          <a:p>
            <a:r>
              <a:rPr lang="en-US" dirty="0"/>
              <a:t>Brands also conduct online marketing through various digital forums that appeal to specific special-interest groups. </a:t>
            </a:r>
          </a:p>
          <a:p>
            <a:endParaRPr lang="en-US" b="1" dirty="0"/>
          </a:p>
          <a:p>
            <a:r>
              <a:rPr lang="en-US" b="1" dirty="0"/>
              <a:t>Blogs</a:t>
            </a:r>
            <a:r>
              <a:rPr lang="en-US" dirty="0"/>
              <a:t> can be about anything, from politics or baseball to haiku, car repair, </a:t>
            </a:r>
            <a:r>
              <a:rPr lang="en-US" b="1" dirty="0"/>
              <a:t>brands</a:t>
            </a:r>
            <a:r>
              <a:rPr lang="en-US" dirty="0"/>
              <a:t>, or the latest television series. According to one study, there are now more than 31 million blogs in the United States. Many bloggers use social networks such as Twitter, Facebook, and Instagram to promote their blogs, giving them huge reach. Such numbers can give blogs—especially those with large and devoted followings—substantial influence.</a:t>
            </a:r>
          </a:p>
        </p:txBody>
      </p:sp>
      <p:sp>
        <p:nvSpPr>
          <p:cNvPr id="48132" name="Slide Number Placeholder 3"/>
          <p:cNvSpPr>
            <a:spLocks noGrp="1"/>
          </p:cNvSpPr>
          <p:nvPr>
            <p:ph type="sldNum" sz="quarter" idx="5"/>
          </p:nvPr>
        </p:nvSpPr>
        <p:spPr bwMode="auto">
          <a:noFill/>
          <a:ln>
            <a:miter lim="800000"/>
            <a:headEnd/>
            <a:tailEnd/>
          </a:ln>
        </p:spPr>
        <p:txBody>
          <a:bodyPr/>
          <a:lstStyle/>
          <a:p>
            <a:fld id="{3DB649A8-BA61-41FA-BE02-32DD7C440952}" type="slidenum">
              <a:rPr lang="en-US"/>
              <a:pPr/>
              <a:t>10</a:t>
            </a:fld>
            <a:endParaRPr lang="en-US" dirty="0"/>
          </a:p>
        </p:txBody>
      </p:sp>
    </p:spTree>
    <p:extLst>
      <p:ext uri="{BB962C8B-B14F-4D97-AF65-F5344CB8AC3E}">
        <p14:creationId xmlns:p14="http://schemas.microsoft.com/office/powerpoint/2010/main" val="3147171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1" dirty="0"/>
              <a:t>Now, let’s look at Social Media Marketing in a little more detail</a:t>
            </a:r>
          </a:p>
          <a:p>
            <a:r>
              <a:rPr lang="en-US" dirty="0"/>
              <a:t>There exists a dazzling array of online </a:t>
            </a:r>
            <a:r>
              <a:rPr lang="en-US" b="1" dirty="0"/>
              <a:t>social media</a:t>
            </a:r>
            <a:r>
              <a:rPr lang="en-US" dirty="0"/>
              <a:t> and digital communities. Countless independent and commercial social networks have arisen that give consumers online places to congregate, socialize, and exchange views and information. Wherever consumers congregate, marketers will surely follow. </a:t>
            </a:r>
            <a:r>
              <a:rPr lang="en-US" b="1" dirty="0"/>
              <a:t>In fact, the vast majority of companies now use social media networks as part of their marketing mixes.</a:t>
            </a:r>
            <a:endParaRPr lang="en-US" b="1" baseline="30000" dirty="0"/>
          </a:p>
          <a:p>
            <a:endParaRPr lang="en-US" baseline="30000" dirty="0"/>
          </a:p>
          <a:p>
            <a:r>
              <a:rPr lang="en-US" b="1" dirty="0"/>
              <a:t>Using Social Media</a:t>
            </a:r>
          </a:p>
          <a:p>
            <a:r>
              <a:rPr lang="en-US" dirty="0"/>
              <a:t>Marketers can use existing social media or they can set up their own. Using existing social media seems the easiest. Thus, most brands have set up shop on a host of social media sites with links to each brand’s Facebook, Google, Twitter, YouTube, Flickr, Instagram, Tik-Tok, or other social media pages.</a:t>
            </a:r>
          </a:p>
          <a:p>
            <a:endParaRPr lang="en-US" dirty="0"/>
          </a:p>
          <a:p>
            <a:r>
              <a:rPr lang="en-US" b="1" dirty="0"/>
              <a:t>Social Media Marketing Advantages and Challenges</a:t>
            </a:r>
          </a:p>
          <a:p>
            <a:r>
              <a:rPr lang="en-US" dirty="0"/>
              <a:t>Using social media presents both advantages and challenges.</a:t>
            </a:r>
          </a:p>
          <a:p>
            <a:endParaRPr lang="en-US" dirty="0"/>
          </a:p>
          <a:p>
            <a:pPr marL="176679" indent="-176679">
              <a:buFont typeface="Arial" panose="020B0604020202020204" pitchFamily="34" charset="0"/>
              <a:buChar char="•"/>
            </a:pPr>
            <a:r>
              <a:rPr lang="en-US" i="1" dirty="0"/>
              <a:t>Targeted</a:t>
            </a:r>
            <a:r>
              <a:rPr lang="en-US" dirty="0"/>
              <a:t> and </a:t>
            </a:r>
            <a:r>
              <a:rPr lang="en-US" i="1" dirty="0"/>
              <a:t>personal</a:t>
            </a:r>
            <a:endParaRPr lang="en-US" dirty="0"/>
          </a:p>
          <a:p>
            <a:pPr marL="176679" indent="-176679">
              <a:buFont typeface="Arial" panose="020B0604020202020204" pitchFamily="34" charset="0"/>
              <a:buChar char="•"/>
            </a:pPr>
            <a:r>
              <a:rPr lang="en-US" i="1" dirty="0"/>
              <a:t>Interactive</a:t>
            </a:r>
            <a:endParaRPr lang="en-US" dirty="0"/>
          </a:p>
          <a:p>
            <a:pPr marL="176679" indent="-176679">
              <a:buFont typeface="Arial" panose="020B0604020202020204" pitchFamily="34" charset="0"/>
              <a:buChar char="•"/>
            </a:pPr>
            <a:r>
              <a:rPr lang="en-US" i="1" dirty="0"/>
              <a:t>Immediate</a:t>
            </a:r>
            <a:r>
              <a:rPr lang="en-US" dirty="0"/>
              <a:t> and </a:t>
            </a:r>
            <a:r>
              <a:rPr lang="en-US" i="1" dirty="0"/>
              <a:t>timely </a:t>
            </a:r>
            <a:endParaRPr lang="en-US" dirty="0"/>
          </a:p>
          <a:p>
            <a:pPr marL="176679" indent="-176679">
              <a:buFont typeface="Arial" panose="020B0604020202020204" pitchFamily="34" charset="0"/>
              <a:buChar char="•"/>
            </a:pPr>
            <a:r>
              <a:rPr lang="en-US" i="1" dirty="0"/>
              <a:t>Real-time marketing </a:t>
            </a:r>
            <a:endParaRPr lang="en-US" dirty="0"/>
          </a:p>
          <a:p>
            <a:pPr marL="176679" indent="-176679">
              <a:buFont typeface="Arial" panose="020B0604020202020204" pitchFamily="34" charset="0"/>
              <a:buChar char="•"/>
            </a:pPr>
            <a:r>
              <a:rPr lang="en-US" i="1" dirty="0"/>
              <a:t>Cost effective</a:t>
            </a:r>
            <a:endParaRPr lang="en-US" dirty="0"/>
          </a:p>
          <a:p>
            <a:pPr marL="176679" indent="-176679" defTabSz="942289">
              <a:buFont typeface="Arial" panose="020B0604020202020204" pitchFamily="34" charset="0"/>
              <a:buChar char="•"/>
              <a:defRPr/>
            </a:pPr>
            <a:r>
              <a:rPr lang="en-US" i="1" dirty="0"/>
              <a:t>Engagement</a:t>
            </a:r>
            <a:r>
              <a:rPr lang="en-US" dirty="0"/>
              <a:t> </a:t>
            </a:r>
            <a:r>
              <a:rPr lang="en-US" i="1" dirty="0"/>
              <a:t>and</a:t>
            </a:r>
            <a:r>
              <a:rPr lang="en-US" dirty="0"/>
              <a:t> </a:t>
            </a:r>
            <a:r>
              <a:rPr lang="en-US" i="1" dirty="0"/>
              <a:t>social sharing</a:t>
            </a:r>
            <a:r>
              <a:rPr lang="en-US" dirty="0"/>
              <a:t> </a:t>
            </a:r>
            <a:r>
              <a:rPr lang="en-US" i="1" dirty="0"/>
              <a:t>capabilities</a:t>
            </a:r>
            <a:r>
              <a:rPr lang="en-US" dirty="0"/>
              <a:t> </a:t>
            </a:r>
          </a:p>
          <a:p>
            <a:endParaRPr lang="en-US" dirty="0"/>
          </a:p>
          <a:p>
            <a:r>
              <a:rPr lang="en-US" dirty="0"/>
              <a:t>Because consumers have so much control over social media content, even the seemingly most harmless social media campaign can backfire.</a:t>
            </a:r>
          </a:p>
          <a:p>
            <a:r>
              <a:rPr lang="en-US" dirty="0"/>
              <a:t>million.” With social media, “you’re going into the consumer’s backyard. This is their place,” warns one social marketer. “Social media is a pressure cooker,” says another. “The hundreds of thousands, or millions, of people out there are going to take your idea, and they’re going to try to shred it or tear apart and find what’s weak or stupid in it.”</a:t>
            </a:r>
          </a:p>
          <a:p>
            <a:endParaRPr lang="en-US" dirty="0"/>
          </a:p>
          <a:p>
            <a:pPr defTabSz="942289">
              <a:defRPr/>
            </a:pPr>
            <a:endParaRPr lang="en-US" baseline="30000" dirty="0"/>
          </a:p>
          <a:p>
            <a:r>
              <a:rPr lang="en-US" b="1" dirty="0"/>
              <a:t>Integrated Social Media Marketing</a:t>
            </a:r>
          </a:p>
          <a:p>
            <a:r>
              <a:rPr lang="en-US" dirty="0"/>
              <a:t>Most large companies are now designing full-scale social media efforts that blend with and support other elements of a brand’s marketing strategy and tactics. </a:t>
            </a:r>
            <a:r>
              <a:rPr lang="en-US" b="1" dirty="0"/>
              <a:t>Using social media successfully involves integrating a broad range of diverse media to create brand-related social sharing, engagement, and customer community</a:t>
            </a:r>
            <a:r>
              <a:rPr lang="en-US" dirty="0"/>
              <a:t>.</a:t>
            </a:r>
          </a:p>
          <a:p>
            <a:endParaRPr lang="en-GB" dirty="0"/>
          </a:p>
        </p:txBody>
      </p:sp>
      <p:sp>
        <p:nvSpPr>
          <p:cNvPr id="4" name="Slide Number Placeholder 3"/>
          <p:cNvSpPr>
            <a:spLocks noGrp="1"/>
          </p:cNvSpPr>
          <p:nvPr>
            <p:ph type="sldNum" sz="quarter" idx="5"/>
          </p:nvPr>
        </p:nvSpPr>
        <p:spPr/>
        <p:txBody>
          <a:bodyPr/>
          <a:lstStyle/>
          <a:p>
            <a:fld id="{20196083-5C37-8041-9477-EF3CED45B519}" type="slidenum">
              <a:rPr lang="en-US" smtClean="0"/>
              <a:t>11</a:t>
            </a:fld>
            <a:endParaRPr lang="en-US"/>
          </a:p>
        </p:txBody>
      </p:sp>
    </p:spTree>
    <p:extLst>
      <p:ext uri="{BB962C8B-B14F-4D97-AF65-F5344CB8AC3E}">
        <p14:creationId xmlns:p14="http://schemas.microsoft.com/office/powerpoint/2010/main" val="1624740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bwMode="auto">
          <a:noFill/>
          <a:ln>
            <a:miter lim="800000"/>
            <a:headEnd/>
            <a:tailEnd/>
          </a:ln>
        </p:spPr>
        <p:txBody>
          <a:bodyPr/>
          <a:lstStyle/>
          <a:p>
            <a:fld id="{21369FB5-585D-4FD3-97DB-28D88A2CD41D}" type="slidenum">
              <a:rPr lang="en-US" smtClean="0">
                <a:latin typeface="Calibri" pitchFamily="34" charset="0"/>
                <a:ea typeface="ヒラギノ角ゴ Pro W3"/>
                <a:cs typeface="ヒラギノ角ゴ Pro W3"/>
              </a:rPr>
              <a:pPr/>
              <a:t>12</a:t>
            </a:fld>
            <a:endParaRPr lang="en-US" dirty="0">
              <a:latin typeface="Calibri" pitchFamily="34" charset="0"/>
              <a:ea typeface="ヒラギノ角ゴ Pro W3"/>
              <a:cs typeface="ヒラギノ角ゴ Pro W3"/>
            </a:endParaRPr>
          </a:p>
        </p:txBody>
      </p:sp>
      <p:sp>
        <p:nvSpPr>
          <p:cNvPr id="256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5603" name="Rectangle 3"/>
          <p:cNvSpPr>
            <a:spLocks noGrp="1" noChangeArrowheads="1"/>
          </p:cNvSpPr>
          <p:nvPr>
            <p:ph type="body" idx="1"/>
          </p:nvPr>
        </p:nvSpPr>
        <p:spPr bwMode="auto">
          <a:noFill/>
        </p:spPr>
        <p:txBody>
          <a:bodyPr/>
          <a:lstStyle/>
          <a:p>
            <a:endParaRPr lang="en-US" dirty="0"/>
          </a:p>
          <a:p>
            <a:r>
              <a:rPr lang="en-US" dirty="0"/>
              <a:t>Using social media presents advantages and challenges.</a:t>
            </a:r>
          </a:p>
          <a:p>
            <a:r>
              <a:rPr lang="en-US" dirty="0"/>
              <a:t>The advantages of social media include:</a:t>
            </a:r>
          </a:p>
          <a:p>
            <a:pPr marL="292830" indent="-292830">
              <a:buClr>
                <a:srgbClr val="007CA8"/>
              </a:buClr>
              <a:buFont typeface="Arial"/>
              <a:buChar char="•"/>
            </a:pPr>
            <a:r>
              <a:rPr lang="en-US" dirty="0">
                <a:solidFill>
                  <a:srgbClr val="000000"/>
                </a:solidFill>
              </a:rPr>
              <a:t>The ability to target individuals and personalize the product and promotions</a:t>
            </a:r>
          </a:p>
          <a:p>
            <a:pPr marL="292830" indent="-292830">
              <a:buClr>
                <a:srgbClr val="007CA8"/>
              </a:buClr>
              <a:buFont typeface="Arial"/>
              <a:buChar char="•"/>
            </a:pPr>
            <a:r>
              <a:rPr lang="en-US" dirty="0">
                <a:solidFill>
                  <a:srgbClr val="000000"/>
                </a:solidFill>
              </a:rPr>
              <a:t>Its Interactivity gives the seller and the customer  the ability to interact with each other in an immediate and timely manner</a:t>
            </a:r>
          </a:p>
          <a:p>
            <a:pPr marL="292830" indent="-292830">
              <a:buClr>
                <a:srgbClr val="007CA8"/>
              </a:buClr>
              <a:buFont typeface="Arial"/>
              <a:buChar char="•"/>
            </a:pPr>
            <a:r>
              <a:rPr lang="en-US" dirty="0">
                <a:solidFill>
                  <a:srgbClr val="000000"/>
                </a:solidFill>
              </a:rPr>
              <a:t>It enables Real-time marketing –which  means that aspects of marketing strategy can be changed immediately , For example  pricing and promotions can be tailored to suit the profile of a customer.</a:t>
            </a:r>
          </a:p>
          <a:p>
            <a:pPr marL="292830" indent="-292830">
              <a:buClr>
                <a:srgbClr val="007CA8"/>
              </a:buClr>
              <a:buFont typeface="Arial"/>
              <a:buChar char="•"/>
            </a:pPr>
            <a:r>
              <a:rPr lang="en-US" dirty="0">
                <a:solidFill>
                  <a:srgbClr val="000000"/>
                </a:solidFill>
              </a:rPr>
              <a:t>It is Cost effective – social media much cheaper than  conventional media such as TV</a:t>
            </a:r>
          </a:p>
          <a:p>
            <a:pPr marL="292830" indent="-292830">
              <a:buClr>
                <a:srgbClr val="007CA8"/>
              </a:buClr>
              <a:buFont typeface="Arial"/>
              <a:buChar char="•"/>
              <a:defRPr/>
            </a:pPr>
            <a:r>
              <a:rPr lang="en-US" dirty="0">
                <a:solidFill>
                  <a:srgbClr val="000000"/>
                </a:solidFill>
              </a:rPr>
              <a:t>It  also provides Engagement and social sharing capabilities  -that is, it has the ability to engage customers and the sharing capabilities facilitates the spread of word of mouth communications and enables viral marketing</a:t>
            </a:r>
          </a:p>
          <a:p>
            <a:endParaRPr lang="en-US" dirty="0"/>
          </a:p>
          <a:p>
            <a:r>
              <a:rPr lang="en-US" dirty="0"/>
              <a:t>The downside of using social media is that </a:t>
            </a:r>
          </a:p>
          <a:p>
            <a:r>
              <a:rPr lang="en-US" dirty="0"/>
              <a:t>Because consumers have so much control over social media content, even the seemingly most harmless social media campaign can backfire. With social media, “you’re going into the consumer’s backyard. This is their place,” warns one social marketer. “Social media is a pressure cooker,” says another. “The hundreds of thousands, or millions, of people out there are going to take your idea, and they’re going to try to shred it or tear it apart and find what’s weak or stupid in it.”</a:t>
            </a:r>
          </a:p>
          <a:p>
            <a:endParaRPr lang="en-US" dirty="0"/>
          </a:p>
          <a:p>
            <a:endParaRPr lang="en-US" dirty="0"/>
          </a:p>
        </p:txBody>
      </p:sp>
    </p:spTree>
    <p:extLst>
      <p:ext uri="{BB962C8B-B14F-4D97-AF65-F5344CB8AC3E}">
        <p14:creationId xmlns:p14="http://schemas.microsoft.com/office/powerpoint/2010/main" val="4152204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SzPct val="25000"/>
            </a:pPr>
            <a:r>
              <a:rPr lang="en-US" b="1" dirty="0">
                <a:solidFill>
                  <a:schemeClr val="dk1"/>
                </a:solidFill>
                <a:ea typeface="Calibri"/>
                <a:cs typeface="Calibri"/>
                <a:sym typeface="Calibri"/>
              </a:rPr>
              <a:t>LECTURE NOTES:</a:t>
            </a:r>
          </a:p>
          <a:p>
            <a:pPr marL="176679" indent="-176679">
              <a:buClr>
                <a:schemeClr val="dk1"/>
              </a:buClr>
              <a:buSzPct val="100000"/>
              <a:buFont typeface="Arial"/>
              <a:buChar char="•"/>
            </a:pPr>
            <a:r>
              <a:rPr lang="en-US" dirty="0">
                <a:solidFill>
                  <a:schemeClr val="dk1"/>
                </a:solidFill>
                <a:ea typeface="Calibri"/>
                <a:cs typeface="Calibri"/>
                <a:sym typeface="Calibri"/>
              </a:rPr>
              <a:t>The Web Revolution is here! What has led to this new communication model, and how is it altering the face of marketing? Much of the answer lies in changing technology. </a:t>
            </a:r>
          </a:p>
          <a:p>
            <a:pPr marL="176679" indent="-176679">
              <a:buClr>
                <a:schemeClr val="dk1"/>
              </a:buClr>
              <a:buSzPct val="100000"/>
              <a:buFont typeface="Arial"/>
              <a:buChar char="•"/>
            </a:pPr>
            <a:r>
              <a:rPr lang="en-US" dirty="0">
                <a:solidFill>
                  <a:schemeClr val="dk1"/>
                </a:solidFill>
                <a:ea typeface="Calibri"/>
                <a:cs typeface="Calibri"/>
                <a:sym typeface="Calibri"/>
              </a:rPr>
              <a:t>Everyone is online now. Millions of people around the globe surf the web, talk with their friends, watch TV, and purchase products from traditional marketers, from Internet-only marketers, and from each other on their computers, smartphones, or tablets. For example,, Facebook now has 2.7 billion active users, more than the population of any country. </a:t>
            </a:r>
          </a:p>
          <a:p>
            <a:pPr marL="176679" indent="-176679">
              <a:buClr>
                <a:schemeClr val="dk1"/>
              </a:buClr>
              <a:buSzPct val="100000"/>
              <a:buFont typeface="Arial"/>
              <a:buChar char="•"/>
            </a:pPr>
            <a:r>
              <a:rPr lang="en-US" dirty="0">
                <a:solidFill>
                  <a:schemeClr val="dk1"/>
                </a:solidFill>
                <a:ea typeface="Calibri"/>
                <a:cs typeface="Calibri"/>
                <a:sym typeface="Calibri"/>
              </a:rPr>
              <a:t>All these users have the potential to connect with each other and to share feedback—. That’s why we’re moving from a one-to-many communication model to the new world of many to many.</a:t>
            </a:r>
          </a:p>
          <a:p>
            <a:pPr marL="176679" indent="-176679">
              <a:buClr>
                <a:schemeClr val="dk1"/>
              </a:buClr>
              <a:buSzPct val="100000"/>
              <a:buFont typeface="Arial"/>
              <a:buChar char="•"/>
            </a:pPr>
            <a:r>
              <a:rPr lang="en-US" dirty="0">
                <a:solidFill>
                  <a:schemeClr val="dk1"/>
                </a:solidFill>
                <a:ea typeface="Calibri"/>
                <a:cs typeface="Calibri"/>
                <a:sym typeface="Calibri"/>
              </a:rPr>
              <a:t>In other words, today’s consumers increasingly get their information on and about products running shoes, nightclubs, cars, new bands, from one another rather than from the original source.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791660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Clr>
                <a:schemeClr val="dk1"/>
              </a:buClr>
              <a:buSzPct val="25000"/>
            </a:pPr>
            <a:r>
              <a:rPr lang="en-US" b="1" dirty="0">
                <a:solidFill>
                  <a:schemeClr val="dk1"/>
                </a:solidFill>
                <a:ea typeface="Calibri"/>
                <a:cs typeface="Calibri"/>
                <a:sym typeface="Calibri"/>
              </a:rPr>
              <a:t>LECTURE NOTES:</a:t>
            </a:r>
          </a:p>
          <a:p>
            <a:pPr lvl="0">
              <a:buClr>
                <a:schemeClr val="dk1"/>
              </a:buClr>
              <a:buSzPct val="25000"/>
            </a:pPr>
            <a:r>
              <a:rPr lang="en-US" b="1" dirty="0">
                <a:solidFill>
                  <a:schemeClr val="dk1"/>
                </a:solidFill>
                <a:ea typeface="Calibri"/>
                <a:cs typeface="Calibri"/>
                <a:sym typeface="Calibri"/>
              </a:rPr>
              <a:t>A good example of consumers sharing information is provided by product review sites</a:t>
            </a:r>
          </a:p>
          <a:p>
            <a:pPr marL="176679" indent="-176679">
              <a:buClr>
                <a:schemeClr val="dk1"/>
              </a:buClr>
              <a:buSzPct val="100000"/>
              <a:buFont typeface="Arial"/>
              <a:buChar char="•"/>
            </a:pPr>
            <a:r>
              <a:rPr lang="en-US" b="1" dirty="0">
                <a:solidFill>
                  <a:schemeClr val="dk1"/>
                </a:solidFill>
                <a:ea typeface="Calibri"/>
                <a:cs typeface="Calibri"/>
                <a:sym typeface="Calibri"/>
              </a:rPr>
              <a:t>Product review sites </a:t>
            </a:r>
            <a:r>
              <a:rPr lang="en-US" dirty="0">
                <a:solidFill>
                  <a:schemeClr val="dk1"/>
                </a:solidFill>
                <a:ea typeface="Calibri"/>
                <a:cs typeface="Calibri"/>
                <a:sym typeface="Calibri"/>
              </a:rPr>
              <a:t>are social media sites that enable people to post stories about their experiences with products and services. </a:t>
            </a:r>
          </a:p>
          <a:p>
            <a:pPr marL="176679" indent="-176679">
              <a:buClr>
                <a:schemeClr val="dk1"/>
              </a:buClr>
              <a:buSzPct val="100000"/>
              <a:buFont typeface="Arial"/>
              <a:buChar char="•"/>
            </a:pPr>
            <a:r>
              <a:rPr lang="en-US" dirty="0">
                <a:solidFill>
                  <a:schemeClr val="dk1"/>
                </a:solidFill>
                <a:ea typeface="Calibri"/>
                <a:cs typeface="Calibri"/>
                <a:sym typeface="Calibri"/>
              </a:rPr>
              <a:t>Marketers hope that product review sites create a connection between the consumer and the brand. </a:t>
            </a:r>
          </a:p>
          <a:p>
            <a:pPr marL="176679" indent="-176679">
              <a:buClr>
                <a:schemeClr val="dk1"/>
              </a:buClr>
              <a:buSzPct val="100000"/>
              <a:buFont typeface="Arial"/>
              <a:buChar char="•"/>
            </a:pPr>
            <a:r>
              <a:rPr lang="en-US" dirty="0">
                <a:solidFill>
                  <a:schemeClr val="dk1"/>
                </a:solidFill>
                <a:ea typeface="Calibri"/>
                <a:cs typeface="Calibri"/>
                <a:sym typeface="Calibri"/>
              </a:rPr>
              <a:t>Product review sites give users both positive and negative information about companies</a:t>
            </a:r>
          </a:p>
          <a:p>
            <a:pPr marL="176679" indent="-176679">
              <a:buClr>
                <a:schemeClr val="dk1"/>
              </a:buClr>
              <a:buSzPct val="100000"/>
              <a:buFont typeface="Arial"/>
              <a:buChar char="•"/>
            </a:pPr>
            <a:r>
              <a:rPr lang="en-US" dirty="0">
                <a:solidFill>
                  <a:schemeClr val="dk1"/>
                </a:solidFill>
                <a:ea typeface="Calibri"/>
                <a:cs typeface="Calibri"/>
                <a:sym typeface="Calibri"/>
              </a:rPr>
              <a:t>Product reviews have become such important review tools  for potential customers that </a:t>
            </a:r>
            <a:r>
              <a:rPr lang="en-US" b="1" dirty="0">
                <a:solidFill>
                  <a:schemeClr val="dk1"/>
                </a:solidFill>
                <a:ea typeface="Calibri"/>
                <a:cs typeface="Calibri"/>
                <a:sym typeface="Calibri"/>
              </a:rPr>
              <a:t>some companies have been accused of actively manipulating reviews to benefit themselves.</a:t>
            </a:r>
          </a:p>
          <a:p>
            <a:pPr marL="176679" indent="-176679">
              <a:buClr>
                <a:schemeClr val="dk1"/>
              </a:buClr>
              <a:buSzPct val="100000"/>
              <a:buFont typeface="Arial"/>
              <a:buChar char="•"/>
            </a:pPr>
            <a:r>
              <a:rPr lang="en-US" b="1" dirty="0">
                <a:solidFill>
                  <a:schemeClr val="dk1"/>
                </a:solidFill>
                <a:cs typeface="Calibri"/>
                <a:sym typeface="Calibri"/>
              </a:rPr>
              <a:t>How reliable are product reviews</a:t>
            </a:r>
            <a:endParaRPr lang="en-IN" b="1"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86035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Clr>
                <a:schemeClr val="dk1"/>
              </a:buClr>
              <a:buSzPct val="25000"/>
            </a:pPr>
            <a:r>
              <a:rPr lang="en-IN" b="1" dirty="0">
                <a:solidFill>
                  <a:schemeClr val="dk1"/>
                </a:solidFill>
                <a:ea typeface="Calibri"/>
                <a:cs typeface="Calibri"/>
                <a:sym typeface="Calibri"/>
              </a:rPr>
              <a:t>LECTURE NOTES:</a:t>
            </a:r>
          </a:p>
          <a:p>
            <a:pPr lvl="0">
              <a:buSzPct val="25000"/>
            </a:pPr>
            <a:r>
              <a:rPr lang="en-IN" b="1" dirty="0">
                <a:solidFill>
                  <a:schemeClr val="dk1"/>
                </a:solidFill>
                <a:ea typeface="Calibri"/>
                <a:cs typeface="Calibri"/>
                <a:sym typeface="Calibri"/>
              </a:rPr>
              <a:t>The best examples of people connecting with each other are social networks such as Facebook, Twitter, Instagram etc</a:t>
            </a:r>
          </a:p>
          <a:p>
            <a:pPr lvl="0">
              <a:buSzPct val="25000"/>
            </a:pPr>
            <a:r>
              <a:rPr lang="en-IN" dirty="0">
                <a:solidFill>
                  <a:schemeClr val="dk1"/>
                </a:solidFill>
                <a:ea typeface="Calibri"/>
                <a:cs typeface="Calibri"/>
                <a:sym typeface="Calibri"/>
              </a:rPr>
              <a:t>Successful networking sites ask users to develop profiles of themselves so that those with similar backgrounds, interests, hobbies, religious beliefs, racial identities, or political views can “meet” online. Social networks such as Facebook and LinkedIn are some of the most popular sites on the Internet with millions of users from around the globe. The profiles can be  used to accurately target potential customers with marketing communications and products.</a:t>
            </a:r>
          </a:p>
          <a:p>
            <a:pPr lvl="0">
              <a:buSzPct val="25000"/>
            </a:pPr>
            <a:endParaRPr lang="en-IN" dirty="0">
              <a:solidFill>
                <a:schemeClr val="dk1"/>
              </a:solidFill>
              <a:ea typeface="Calibri"/>
              <a:cs typeface="Calibri"/>
              <a:sym typeface="Calibri"/>
            </a:endParaRPr>
          </a:p>
          <a:p>
            <a:pPr lvl="0">
              <a:buSzPct val="25000"/>
            </a:pPr>
            <a:r>
              <a:rPr lang="en-IN" dirty="0">
                <a:solidFill>
                  <a:schemeClr val="dk1"/>
                </a:solidFill>
                <a:ea typeface="Calibri"/>
                <a:cs typeface="Calibri"/>
                <a:sym typeface="Calibri"/>
              </a:rPr>
              <a:t>In addition</a:t>
            </a:r>
          </a:p>
          <a:p>
            <a:pPr marL="235572" indent="-235572">
              <a:buClr>
                <a:schemeClr val="dk1"/>
              </a:buClr>
              <a:buSzPct val="100000"/>
              <a:buFont typeface="Calibri"/>
              <a:buAutoNum type="arabicPeriod"/>
            </a:pPr>
            <a:r>
              <a:rPr lang="en-IN" b="1" dirty="0">
                <a:solidFill>
                  <a:schemeClr val="dk1"/>
                </a:solidFill>
                <a:ea typeface="Calibri"/>
                <a:cs typeface="Calibri"/>
                <a:sym typeface="Calibri"/>
              </a:rPr>
              <a:t>By monitoring social networks, marketers learn what consumers are thinking </a:t>
            </a:r>
            <a:r>
              <a:rPr lang="en-IN" dirty="0">
                <a:solidFill>
                  <a:schemeClr val="dk1"/>
                </a:solidFill>
                <a:ea typeface="Calibri"/>
                <a:cs typeface="Calibri"/>
                <a:sym typeface="Calibri"/>
              </a:rPr>
              <a:t>and what they are saying to each other about their brand and about the competition. Such information can be invaluable to improve advertising messages or even to correct defects in products.</a:t>
            </a:r>
          </a:p>
          <a:p>
            <a:pPr marL="235572" indent="-235572">
              <a:buClr>
                <a:schemeClr val="dk1"/>
              </a:buClr>
              <a:buSzPct val="100000"/>
              <a:buFont typeface="Calibri"/>
              <a:buAutoNum type="arabicPeriod"/>
            </a:pPr>
            <a:r>
              <a:rPr lang="en-IN" dirty="0">
                <a:solidFill>
                  <a:schemeClr val="dk1"/>
                </a:solidFill>
                <a:ea typeface="Calibri"/>
                <a:cs typeface="Calibri"/>
                <a:sym typeface="Calibri"/>
              </a:rPr>
              <a:t>By participating in the conversations, </a:t>
            </a:r>
            <a:r>
              <a:rPr lang="en-IN" b="1" dirty="0">
                <a:solidFill>
                  <a:schemeClr val="dk1"/>
                </a:solidFill>
                <a:ea typeface="Calibri"/>
                <a:cs typeface="Calibri"/>
                <a:sym typeface="Calibri"/>
              </a:rPr>
              <a:t>marketers can reach influential people such as journalists and consumers who are opinion leaders</a:t>
            </a:r>
            <a:r>
              <a:rPr lang="en-IN" dirty="0">
                <a:solidFill>
                  <a:schemeClr val="dk1"/>
                </a:solidFill>
                <a:ea typeface="Calibri"/>
                <a:cs typeface="Calibri"/>
                <a:sym typeface="Calibri"/>
              </a:rPr>
              <a:t>. </a:t>
            </a:r>
          </a:p>
          <a:p>
            <a:pPr marL="235572" indent="-235572">
              <a:buClr>
                <a:schemeClr val="dk1"/>
              </a:buClr>
              <a:buSzPct val="100000"/>
              <a:buFont typeface="Calibri"/>
              <a:buAutoNum type="arabicPeriod"/>
            </a:pPr>
            <a:r>
              <a:rPr lang="en-IN" dirty="0">
                <a:solidFill>
                  <a:schemeClr val="dk1"/>
                </a:solidFill>
                <a:ea typeface="Calibri"/>
                <a:cs typeface="Calibri"/>
                <a:sym typeface="Calibri"/>
              </a:rPr>
              <a:t>Most importantly, social networks provide firms the opportunity to create a </a:t>
            </a:r>
            <a:r>
              <a:rPr lang="en-IN" b="1" dirty="0">
                <a:solidFill>
                  <a:schemeClr val="dk1"/>
                </a:solidFill>
                <a:ea typeface="Calibri"/>
                <a:cs typeface="Calibri"/>
                <a:sym typeface="Calibri"/>
              </a:rPr>
              <a:t>brand community</a:t>
            </a:r>
            <a:r>
              <a:rPr lang="en-IN" dirty="0">
                <a:solidFill>
                  <a:schemeClr val="dk1"/>
                </a:solidFill>
                <a:ea typeface="Calibri"/>
                <a:cs typeface="Calibri"/>
                <a:sym typeface="Calibri"/>
              </a:rPr>
              <a:t>, a group of social network users who share an attachment to a product or brand. Members of the brand community interact with each other, sharing information about the brand or just expressing their affection for it. </a:t>
            </a:r>
            <a:r>
              <a:rPr lang="en-IN" b="1" dirty="0">
                <a:solidFill>
                  <a:schemeClr val="dk1"/>
                </a:solidFill>
                <a:ea typeface="Calibri"/>
                <a:cs typeface="Calibri"/>
                <a:sym typeface="Calibri"/>
              </a:rPr>
              <a:t>As a result, the relationships between the consumers and the brand grow even stronger</a:t>
            </a:r>
            <a:r>
              <a:rPr lang="en-IN" dirty="0">
                <a:solidFill>
                  <a:schemeClr val="dk1"/>
                </a:solidFill>
                <a:ea typeface="Calibri"/>
                <a:cs typeface="Calibri"/>
                <a:sym typeface="Calibri"/>
              </a:rPr>
              <a:t>.</a:t>
            </a:r>
            <a:r>
              <a:rPr lang="en-US" dirty="0"/>
              <a:t> </a:t>
            </a:r>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2143549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1" dirty="0"/>
              <a:t>LECTURE NOTE:</a:t>
            </a:r>
          </a:p>
          <a:p>
            <a:pPr algn="l"/>
            <a:r>
              <a:rPr lang="en-US" b="0" i="0" dirty="0">
                <a:solidFill>
                  <a:srgbClr val="000000"/>
                </a:solidFill>
                <a:effectLst/>
                <a:latin typeface="H5PDroidSans"/>
              </a:rPr>
              <a:t>A key technique in social media marketing is </a:t>
            </a:r>
            <a:r>
              <a:rPr lang="en-US" b="1" i="0" dirty="0">
                <a:solidFill>
                  <a:srgbClr val="000000"/>
                </a:solidFill>
                <a:effectLst/>
                <a:latin typeface="H5PDroidSans"/>
              </a:rPr>
              <a:t>the use of Influencers</a:t>
            </a:r>
          </a:p>
          <a:p>
            <a:pPr algn="l"/>
            <a:r>
              <a:rPr lang="en-US" b="1" i="0" dirty="0">
                <a:solidFill>
                  <a:srgbClr val="000000"/>
                </a:solidFill>
                <a:effectLst/>
                <a:latin typeface="H5PDroidSans"/>
              </a:rPr>
              <a:t>Influencers are famous people who will promote a brand using social media,</a:t>
            </a:r>
            <a:r>
              <a:rPr lang="en-US" b="0" i="0" dirty="0">
                <a:solidFill>
                  <a:srgbClr val="000000"/>
                </a:solidFill>
                <a:effectLst/>
                <a:latin typeface="H5PDroidSans"/>
              </a:rPr>
              <a:t> so that their followers will be interested in the brand and be guided by the influencer to make a purchase, and they can be paid a fortune for doing so. It has made social media lucrative territory for people with large online followings.</a:t>
            </a:r>
            <a:endParaRPr lang="en-US" b="0" i="0" dirty="0">
              <a:solidFill>
                <a:srgbClr val="323232"/>
              </a:solidFill>
              <a:effectLst/>
              <a:latin typeface="H5PDroidSans"/>
            </a:endParaRPr>
          </a:p>
          <a:p>
            <a:pPr algn="l"/>
            <a:r>
              <a:rPr lang="en-US" b="0" i="0" dirty="0" err="1">
                <a:solidFill>
                  <a:srgbClr val="000000"/>
                </a:solidFill>
                <a:effectLst/>
                <a:latin typeface="H5PDroidSans"/>
              </a:rPr>
              <a:t>Christiano</a:t>
            </a:r>
            <a:r>
              <a:rPr lang="en-US" b="0" i="0" dirty="0">
                <a:solidFill>
                  <a:srgbClr val="000000"/>
                </a:solidFill>
                <a:effectLst/>
                <a:latin typeface="H5PDroidSans"/>
              </a:rPr>
              <a:t> Ronaldo has </a:t>
            </a:r>
            <a:r>
              <a:rPr lang="en-US" b="1" i="0" dirty="0">
                <a:solidFill>
                  <a:srgbClr val="000000"/>
                </a:solidFill>
                <a:effectLst/>
                <a:latin typeface="H5PDroidSans"/>
              </a:rPr>
              <a:t>406.6 million followers </a:t>
            </a:r>
            <a:r>
              <a:rPr lang="en-US" b="0" i="0" dirty="0">
                <a:solidFill>
                  <a:srgbClr val="000000"/>
                </a:solidFill>
                <a:effectLst/>
                <a:latin typeface="H5PDroidSans"/>
              </a:rPr>
              <a:t>on social media platforms. </a:t>
            </a:r>
            <a:r>
              <a:rPr lang="en-US" b="1" i="0" dirty="0">
                <a:solidFill>
                  <a:srgbClr val="000000"/>
                </a:solidFill>
                <a:effectLst/>
                <a:latin typeface="H5PDroidSans"/>
              </a:rPr>
              <a:t>For each Instagram post, he makes $975,000 USD</a:t>
            </a:r>
            <a:r>
              <a:rPr lang="en-US" b="0" i="0" dirty="0">
                <a:solidFill>
                  <a:srgbClr val="000000"/>
                </a:solidFill>
                <a:effectLst/>
                <a:latin typeface="H5PDroidSans"/>
              </a:rPr>
              <a:t>.</a:t>
            </a:r>
            <a:endParaRPr lang="en-US" b="0" i="0" dirty="0">
              <a:solidFill>
                <a:srgbClr val="323232"/>
              </a:solidFill>
              <a:effectLst/>
              <a:latin typeface="H5PDroidSan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909239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LECTURE NOTE:</a:t>
            </a:r>
          </a:p>
          <a:p>
            <a:pPr marL="263396" indent="-263396"/>
            <a:r>
              <a:rPr lang="en-US" dirty="0">
                <a:solidFill>
                  <a:srgbClr val="FF0000"/>
                </a:solidFill>
              </a:rPr>
              <a:t>Hiring influencers allows companies to reach a vast network of potential customers: </a:t>
            </a:r>
            <a:r>
              <a:rPr lang="en-US" dirty="0"/>
              <a:t>Cristiano Ronaldo has a combined following of </a:t>
            </a:r>
            <a:r>
              <a:rPr lang="en-US" b="1" dirty="0"/>
              <a:t>240m people across Facebook, Instagram and Twitter. </a:t>
            </a:r>
          </a:p>
          <a:p>
            <a:pPr marL="263396" indent="-263396"/>
            <a:r>
              <a:rPr lang="en-US" dirty="0">
                <a:solidFill>
                  <a:srgbClr val="FF0000"/>
                </a:solidFill>
              </a:rPr>
              <a:t>Social media offer brands their best opportunity to reach millennials – </a:t>
            </a:r>
            <a:r>
              <a:rPr lang="en-US" b="1" dirty="0">
                <a:solidFill>
                  <a:srgbClr val="FF0000"/>
                </a:solidFill>
              </a:rPr>
              <a:t>the most active  social media users</a:t>
            </a:r>
            <a:r>
              <a:rPr lang="en-US" dirty="0">
                <a:solidFill>
                  <a:srgbClr val="FF0000"/>
                </a:solidFill>
              </a:rPr>
              <a:t> For instance, </a:t>
            </a:r>
            <a:r>
              <a:rPr lang="en-US" dirty="0"/>
              <a:t>Snapchat, the photo-sharing app, reaches 40% of all 18- to 34-year-olds every day. </a:t>
            </a:r>
          </a:p>
          <a:p>
            <a:pPr marL="263396" indent="-263396"/>
            <a:r>
              <a:rPr lang="en-US" b="1" dirty="0">
                <a:solidFill>
                  <a:srgbClr val="FF0000"/>
                </a:solidFill>
              </a:rPr>
              <a:t>Consumers feel they have gained unprecedented access to the lives of the rich and famous</a:t>
            </a:r>
            <a:r>
              <a:rPr lang="en-US" dirty="0"/>
              <a:t>. </a:t>
            </a:r>
          </a:p>
          <a:p>
            <a:pPr marL="263396" indent="-263396"/>
            <a:r>
              <a:rPr lang="en-US" dirty="0">
                <a:solidFill>
                  <a:srgbClr val="FF0000"/>
                </a:solidFill>
              </a:rPr>
              <a:t>Sponsors interact with their target audiences in ways that traditional advertising cannot match</a:t>
            </a:r>
            <a:r>
              <a:rPr lang="en-US" dirty="0"/>
              <a:t>. In turn, demand from marketers for these channels has made social media lucrative territory for people with large online followings</a:t>
            </a:r>
            <a:r>
              <a:rPr lang="en-US" sz="1100" dirty="0"/>
              <a:t>.</a:t>
            </a:r>
            <a:endParaRPr lang="en-US" sz="1100" dirty="0">
              <a:solidFill>
                <a:schemeClr val="dk1"/>
              </a:solidFill>
              <a:ea typeface="Calibri"/>
              <a:cs typeface="Calibri"/>
              <a:sym typeface="Calibri"/>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1884297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Planning an Influencer Campaign.</a:t>
            </a:r>
          </a:p>
          <a:p>
            <a:pPr algn="l"/>
            <a:r>
              <a:rPr lang="en-US" b="0" i="0" dirty="0">
                <a:solidFill>
                  <a:srgbClr val="333333"/>
                </a:solidFill>
                <a:effectLst/>
                <a:latin typeface="Arial" panose="020B0604020202020204" pitchFamily="34" charset="0"/>
              </a:rPr>
              <a:t> As with other marketing tools, using influencers as part of a social media strategy requires a systematic planned approach which includes defining objectives for the promotional campaign, define what approach to be used with the influencer, allocating an appropriate budget, choosing a specific influencer and working with the influencer to achieve your objectives.</a:t>
            </a:r>
          </a:p>
          <a:p>
            <a:pPr algn="l"/>
            <a:endParaRPr lang="en-US" b="0" i="0" dirty="0">
              <a:solidFill>
                <a:srgbClr val="333333"/>
              </a:solidFill>
              <a:effectLst/>
              <a:latin typeface="Arial" panose="020B0604020202020204" pitchFamily="34" charset="0"/>
            </a:endParaRPr>
          </a:p>
          <a:p>
            <a:pPr algn="l"/>
            <a:r>
              <a:rPr lang="en-US" b="0" i="0" dirty="0">
                <a:solidFill>
                  <a:srgbClr val="333333"/>
                </a:solidFill>
                <a:effectLst/>
                <a:latin typeface="Arial" panose="020B0604020202020204" pitchFamily="34" charset="0"/>
              </a:rPr>
              <a:t>Defining your goals in the early stages of planning will help you shape a consistent strategy throughout your campaign, and it will also give you an idea about the metrics you should track and monitor to measure your success at the end of the campaign.</a:t>
            </a:r>
          </a:p>
          <a:p>
            <a:pPr algn="l"/>
            <a:endParaRPr lang="en-US" b="0" i="0" dirty="0">
              <a:solidFill>
                <a:srgbClr val="333333"/>
              </a:solidFill>
              <a:effectLst/>
              <a:latin typeface="Arial" panose="020B0604020202020204" pitchFamily="34" charset="0"/>
            </a:endParaRPr>
          </a:p>
          <a:p>
            <a:pPr algn="l"/>
            <a:r>
              <a:rPr lang="en-US" b="0" i="0" dirty="0">
                <a:solidFill>
                  <a:srgbClr val="333333"/>
                </a:solidFill>
                <a:effectLst/>
                <a:latin typeface="Arial" panose="020B0604020202020204" pitchFamily="34" charset="0"/>
              </a:rPr>
              <a:t>Some goals you may want to consider for your influencer marketing strategy include :</a:t>
            </a:r>
          </a:p>
          <a:p>
            <a:pPr algn="l">
              <a:buFont typeface="Arial" panose="020B0604020202020204" pitchFamily="34" charset="0"/>
              <a:buChar char="•"/>
            </a:pPr>
            <a:r>
              <a:rPr lang="en-US" b="0" i="0" dirty="0">
                <a:solidFill>
                  <a:srgbClr val="333333"/>
                </a:solidFill>
                <a:effectLst/>
                <a:latin typeface="Arial" panose="020B0604020202020204" pitchFamily="34" charset="0"/>
              </a:rPr>
              <a:t>Brand awareness: Building brand identity and Audience building to Getting more people to follow and subscribe.</a:t>
            </a:r>
          </a:p>
          <a:p>
            <a:pPr algn="l">
              <a:buFont typeface="Arial" panose="020B0604020202020204" pitchFamily="34" charset="0"/>
              <a:buChar char="•"/>
            </a:pPr>
            <a:endParaRPr lang="en-US" b="0" i="0" dirty="0">
              <a:solidFill>
                <a:srgbClr val="333333"/>
              </a:solidFill>
              <a:effectLst/>
              <a:latin typeface="Arial" panose="020B0604020202020204" pitchFamily="34" charset="0"/>
            </a:endParaRPr>
          </a:p>
          <a:p>
            <a:pPr algn="l"/>
            <a:r>
              <a:rPr lang="en-US" b="0" i="0" dirty="0">
                <a:solidFill>
                  <a:srgbClr val="333333"/>
                </a:solidFill>
                <a:effectLst/>
                <a:latin typeface="Arial" panose="020B0604020202020204" pitchFamily="34" charset="0"/>
              </a:rPr>
              <a:t>Once you know your goals, it’s time to start thinking about the type of influencer marketing campaign that will help you accomplish your mission. Influencer marketing campaigns usually involve three types of relationship triggers:</a:t>
            </a:r>
          </a:p>
          <a:p>
            <a:pPr algn="l">
              <a:buFont typeface="+mj-lt"/>
              <a:buAutoNum type="arabicPeriod"/>
            </a:pPr>
            <a:r>
              <a:rPr lang="en-US" b="0" i="0" dirty="0">
                <a:solidFill>
                  <a:srgbClr val="333333"/>
                </a:solidFill>
                <a:effectLst/>
                <a:latin typeface="Arial" panose="020B0604020202020204" pitchFamily="34" charset="0"/>
              </a:rPr>
              <a:t> One, inspire an influencer to share your content or messaging on their own</a:t>
            </a:r>
          </a:p>
          <a:p>
            <a:pPr algn="l">
              <a:buFont typeface="+mj-lt"/>
              <a:buAutoNum type="arabicPeriod"/>
            </a:pPr>
            <a:r>
              <a:rPr lang="en-US" b="0" i="0" dirty="0">
                <a:solidFill>
                  <a:srgbClr val="333333"/>
                </a:solidFill>
                <a:effectLst/>
                <a:latin typeface="Arial" panose="020B0604020202020204" pitchFamily="34" charset="0"/>
              </a:rPr>
              <a:t>Or to, hire or pay them to promote your brand</a:t>
            </a:r>
          </a:p>
          <a:p>
            <a:pPr algn="l">
              <a:buFont typeface="+mj-lt"/>
              <a:buAutoNum type="arabicPeriod"/>
            </a:pPr>
            <a:r>
              <a:rPr lang="en-US" b="0" i="0" dirty="0">
                <a:solidFill>
                  <a:srgbClr val="333333"/>
                </a:solidFill>
                <a:effectLst/>
                <a:latin typeface="Arial" panose="020B0604020202020204" pitchFamily="34" charset="0"/>
              </a:rPr>
              <a:t>or a mix of both.</a:t>
            </a:r>
          </a:p>
          <a:p>
            <a:pPr algn="l">
              <a:buFont typeface="Arial" panose="020B0604020202020204" pitchFamily="34" charset="0"/>
              <a:buChar char="•"/>
            </a:pPr>
            <a:endParaRPr lang="en-US" b="1" i="0" dirty="0">
              <a:solidFill>
                <a:srgbClr val="333333"/>
              </a:solidFill>
              <a:effectLst/>
              <a:latin typeface="Arial" panose="020B0604020202020204" pitchFamily="34" charset="0"/>
            </a:endParaRPr>
          </a:p>
          <a:p>
            <a:pPr algn="l"/>
            <a:r>
              <a:rPr lang="en-US" b="1" i="0" dirty="0">
                <a:solidFill>
                  <a:srgbClr val="333333"/>
                </a:solidFill>
                <a:effectLst/>
                <a:latin typeface="Arial" panose="020B0604020202020204" pitchFamily="34" charset="0"/>
              </a:rPr>
              <a:t>Build an Influencer list</a:t>
            </a:r>
          </a:p>
          <a:p>
            <a:pPr algn="l"/>
            <a:r>
              <a:rPr lang="en-US" b="1" i="0" dirty="0">
                <a:solidFill>
                  <a:srgbClr val="333333"/>
                </a:solidFill>
                <a:effectLst/>
                <a:latin typeface="Arial" panose="020B0604020202020204" pitchFamily="34" charset="0"/>
              </a:rPr>
              <a:t>With your audience clearly defined, you can finally start seeking out the influencers who will help you reach your goals and connect with your target market. Which could include bloggers, social media stars, celebrities, industry experts, thought leaders, or customers.</a:t>
            </a:r>
          </a:p>
          <a:p>
            <a:pPr algn="l"/>
            <a:r>
              <a:rPr lang="en-US" b="1" i="0" dirty="0">
                <a:solidFill>
                  <a:srgbClr val="333333"/>
                </a:solidFill>
                <a:effectLst/>
                <a:latin typeface="Arial" panose="020B0604020202020204" pitchFamily="34" charset="0"/>
              </a:rPr>
              <a:t>Once you have determined the type of influencer you want to use, start researching individuals or brands in that space.</a:t>
            </a:r>
          </a:p>
          <a:p>
            <a:pPr algn="l"/>
            <a:endParaRPr lang="en-US" b="1" i="0" dirty="0">
              <a:solidFill>
                <a:srgbClr val="333333"/>
              </a:solidFill>
              <a:effectLst/>
              <a:latin typeface="Arial" panose="020B0604020202020204" pitchFamily="34" charset="0"/>
            </a:endParaRPr>
          </a:p>
          <a:p>
            <a:pPr algn="l"/>
            <a:r>
              <a:rPr lang="en-US" b="1" i="0" dirty="0">
                <a:solidFill>
                  <a:srgbClr val="333333"/>
                </a:solidFill>
                <a:effectLst/>
                <a:latin typeface="Arial" panose="020B0604020202020204" pitchFamily="34" charset="0"/>
              </a:rPr>
              <a:t>Base your pitch on the individual influencer and Use your influencer as a way of </a:t>
            </a:r>
            <a:r>
              <a:rPr lang="en-US" b="1" i="0" dirty="0" err="1">
                <a:solidFill>
                  <a:srgbClr val="333333"/>
                </a:solidFill>
                <a:effectLst/>
                <a:latin typeface="Arial" panose="020B0604020202020204" pitchFamily="34" charset="0"/>
              </a:rPr>
              <a:t>personalising</a:t>
            </a:r>
            <a:r>
              <a:rPr lang="en-US" b="1" i="0" dirty="0">
                <a:solidFill>
                  <a:srgbClr val="333333"/>
                </a:solidFill>
                <a:effectLst/>
                <a:latin typeface="Arial" panose="020B0604020202020204" pitchFamily="34" charset="0"/>
              </a:rPr>
              <a:t> the social media message to create engagement amongst the intended audience.  </a:t>
            </a:r>
          </a:p>
          <a:p>
            <a:pPr algn="l"/>
            <a:endParaRPr lang="en-US" b="1" i="0" dirty="0">
              <a:solidFill>
                <a:srgbClr val="333333"/>
              </a:solidFill>
              <a:effectLst/>
              <a:latin typeface="Arial" panose="020B0604020202020204" pitchFamily="34" charset="0"/>
            </a:endParaRPr>
          </a:p>
          <a:p>
            <a:pPr algn="l">
              <a:buFont typeface="Arial" panose="020B0604020202020204" pitchFamily="34" charset="0"/>
              <a:buChar char="•"/>
            </a:pPr>
            <a:endParaRPr lang="en-US" b="1" i="0" dirty="0">
              <a:solidFill>
                <a:srgbClr val="333333"/>
              </a:solidFill>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1054065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summarises the effectiveness of using social media .It shows the percentage of respondents in a survey of US consumers in 2017 that had discovered products via social media  a platform and bought products after discovering products on social media.</a:t>
            </a:r>
          </a:p>
          <a:p>
            <a:r>
              <a:rPr lang="en-GB" dirty="0"/>
              <a:t>The  figures range from 22% for Snapchat  to 78% for Facebook  respondents between the ages of 18 and 34 years who discovered products on the platform</a:t>
            </a:r>
          </a:p>
          <a:p>
            <a:r>
              <a:rPr lang="en-GB" dirty="0"/>
              <a:t>The slide also shows that 55 of respondents between 18-65 years bought a product after discovering it on Social Media. With 11% buying  immediately.</a:t>
            </a:r>
          </a:p>
          <a:p>
            <a:endParaRPr lang="en-GB" dirty="0"/>
          </a:p>
          <a:p>
            <a:r>
              <a:rPr lang="en-GB" dirty="0"/>
              <a:t>These figures demonstrate the increasing dominance of social media in reaching potential customers and getting  them  to purchase products.</a:t>
            </a:r>
          </a:p>
        </p:txBody>
      </p:sp>
      <p:sp>
        <p:nvSpPr>
          <p:cNvPr id="4" name="Slide Number Placeholder 3"/>
          <p:cNvSpPr>
            <a:spLocks noGrp="1"/>
          </p:cNvSpPr>
          <p:nvPr>
            <p:ph type="sldNum" sz="quarter" idx="5"/>
          </p:nvPr>
        </p:nvSpPr>
        <p:spPr/>
        <p:txBody>
          <a:bodyPr/>
          <a:lstStyle/>
          <a:p>
            <a:fld id="{20196083-5C37-8041-9477-EF3CED45B519}" type="slidenum">
              <a:rPr lang="en-US" smtClean="0"/>
              <a:t>19</a:t>
            </a:fld>
            <a:endParaRPr lang="en-US"/>
          </a:p>
        </p:txBody>
      </p:sp>
    </p:spTree>
    <p:extLst>
      <p:ext uri="{BB962C8B-B14F-4D97-AF65-F5344CB8AC3E}">
        <p14:creationId xmlns:p14="http://schemas.microsoft.com/office/powerpoint/2010/main" val="3279929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252913"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122363"/>
            <a:ext cx="9144000" cy="2387600"/>
          </a:xfrm>
        </p:spPr>
        <p:txBody>
          <a:bodyPr anchor="b"/>
          <a:lstStyle>
            <a:lvl1pPr algn="ctr">
              <a:defRPr sz="6000">
                <a:solidFill>
                  <a:srgbClr val="063532"/>
                </a:solidFill>
              </a:defRPr>
            </a:lvl1pPr>
          </a:lstStyle>
          <a:p>
            <a:r>
              <a:rPr lang="en-US"/>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06353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891323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63532"/>
                </a:solidFill>
              </a:defRPr>
            </a:lvl1pPr>
          </a:lstStyle>
          <a:p>
            <a:r>
              <a:rPr lang="en-US"/>
              <a:t>Click to edit Master title style</a:t>
            </a:r>
            <a:endParaRPr lang="en-GB" dirty="0"/>
          </a:p>
        </p:txBody>
      </p:sp>
      <p:sp>
        <p:nvSpPr>
          <p:cNvPr id="3" name="Content Placeholder 2"/>
          <p:cNvSpPr>
            <a:spLocks noGrp="1"/>
          </p:cNvSpPr>
          <p:nvPr>
            <p:ph idx="1"/>
          </p:nvPr>
        </p:nvSpPr>
        <p:spPr/>
        <p:txBody>
          <a:bodyPr/>
          <a:lstStyle>
            <a:lvl1pPr>
              <a:defRPr>
                <a:solidFill>
                  <a:srgbClr val="063532"/>
                </a:solidFill>
              </a:defRPr>
            </a:lvl1pPr>
            <a:lvl2pPr>
              <a:defRPr>
                <a:solidFill>
                  <a:srgbClr val="063532"/>
                </a:solidFill>
              </a:defRPr>
            </a:lvl2pPr>
            <a:lvl3pPr>
              <a:defRPr>
                <a:solidFill>
                  <a:srgbClr val="063532"/>
                </a:solidFill>
              </a:defRPr>
            </a:lvl3pPr>
            <a:lvl4pPr>
              <a:defRPr>
                <a:solidFill>
                  <a:srgbClr val="063532"/>
                </a:solidFill>
              </a:defRPr>
            </a:lvl4pPr>
            <a:lvl5pPr>
              <a:defRPr>
                <a:solidFill>
                  <a:srgbClr val="06353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lvl1pPr>
              <a:defRPr smtClean="0">
                <a:solidFill>
                  <a:srgbClr val="063532"/>
                </a:solidFill>
              </a:defRPr>
            </a:lvl1pPr>
          </a:lstStyle>
          <a:p>
            <a:pPr>
              <a:defRPr/>
            </a:pPr>
            <a:fld id="{A39DBBCA-7DC4-6540-9997-31BE66BFD8BF}" type="datetimeFigureOut">
              <a:rPr lang="en-GB"/>
              <a:pPr>
                <a:defRPr/>
              </a:pPr>
              <a:t>09/07/2025</a:t>
            </a:fld>
            <a:endParaRPr lang="en-GB"/>
          </a:p>
        </p:txBody>
      </p:sp>
      <p:sp>
        <p:nvSpPr>
          <p:cNvPr id="5" name="Footer Placeholder 4"/>
          <p:cNvSpPr>
            <a:spLocks noGrp="1"/>
          </p:cNvSpPr>
          <p:nvPr>
            <p:ph type="ftr" sz="quarter" idx="11"/>
          </p:nvPr>
        </p:nvSpPr>
        <p:spPr/>
        <p:txBody>
          <a:bodyPr/>
          <a:lstStyle>
            <a:lvl1pPr>
              <a:defRPr>
                <a:solidFill>
                  <a:srgbClr val="063532"/>
                </a:solidFill>
              </a:defRPr>
            </a:lvl1pPr>
          </a:lstStyle>
          <a:p>
            <a:pPr>
              <a:defRPr/>
            </a:pPr>
            <a:endParaRPr lang="en-GB"/>
          </a:p>
        </p:txBody>
      </p:sp>
      <p:sp>
        <p:nvSpPr>
          <p:cNvPr id="6" name="Slide Number Placeholder 5"/>
          <p:cNvSpPr>
            <a:spLocks noGrp="1"/>
          </p:cNvSpPr>
          <p:nvPr>
            <p:ph type="sldNum" sz="quarter" idx="12"/>
          </p:nvPr>
        </p:nvSpPr>
        <p:spPr/>
        <p:txBody>
          <a:bodyPr/>
          <a:lstStyle>
            <a:lvl1pPr>
              <a:defRPr smtClean="0">
                <a:solidFill>
                  <a:srgbClr val="063532"/>
                </a:solidFill>
              </a:defRPr>
            </a:lvl1pPr>
          </a:lstStyle>
          <a:p>
            <a:pPr>
              <a:defRPr/>
            </a:pPr>
            <a:fld id="{B4C38821-B49A-9C4E-B57D-3C5DC6EC92FD}" type="slidenum">
              <a:rPr lang="en-GB"/>
              <a:pPr>
                <a:defRPr/>
              </a:pPr>
              <a:t>‹#›</a:t>
            </a:fld>
            <a:endParaRPr lang="en-GB"/>
          </a:p>
        </p:txBody>
      </p:sp>
    </p:spTree>
    <p:extLst>
      <p:ext uri="{BB962C8B-B14F-4D97-AF65-F5344CB8AC3E}">
        <p14:creationId xmlns:p14="http://schemas.microsoft.com/office/powerpoint/2010/main" val="177060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0C751F77-6922-8A42-8DDB-31B45856657E}" type="datetimeFigureOut">
              <a:rPr lang="en-GB"/>
              <a:pPr>
                <a:defRPr/>
              </a:pPr>
              <a:t>09/07/2025</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E9E1F878-75C8-E248-8043-043CBF371125}" type="slidenum">
              <a:rPr lang="en-GB"/>
              <a:pPr>
                <a:defRPr/>
              </a:pPr>
              <a:t>‹#›</a:t>
            </a:fld>
            <a:endParaRPr lang="en-GB"/>
          </a:p>
        </p:txBody>
      </p:sp>
    </p:spTree>
    <p:extLst>
      <p:ext uri="{BB962C8B-B14F-4D97-AF65-F5344CB8AC3E}">
        <p14:creationId xmlns:p14="http://schemas.microsoft.com/office/powerpoint/2010/main" val="450966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C4D3BC86-80CA-6C48-886B-E52FEEAD8B52}" type="datetimeFigureOut">
              <a:rPr lang="en-GB"/>
              <a:pPr>
                <a:defRPr/>
              </a:pPr>
              <a:t>09/07/2025</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BBBB19BF-F404-C24D-80BB-50C4F751A7DA}" type="slidenum">
              <a:rPr lang="en-GB"/>
              <a:pPr>
                <a:defRPr/>
              </a:pPr>
              <a:t>‹#›</a:t>
            </a:fld>
            <a:endParaRPr lang="en-GB"/>
          </a:p>
        </p:txBody>
      </p:sp>
    </p:spTree>
    <p:extLst>
      <p:ext uri="{BB962C8B-B14F-4D97-AF65-F5344CB8AC3E}">
        <p14:creationId xmlns:p14="http://schemas.microsoft.com/office/powerpoint/2010/main" val="92982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904BD1-2EDD-6F4C-AE02-D5C6CA08777E}" type="datetimeFigureOut">
              <a:rPr lang="en-GB"/>
              <a:pPr>
                <a:defRPr/>
              </a:pPr>
              <a:t>09/07/2025</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7AC65407-D129-8D42-9BA8-69A441B514C5}" type="slidenum">
              <a:rPr lang="en-GB"/>
              <a:pPr>
                <a:defRPr/>
              </a:pPr>
              <a:t>‹#›</a:t>
            </a:fld>
            <a:endParaRPr lang="en-GB"/>
          </a:p>
        </p:txBody>
      </p:sp>
    </p:spTree>
    <p:extLst>
      <p:ext uri="{BB962C8B-B14F-4D97-AF65-F5344CB8AC3E}">
        <p14:creationId xmlns:p14="http://schemas.microsoft.com/office/powerpoint/2010/main" val="28639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10972800" cy="4983163"/>
          </a:xfrm>
        </p:spPr>
        <p:txBody>
          <a:bodyPr/>
          <a:lstStyle>
            <a:lvl1pPr marL="228600" indent="-228600">
              <a:buClr>
                <a:srgbClr val="007FA3"/>
              </a:buClr>
              <a:buSzPct val="100000"/>
              <a:defRPr lang="en-US" dirty="0" smtClean="0"/>
            </a:lvl1pPr>
            <a:lvl2pPr marL="569913" indent="-285750">
              <a:buClr>
                <a:srgbClr val="007FA3"/>
              </a:buClr>
              <a:defRPr lang="en-US" sz="2400" dirty="0" smtClean="0"/>
            </a:lvl2pPr>
            <a:lvl3pPr>
              <a:buClr>
                <a:srgbClr val="007FA3"/>
              </a:buClr>
              <a:defRPr lang="en-US" dirty="0" smtClean="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2" name="Title 1"/>
          <p:cNvSpPr>
            <a:spLocks noGrp="1"/>
          </p:cNvSpPr>
          <p:nvPr>
            <p:ph type="title"/>
          </p:nvPr>
        </p:nvSpPr>
        <p:spPr>
          <a:xfrm>
            <a:off x="609600" y="215372"/>
            <a:ext cx="10972800" cy="622828"/>
          </a:xfrm>
        </p:spPr>
        <p:txBody>
          <a:bodyPr/>
          <a:lstStyle>
            <a:lvl1pPr>
              <a:defRPr sz="3600">
                <a:latin typeface="+mj-lt"/>
              </a:defRPr>
            </a:lvl1pPr>
          </a:lstStyle>
          <a:p>
            <a:r>
              <a:rPr lang="en-US" dirty="0"/>
              <a:t>Click to edit Master title style</a:t>
            </a:r>
          </a:p>
        </p:txBody>
      </p:sp>
    </p:spTree>
    <p:extLst>
      <p:ext uri="{BB962C8B-B14F-4D97-AF65-F5344CB8AC3E}">
        <p14:creationId xmlns:p14="http://schemas.microsoft.com/office/powerpoint/2010/main" val="1292476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p:cNvSpPr>
            <a:spLocks noGrp="1"/>
          </p:cNvSpPr>
          <p:nvPr>
            <p:ph type="title"/>
          </p:nvPr>
        </p:nvSpPr>
        <p:spPr/>
        <p:txBody>
          <a:bodyPr/>
          <a:lstStyle/>
          <a:p>
            <a:r>
              <a:rPr lang="en-US"/>
              <a:t>Click to edit Master title style</a:t>
            </a:r>
          </a:p>
        </p:txBody>
      </p:sp>
      <p:sp>
        <p:nvSpPr>
          <p:cNvPr id="4" name="Text Placeholder 7"/>
          <p:cNvSpPr>
            <a:spLocks noGrp="1"/>
          </p:cNvSpPr>
          <p:nvPr>
            <p:ph type="body" sz="quarter" idx="13"/>
          </p:nvPr>
        </p:nvSpPr>
        <p:spPr>
          <a:xfrm>
            <a:off x="1219200" y="1371600"/>
            <a:ext cx="9550400" cy="381000"/>
          </a:xfrm>
        </p:spPr>
        <p:txBody>
          <a:bodyPr/>
          <a:lstStyle>
            <a:lvl1pPr algn="ctr">
              <a:buNone/>
              <a:defRPr sz="2800" b="1" i="0">
                <a:solidFill>
                  <a:schemeClr val="tx2"/>
                </a:solidFill>
              </a:defRPr>
            </a:lvl1pPr>
          </a:lstStyle>
          <a:p>
            <a:pPr lvl="0"/>
            <a:r>
              <a:rPr lang="en-US" dirty="0"/>
              <a:t>Click to edit Master text styles</a:t>
            </a:r>
          </a:p>
        </p:txBody>
      </p:sp>
    </p:spTree>
    <p:extLst>
      <p:ext uri="{BB962C8B-B14F-4D97-AF65-F5344CB8AC3E}">
        <p14:creationId xmlns:p14="http://schemas.microsoft.com/office/powerpoint/2010/main" val="2465122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10363200" cy="1143000"/>
          </a:xfrm>
        </p:spPr>
        <p:txBody>
          <a:bodyPr>
            <a:normAutofit/>
          </a:bodyPr>
          <a:lstStyle>
            <a:lvl1pPr>
              <a:defRPr sz="3600" b="1">
                <a:solidFill>
                  <a:srgbClr val="007CA8"/>
                </a:solidFill>
              </a:defRPr>
            </a:lvl1pPr>
          </a:lstStyle>
          <a:p>
            <a:r>
              <a:rPr lang="en-US" dirty="0"/>
              <a:t>Click to edit Master title style</a:t>
            </a:r>
          </a:p>
        </p:txBody>
      </p:sp>
      <p:sp>
        <p:nvSpPr>
          <p:cNvPr id="3" name="Content Placeholder 2"/>
          <p:cNvSpPr>
            <a:spLocks noGrp="1"/>
          </p:cNvSpPr>
          <p:nvPr>
            <p:ph idx="1"/>
          </p:nvPr>
        </p:nvSpPr>
        <p:spPr>
          <a:xfrm>
            <a:off x="914400" y="1981200"/>
            <a:ext cx="3962400" cy="4114800"/>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3"/>
          </p:nvPr>
        </p:nvSpPr>
        <p:spPr>
          <a:xfrm>
            <a:off x="609600" y="1447800"/>
            <a:ext cx="4267200" cy="381000"/>
          </a:xfrm>
        </p:spPr>
        <p:txBody>
          <a:bodyPr/>
          <a:lstStyle>
            <a:lvl1pPr algn="ctr">
              <a:buNone/>
              <a:defRPr sz="2000" b="0" i="1">
                <a:solidFill>
                  <a:srgbClr val="C00000"/>
                </a:solidFill>
              </a:defRPr>
            </a:lvl1pPr>
          </a:lstStyle>
          <a:p>
            <a:pPr lvl="0"/>
            <a:r>
              <a:rPr lang="en-US" dirty="0"/>
              <a:t>Click to edit Master text styles</a:t>
            </a:r>
          </a:p>
        </p:txBody>
      </p:sp>
      <p:sp>
        <p:nvSpPr>
          <p:cNvPr id="13" name="Content Placeholder 12"/>
          <p:cNvSpPr>
            <a:spLocks noGrp="1"/>
          </p:cNvSpPr>
          <p:nvPr>
            <p:ph sz="quarter" idx="14"/>
          </p:nvPr>
        </p:nvSpPr>
        <p:spPr>
          <a:xfrm>
            <a:off x="5080000" y="1524000"/>
            <a:ext cx="5791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5"/>
          <p:cNvSpPr/>
          <p:nvPr userDrawn="1"/>
        </p:nvSpPr>
        <p:spPr>
          <a:xfrm>
            <a:off x="6528858" y="6367641"/>
            <a:ext cx="5388822" cy="276999"/>
          </a:xfrm>
          <a:prstGeom prst="rect">
            <a:avLst/>
          </a:prstGeom>
        </p:spPr>
        <p:txBody>
          <a:bodyPr wrap="square">
            <a:spAutoFit/>
          </a:bodyPr>
          <a:lstStyle/>
          <a:p>
            <a:r>
              <a:rPr lang="en-IN" sz="1200" dirty="0"/>
              <a:t>Copyright © 2018 Pearson Education Ltd. All Rights Reserved.</a:t>
            </a:r>
            <a:endParaRPr lang="en-US" sz="1200" dirty="0"/>
          </a:p>
        </p:txBody>
      </p:sp>
    </p:spTree>
    <p:extLst>
      <p:ext uri="{BB962C8B-B14F-4D97-AF65-F5344CB8AC3E}">
        <p14:creationId xmlns:p14="http://schemas.microsoft.com/office/powerpoint/2010/main" val="1354886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BEA"/>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x-none"/>
              <a:t>Click to edit Master title style</a:t>
            </a:r>
            <a:endParaRPr lang="en-GB" altLang="x-none"/>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x-none"/>
              <a:t>Click to 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endParaRPr lang="en-GB" altLang="x-non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rgbClr val="063532"/>
                </a:solidFill>
                <a:latin typeface="+mn-lt"/>
              </a:defRPr>
            </a:lvl1pPr>
          </a:lstStyle>
          <a:p>
            <a:pPr>
              <a:defRPr/>
            </a:pPr>
            <a:fld id="{168889EE-97AD-3F4D-BA1D-6B54434E1003}" type="datetimeFigureOut">
              <a:rPr lang="en-GB"/>
              <a:pPr>
                <a:defRPr/>
              </a:pPr>
              <a:t>09/07/2025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rgbClr val="063532"/>
                </a:solidFill>
                <a:latin typeface="+mn-lt"/>
              </a:defRPr>
            </a:lvl1pPr>
          </a:lstStyle>
          <a:p>
            <a:pPr>
              <a:defRPr/>
            </a:pP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rgbClr val="063532"/>
                </a:solidFill>
                <a:latin typeface="+mn-lt"/>
              </a:defRPr>
            </a:lvl1pPr>
          </a:lstStyle>
          <a:p>
            <a:pPr>
              <a:defRPr/>
            </a:pPr>
            <a:fld id="{BE201BCD-EAB9-1249-BACA-AF87BAD15DF3}"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4" r:id="rId3"/>
    <p:sldLayoutId id="2147483665" r:id="rId4"/>
    <p:sldLayoutId id="2147483666" r:id="rId5"/>
    <p:sldLayoutId id="2147483670" r:id="rId6"/>
    <p:sldLayoutId id="2147483671" r:id="rId7"/>
    <p:sldLayoutId id="2147483672" r:id="rId8"/>
  </p:sldLayoutIdLst>
  <p:txStyles>
    <p:titleStyle>
      <a:lvl1pPr algn="l" rtl="0" eaLnBrk="1" fontAlgn="base" hangingPunct="1">
        <a:lnSpc>
          <a:spcPct val="90000"/>
        </a:lnSpc>
        <a:spcBef>
          <a:spcPct val="0"/>
        </a:spcBef>
        <a:spcAft>
          <a:spcPct val="0"/>
        </a:spcAft>
        <a:defRPr sz="4400" kern="1200">
          <a:solidFill>
            <a:srgbClr val="063532"/>
          </a:solidFill>
          <a:latin typeface="+mj-lt"/>
          <a:ea typeface="+mj-ea"/>
          <a:cs typeface="+mj-cs"/>
        </a:defRPr>
      </a:lvl1pPr>
      <a:lvl2pPr algn="l" rtl="0" eaLnBrk="1" fontAlgn="base" hangingPunct="1">
        <a:lnSpc>
          <a:spcPct val="90000"/>
        </a:lnSpc>
        <a:spcBef>
          <a:spcPct val="0"/>
        </a:spcBef>
        <a:spcAft>
          <a:spcPct val="0"/>
        </a:spcAft>
        <a:defRPr sz="4400">
          <a:solidFill>
            <a:srgbClr val="063532"/>
          </a:solidFill>
          <a:latin typeface="Calibri Light" charset="0"/>
        </a:defRPr>
      </a:lvl2pPr>
      <a:lvl3pPr algn="l" rtl="0" eaLnBrk="1" fontAlgn="base" hangingPunct="1">
        <a:lnSpc>
          <a:spcPct val="90000"/>
        </a:lnSpc>
        <a:spcBef>
          <a:spcPct val="0"/>
        </a:spcBef>
        <a:spcAft>
          <a:spcPct val="0"/>
        </a:spcAft>
        <a:defRPr sz="4400">
          <a:solidFill>
            <a:srgbClr val="063532"/>
          </a:solidFill>
          <a:latin typeface="Calibri Light" charset="0"/>
        </a:defRPr>
      </a:lvl3pPr>
      <a:lvl4pPr algn="l" rtl="0" eaLnBrk="1" fontAlgn="base" hangingPunct="1">
        <a:lnSpc>
          <a:spcPct val="90000"/>
        </a:lnSpc>
        <a:spcBef>
          <a:spcPct val="0"/>
        </a:spcBef>
        <a:spcAft>
          <a:spcPct val="0"/>
        </a:spcAft>
        <a:defRPr sz="4400">
          <a:solidFill>
            <a:srgbClr val="063532"/>
          </a:solidFill>
          <a:latin typeface="Calibri Light" charset="0"/>
        </a:defRPr>
      </a:lvl4pPr>
      <a:lvl5pPr algn="l" rtl="0" eaLnBrk="1" fontAlgn="base" hangingPunct="1">
        <a:lnSpc>
          <a:spcPct val="90000"/>
        </a:lnSpc>
        <a:spcBef>
          <a:spcPct val="0"/>
        </a:spcBef>
        <a:spcAft>
          <a:spcPct val="0"/>
        </a:spcAft>
        <a:defRPr sz="4400">
          <a:solidFill>
            <a:srgbClr val="063532"/>
          </a:solidFill>
          <a:latin typeface="Calibri Light" charset="0"/>
        </a:defRPr>
      </a:lvl5pPr>
      <a:lvl6pPr marL="457200" algn="l" rtl="0" eaLnBrk="1" fontAlgn="base" hangingPunct="1">
        <a:lnSpc>
          <a:spcPct val="90000"/>
        </a:lnSpc>
        <a:spcBef>
          <a:spcPct val="0"/>
        </a:spcBef>
        <a:spcAft>
          <a:spcPct val="0"/>
        </a:spcAft>
        <a:defRPr sz="4400">
          <a:solidFill>
            <a:srgbClr val="063532"/>
          </a:solidFill>
          <a:latin typeface="Calibri Light" charset="0"/>
        </a:defRPr>
      </a:lvl6pPr>
      <a:lvl7pPr marL="914400" algn="l" rtl="0" eaLnBrk="1" fontAlgn="base" hangingPunct="1">
        <a:lnSpc>
          <a:spcPct val="90000"/>
        </a:lnSpc>
        <a:spcBef>
          <a:spcPct val="0"/>
        </a:spcBef>
        <a:spcAft>
          <a:spcPct val="0"/>
        </a:spcAft>
        <a:defRPr sz="4400">
          <a:solidFill>
            <a:srgbClr val="063532"/>
          </a:solidFill>
          <a:latin typeface="Calibri Light" charset="0"/>
        </a:defRPr>
      </a:lvl7pPr>
      <a:lvl8pPr marL="1371600" algn="l" rtl="0" eaLnBrk="1" fontAlgn="base" hangingPunct="1">
        <a:lnSpc>
          <a:spcPct val="90000"/>
        </a:lnSpc>
        <a:spcBef>
          <a:spcPct val="0"/>
        </a:spcBef>
        <a:spcAft>
          <a:spcPct val="0"/>
        </a:spcAft>
        <a:defRPr sz="4400">
          <a:solidFill>
            <a:srgbClr val="063532"/>
          </a:solidFill>
          <a:latin typeface="Calibri Light" charset="0"/>
        </a:defRPr>
      </a:lvl8pPr>
      <a:lvl9pPr marL="1828800" algn="l" rtl="0" eaLnBrk="1" fontAlgn="base" hangingPunct="1">
        <a:lnSpc>
          <a:spcPct val="90000"/>
        </a:lnSpc>
        <a:spcBef>
          <a:spcPct val="0"/>
        </a:spcBef>
        <a:spcAft>
          <a:spcPct val="0"/>
        </a:spcAft>
        <a:defRPr sz="4400">
          <a:solidFill>
            <a:srgbClr val="063532"/>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rgbClr val="063532"/>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rgbClr val="063532"/>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rgbClr val="063532"/>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rgbClr val="063532"/>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rgbClr val="0635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www.tripadvisor.com/"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hyperlink" Target="http://www.angieslist.com/" TargetMode="External"/><Relationship Id="rId4" Type="http://schemas.openxmlformats.org/officeDocument/2006/relationships/hyperlink" Target="http://www.yelp.co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1387929" y="1122362"/>
            <a:ext cx="9280071" cy="2906713"/>
          </a:xfrm>
        </p:spPr>
        <p:txBody>
          <a:bodyPr/>
          <a:lstStyle/>
          <a:p>
            <a:pPr>
              <a:defRPr/>
            </a:pPr>
            <a:br>
              <a:rPr lang="en-US"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rPr>
            </a:br>
            <a:br>
              <a:rPr lang="en-US"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rPr>
            </a:br>
            <a:r>
              <a:rPr lang="en-US" sz="3600"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rPr>
              <a:t>STRATEGIC MARKETING </a:t>
            </a:r>
            <a:br>
              <a:rPr lang="en-US" sz="3600"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rPr>
            </a:br>
            <a:endParaRPr lang="en-US" sz="3600" b="1" dirty="0">
              <a:ln w="12700">
                <a:solidFill>
                  <a:schemeClr val="tx2">
                    <a:satMod val="155000"/>
                  </a:schemeClr>
                </a:solidFill>
                <a:prstDash val="solid"/>
              </a:ln>
              <a:solidFill>
                <a:schemeClr val="accent2"/>
              </a:solidFill>
              <a:effectLst>
                <a:outerShdw blurRad="41275" dist="20320" dir="1800000" algn="tl" rotWithShape="0">
                  <a:srgbClr val="000000">
                    <a:alpha val="40000"/>
                  </a:srgbClr>
                </a:outerShdw>
              </a:effectLst>
              <a:ea typeface="ＭＳ Ｐゴシック" charset="0"/>
            </a:endParaRPr>
          </a:p>
        </p:txBody>
      </p:sp>
      <p:sp>
        <p:nvSpPr>
          <p:cNvPr id="4099" name="Subtitle 2"/>
          <p:cNvSpPr>
            <a:spLocks noGrp="1"/>
          </p:cNvSpPr>
          <p:nvPr>
            <p:ph type="subTitle" idx="1"/>
          </p:nvPr>
        </p:nvSpPr>
        <p:spPr>
          <a:xfrm>
            <a:off x="2204356" y="4029076"/>
            <a:ext cx="8463643" cy="2208438"/>
          </a:xfrm>
        </p:spPr>
        <p:txBody>
          <a:bodyPr/>
          <a:lstStyle/>
          <a:p>
            <a:r>
              <a:rPr lang="en-GB" altLang="x-none" sz="4400" dirty="0"/>
              <a:t>Digital and Social Media Marketing</a:t>
            </a:r>
          </a:p>
          <a:p>
            <a:r>
              <a:rPr lang="en-GB" altLang="x-none" sz="4400" dirty="0">
                <a:solidFill>
                  <a:srgbClr val="7030A0"/>
                </a:solidFill>
              </a:rPr>
              <a:t>Prof. Mohammed Rafiq</a:t>
            </a:r>
          </a:p>
          <a:p>
            <a:r>
              <a:rPr lang="en-GB" altLang="x-none" sz="4400" dirty="0">
                <a:solidFill>
                  <a:srgbClr val="7030A0"/>
                </a:solidFill>
              </a:rPr>
              <a:t>Professor of Marketing</a:t>
            </a:r>
          </a:p>
          <a:p>
            <a:endParaRPr lang="en-GB" altLang="x-none"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2207568" y="190270"/>
            <a:ext cx="7772400" cy="1143000"/>
          </a:xfrm>
          <a:noFill/>
          <a:ln w="9525">
            <a:noFill/>
            <a:miter lim="800000"/>
            <a:headEnd/>
            <a:tailEnd/>
          </a:ln>
        </p:spPr>
        <p:txBody>
          <a:bodyPr vert="horz" wrap="square" lIns="91440" tIns="45720" rIns="91440" bIns="45720" numCol="1" anchor="t" anchorCtr="0" compatLnSpc="1">
            <a:prstTxWarp prst="textNoShape">
              <a:avLst/>
            </a:prstTxWarp>
            <a:noAutofit/>
          </a:bodyPr>
          <a:lstStyle/>
          <a:p>
            <a:r>
              <a:rPr lang="en-IN" sz="3600" b="1" dirty="0">
                <a:solidFill>
                  <a:srgbClr val="007FA3"/>
                </a:solidFill>
                <a:latin typeface="Arial" pitchFamily="34" charset="0"/>
                <a:cs typeface="Arial" pitchFamily="34" charset="0"/>
              </a:rPr>
              <a:t>Online, Social Media and</a:t>
            </a:r>
            <a:br>
              <a:rPr lang="en-IN" sz="3600" b="1" dirty="0">
                <a:solidFill>
                  <a:srgbClr val="007FA3"/>
                </a:solidFill>
                <a:latin typeface="Arial" pitchFamily="34" charset="0"/>
                <a:cs typeface="Arial" pitchFamily="34" charset="0"/>
              </a:rPr>
            </a:br>
            <a:r>
              <a:rPr lang="en-IN" sz="3600" b="1" dirty="0">
                <a:solidFill>
                  <a:srgbClr val="007FA3"/>
                </a:solidFill>
                <a:latin typeface="Arial" pitchFamily="34" charset="0"/>
                <a:cs typeface="Arial" pitchFamily="34" charset="0"/>
              </a:rPr>
              <a:t>Mobile Marketing</a:t>
            </a:r>
            <a:endParaRPr lang="en-US" sz="3600" b="1" dirty="0">
              <a:solidFill>
                <a:srgbClr val="007FA3"/>
              </a:solidFill>
              <a:latin typeface="Arial" pitchFamily="34" charset="0"/>
              <a:cs typeface="Arial" pitchFamily="34" charset="0"/>
            </a:endParaRPr>
          </a:p>
        </p:txBody>
      </p:sp>
      <p:sp>
        <p:nvSpPr>
          <p:cNvPr id="17410" name="Rectangle 3"/>
          <p:cNvSpPr>
            <a:spLocks noGrp="1" noChangeArrowheads="1"/>
          </p:cNvSpPr>
          <p:nvPr>
            <p:ph idx="1"/>
          </p:nvPr>
        </p:nvSpPr>
        <p:spPr>
          <a:xfrm>
            <a:off x="2382975" y="2119872"/>
            <a:ext cx="7772400" cy="4114800"/>
          </a:xfrm>
        </p:spPr>
        <p:txBody>
          <a:bodyPr>
            <a:normAutofit/>
          </a:bodyPr>
          <a:lstStyle/>
          <a:p>
            <a:pPr>
              <a:lnSpc>
                <a:spcPct val="90000"/>
              </a:lnSpc>
            </a:pPr>
            <a:r>
              <a:rPr lang="en-IN" sz="3200" dirty="0"/>
              <a:t>Digital and social media marketing</a:t>
            </a:r>
          </a:p>
          <a:p>
            <a:pPr>
              <a:lnSpc>
                <a:spcPct val="90000"/>
              </a:lnSpc>
            </a:pPr>
            <a:r>
              <a:rPr lang="en-IN" sz="3200" dirty="0"/>
              <a:t>Marketing, the Internet and the digital age</a:t>
            </a:r>
          </a:p>
          <a:p>
            <a:pPr>
              <a:lnSpc>
                <a:spcPct val="90000"/>
              </a:lnSpc>
            </a:pPr>
            <a:r>
              <a:rPr lang="en-IN" sz="3200" dirty="0"/>
              <a:t>Online marketing</a:t>
            </a:r>
          </a:p>
          <a:p>
            <a:pPr>
              <a:defRPr/>
            </a:pPr>
            <a:r>
              <a:rPr lang="en-IN" sz="3200" dirty="0"/>
              <a:t>The new direct marketing model</a:t>
            </a:r>
          </a:p>
          <a:p>
            <a:pPr>
              <a:defRPr/>
            </a:pPr>
            <a:r>
              <a:rPr lang="en-IN" sz="3200" dirty="0"/>
              <a:t>Rapid growth of direct and digital marketing</a:t>
            </a:r>
          </a:p>
          <a:p>
            <a:pPr>
              <a:defRPr/>
            </a:pPr>
            <a:r>
              <a:rPr lang="en-IN" sz="3200" dirty="0"/>
              <a:t>Benefits of direct and digital marketing to buyers and sellers.</a:t>
            </a:r>
            <a:endParaRPr lang="en-US" sz="3200" dirty="0"/>
          </a:p>
          <a:p>
            <a:pPr>
              <a:lnSpc>
                <a:spcPct val="90000"/>
              </a:lnSpc>
            </a:pPr>
            <a:endParaRPr lang="en-IN" dirty="0"/>
          </a:p>
        </p:txBody>
      </p:sp>
      <p:sp>
        <p:nvSpPr>
          <p:cNvPr id="5" name="Text Placeholder 8"/>
          <p:cNvSpPr>
            <a:spLocks noGrp="1"/>
          </p:cNvSpPr>
          <p:nvPr>
            <p:ph type="body" sz="quarter" idx="13"/>
          </p:nvPr>
        </p:nvSpPr>
        <p:spPr>
          <a:xfrm>
            <a:off x="2512368" y="1462277"/>
            <a:ext cx="7162800" cy="381000"/>
          </a:xfrm>
        </p:spPr>
        <p:txBody>
          <a:bodyPr>
            <a:noAutofit/>
          </a:bodyPr>
          <a:lstStyle/>
          <a:p>
            <a:r>
              <a:rPr lang="en-US" dirty="0">
                <a:solidFill>
                  <a:srgbClr val="007FA3"/>
                </a:solidFill>
                <a:latin typeface="Arial" pitchFamily="34" charset="0"/>
                <a:cs typeface="Arial" pitchFamily="34" charset="0"/>
              </a:rPr>
              <a:t>Topic outline</a:t>
            </a:r>
          </a:p>
        </p:txBody>
      </p:sp>
    </p:spTree>
    <p:extLst>
      <p:ext uri="{BB962C8B-B14F-4D97-AF65-F5344CB8AC3E}">
        <p14:creationId xmlns:p14="http://schemas.microsoft.com/office/powerpoint/2010/main" val="119740544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231010"/>
            <a:ext cx="8229600" cy="1143000"/>
          </a:xfrm>
        </p:spPr>
        <p:txBody>
          <a:bodyPr>
            <a:normAutofit fontScale="90000"/>
          </a:bodyPr>
          <a:lstStyle/>
          <a:p>
            <a:r>
              <a:rPr lang="en-IN" b="1" dirty="0">
                <a:solidFill>
                  <a:srgbClr val="007FA3"/>
                </a:solidFill>
                <a:latin typeface="Arial" pitchFamily="34" charset="0"/>
                <a:cs typeface="Arial" pitchFamily="34" charset="0"/>
              </a:rPr>
              <a:t>Forms of direct and digital marketing</a:t>
            </a:r>
            <a:endParaRPr lang="en-IN" b="1" dirty="0">
              <a:latin typeface="Arial" pitchFamily="34" charset="0"/>
              <a:cs typeface="Arial" pitchFamily="34" charset="0"/>
            </a:endParaRPr>
          </a:p>
        </p:txBody>
      </p:sp>
      <p:pic>
        <p:nvPicPr>
          <p:cNvPr id="1026" name="Picture 2" descr="G:\08VOL4\Graphics\Powerpoint\PE_UK\PE526-KOTLER_7e\Final files\GIF\ch17\M17NF001.gif"/>
          <p:cNvPicPr>
            <a:picLocks noChangeAspect="1" noChangeArrowheads="1"/>
          </p:cNvPicPr>
          <p:nvPr/>
        </p:nvPicPr>
        <p:blipFill>
          <a:blip r:embed="rId3" cstate="print"/>
          <a:srcRect/>
          <a:stretch>
            <a:fillRect/>
          </a:stretch>
        </p:blipFill>
        <p:spPr bwMode="auto">
          <a:xfrm>
            <a:off x="651850" y="1593410"/>
            <a:ext cx="11434527" cy="4771175"/>
          </a:xfrm>
          <a:prstGeom prst="rect">
            <a:avLst/>
          </a:prstGeom>
          <a:noFill/>
        </p:spPr>
      </p:pic>
    </p:spTree>
    <p:extLst>
      <p:ext uri="{BB962C8B-B14F-4D97-AF65-F5344CB8AC3E}">
        <p14:creationId xmlns:p14="http://schemas.microsoft.com/office/powerpoint/2010/main" val="451792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81200" y="134076"/>
            <a:ext cx="8229600" cy="753143"/>
          </a:xfrm>
        </p:spPr>
        <p:txBody>
          <a:bodyPr>
            <a:normAutofit/>
          </a:bodyPr>
          <a:lstStyle/>
          <a:p>
            <a:r>
              <a:rPr lang="en-US" sz="3600" b="1" dirty="0">
                <a:solidFill>
                  <a:srgbClr val="007FA3"/>
                </a:solidFill>
                <a:latin typeface="Arial" pitchFamily="34" charset="0"/>
                <a:cs typeface="Arial" pitchFamily="34" charset="0"/>
              </a:rPr>
              <a:t>Digital and social media marketing</a:t>
            </a:r>
            <a:endParaRPr lang="en-IN" sz="3600" b="1" dirty="0">
              <a:latin typeface="Arial" pitchFamily="34" charset="0"/>
              <a:cs typeface="Arial" pitchFamily="34" charset="0"/>
            </a:endParaRPr>
          </a:p>
        </p:txBody>
      </p:sp>
      <p:sp>
        <p:nvSpPr>
          <p:cNvPr id="5" name="Content Placeholder 4"/>
          <p:cNvSpPr>
            <a:spLocks noGrp="1"/>
          </p:cNvSpPr>
          <p:nvPr>
            <p:ph idx="1"/>
          </p:nvPr>
        </p:nvSpPr>
        <p:spPr>
          <a:xfrm>
            <a:off x="2381699" y="1467032"/>
            <a:ext cx="7737419" cy="4525963"/>
          </a:xfrm>
        </p:spPr>
        <p:txBody>
          <a:bodyPr>
            <a:normAutofit/>
          </a:bodyPr>
          <a:lstStyle/>
          <a:p>
            <a:r>
              <a:rPr lang="en-IN" sz="3600" b="1" dirty="0"/>
              <a:t>Digital and social media marketing </a:t>
            </a:r>
            <a:r>
              <a:rPr lang="en-IN" sz="3600" dirty="0"/>
              <a:t>- Using digital marketing tools such as websites, social media, mobile apps and ads, online video, e-mail and blogs that engage consumers anywhere, anytime via their digital devices.</a:t>
            </a:r>
          </a:p>
        </p:txBody>
      </p:sp>
    </p:spTree>
    <p:extLst>
      <p:ext uri="{BB962C8B-B14F-4D97-AF65-F5344CB8AC3E}">
        <p14:creationId xmlns:p14="http://schemas.microsoft.com/office/powerpoint/2010/main" val="490298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noChangeArrowheads="1"/>
          </p:cNvSpPr>
          <p:nvPr>
            <p:ph type="title"/>
          </p:nvPr>
        </p:nvSpPr>
        <p:spPr>
          <a:xfrm>
            <a:off x="750614" y="903421"/>
            <a:ext cx="6485595" cy="469363"/>
          </a:xfrm>
        </p:spPr>
        <p:txBody>
          <a:bodyPr>
            <a:noAutofit/>
          </a:bodyPr>
          <a:lstStyle/>
          <a:p>
            <a:r>
              <a:rPr lang="en-US" sz="3600" b="1" dirty="0">
                <a:solidFill>
                  <a:srgbClr val="007FA3"/>
                </a:solidFill>
              </a:rPr>
              <a:t>Direct and Digital Marketing</a:t>
            </a:r>
          </a:p>
        </p:txBody>
      </p:sp>
      <p:sp>
        <p:nvSpPr>
          <p:cNvPr id="24578" name="Title 2"/>
          <p:cNvSpPr>
            <a:spLocks noGrp="1"/>
          </p:cNvSpPr>
          <p:nvPr>
            <p:ph idx="1"/>
          </p:nvPr>
        </p:nvSpPr>
        <p:spPr>
          <a:xfrm>
            <a:off x="750614" y="1638464"/>
            <a:ext cx="6129872" cy="491757"/>
          </a:xfrm>
        </p:spPr>
        <p:txBody>
          <a:bodyPr>
            <a:noAutofit/>
          </a:bodyPr>
          <a:lstStyle/>
          <a:p>
            <a:pPr marL="0" indent="0" eaLnBrk="1" hangingPunct="1">
              <a:lnSpc>
                <a:spcPct val="80000"/>
              </a:lnSpc>
              <a:buNone/>
            </a:pPr>
            <a:r>
              <a:rPr lang="en-US" sz="3000" b="1" dirty="0"/>
              <a:t>The New Direct Marketing Model</a:t>
            </a:r>
            <a:endParaRPr lang="en-US" sz="3000" dirty="0"/>
          </a:p>
          <a:p>
            <a:pPr marL="0" indent="0" eaLnBrk="1" hangingPunct="1">
              <a:lnSpc>
                <a:spcPct val="80000"/>
              </a:lnSpc>
              <a:buNone/>
            </a:pPr>
            <a:endParaRPr lang="en-US" sz="2500" dirty="0"/>
          </a:p>
        </p:txBody>
      </p:sp>
      <p:sp>
        <p:nvSpPr>
          <p:cNvPr id="2" name="Content Placeholder 1"/>
          <p:cNvSpPr>
            <a:spLocks noGrp="1"/>
          </p:cNvSpPr>
          <p:nvPr>
            <p:ph type="body" sz="quarter" idx="13"/>
          </p:nvPr>
        </p:nvSpPr>
        <p:spPr>
          <a:xfrm>
            <a:off x="780594" y="2395902"/>
            <a:ext cx="6236327" cy="2777067"/>
          </a:xfrm>
        </p:spPr>
        <p:txBody>
          <a:bodyPr>
            <a:noAutofit/>
          </a:bodyPr>
          <a:lstStyle/>
          <a:p>
            <a:pPr marL="0" indent="0" algn="l"/>
            <a:r>
              <a:rPr lang="en-US" sz="2400" i="0" dirty="0">
                <a:solidFill>
                  <a:srgbClr val="000000"/>
                </a:solidFill>
              </a:rPr>
              <a:t>For many companies today, direct and digital marketing constitute a complete model for doing business.</a:t>
            </a:r>
          </a:p>
        </p:txBody>
      </p:sp>
      <p:pic>
        <p:nvPicPr>
          <p:cNvPr id="1026" name="Picture 1" descr="Image shows the screenshot of Priceline.com's homepage.&#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0964" y="968648"/>
            <a:ext cx="4083515" cy="4416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675355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3"/>
          <p:cNvSpPr>
            <a:spLocks noGrp="1" noChangeArrowheads="1"/>
          </p:cNvSpPr>
          <p:nvPr>
            <p:ph idx="1"/>
          </p:nvPr>
        </p:nvSpPr>
        <p:spPr>
          <a:xfrm>
            <a:off x="228600" y="2208756"/>
            <a:ext cx="5182644" cy="3468144"/>
          </a:xfrm>
        </p:spPr>
        <p:txBody>
          <a:bodyPr/>
          <a:lstStyle/>
          <a:p>
            <a:pPr marL="463550" indent="-463550">
              <a:buNone/>
            </a:pPr>
            <a:r>
              <a:rPr lang="en-US" sz="3200" dirty="0"/>
              <a:t>Multichannel marketing involves marketing both through stores and other traditional offline channels and through digital, online, social media, and mobile  channels.</a:t>
            </a:r>
            <a:endParaRPr lang="en-US" sz="3000" dirty="0">
              <a:latin typeface="Calibri" pitchFamily="-65" charset="0"/>
            </a:endParaRPr>
          </a:p>
        </p:txBody>
      </p:sp>
      <p:sp>
        <p:nvSpPr>
          <p:cNvPr id="43013" name="Text Placeholder 14"/>
          <p:cNvSpPr>
            <a:spLocks noGrp="1"/>
          </p:cNvSpPr>
          <p:nvPr>
            <p:ph type="body" sz="quarter" idx="13"/>
          </p:nvPr>
        </p:nvSpPr>
        <p:spPr>
          <a:xfrm>
            <a:off x="1320799" y="1199466"/>
            <a:ext cx="9550400" cy="381000"/>
          </a:xfrm>
        </p:spPr>
        <p:txBody>
          <a:bodyPr>
            <a:noAutofit/>
          </a:bodyPr>
          <a:lstStyle/>
          <a:p>
            <a:r>
              <a:rPr lang="en-US" sz="3200" dirty="0">
                <a:solidFill>
                  <a:schemeClr val="accent2"/>
                </a:solidFill>
                <a:latin typeface="Calibri" pitchFamily="-65" charset="0"/>
              </a:rPr>
              <a:t>Marketing, the Internet, and the Digital Age</a:t>
            </a:r>
          </a:p>
          <a:p>
            <a:endParaRPr lang="en-US" dirty="0">
              <a:latin typeface="Calibri" pitchFamily="-65" charset="0"/>
            </a:endParaRPr>
          </a:p>
        </p:txBody>
      </p:sp>
      <p:sp>
        <p:nvSpPr>
          <p:cNvPr id="7" name="TextBox 6"/>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8" name="TextBox 7"/>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17-16</a:t>
            </a:r>
          </a:p>
        </p:txBody>
      </p:sp>
      <p:sp>
        <p:nvSpPr>
          <p:cNvPr id="3" name="TextBox 2"/>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pic>
        <p:nvPicPr>
          <p:cNvPr id="9" name="Picture 8" descr="staples a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86425" y="2340299"/>
            <a:ext cx="5763895" cy="3582981"/>
          </a:xfrm>
          <a:prstGeom prst="rect">
            <a:avLst/>
          </a:prstGeom>
        </p:spPr>
      </p:pic>
    </p:spTree>
    <p:extLst>
      <p:ext uri="{BB962C8B-B14F-4D97-AF65-F5344CB8AC3E}">
        <p14:creationId xmlns:p14="http://schemas.microsoft.com/office/powerpoint/2010/main" val="188946476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03337" y="1757915"/>
            <a:ext cx="10985325" cy="4267200"/>
          </a:xfrm>
        </p:spPr>
        <p:txBody>
          <a:bodyPr>
            <a:normAutofit/>
          </a:bodyPr>
          <a:lstStyle/>
          <a:p>
            <a:endParaRPr lang="en-US" dirty="0">
              <a:latin typeface="Calibri" pitchFamily="-65" charset="0"/>
            </a:endParaRPr>
          </a:p>
          <a:p>
            <a:pPr marL="457200" indent="-457200">
              <a:buNone/>
            </a:pPr>
            <a:r>
              <a:rPr lang="en-US" b="1" dirty="0"/>
              <a:t>Online marketing </a:t>
            </a:r>
            <a:r>
              <a:rPr lang="en-US" dirty="0"/>
              <a:t>is marketing via the Internet using company Web sites, online ads and promotions, e-mail, online video, and blogs.</a:t>
            </a:r>
          </a:p>
          <a:p>
            <a:pPr marL="0" indent="0">
              <a:buNone/>
            </a:pPr>
            <a:endParaRPr lang="en-US" dirty="0"/>
          </a:p>
          <a:p>
            <a:pPr marL="457200" indent="-457200">
              <a:buNone/>
            </a:pPr>
            <a:r>
              <a:rPr lang="en-US" b="1" dirty="0"/>
              <a:t>Marketing Web sites </a:t>
            </a:r>
            <a:r>
              <a:rPr lang="en-US" dirty="0"/>
              <a:t>engage consumers to move them closer to a direct purchase or other marketing outcome.</a:t>
            </a:r>
          </a:p>
          <a:p>
            <a:pPr marL="0" indent="0">
              <a:buNone/>
            </a:pPr>
            <a:endParaRPr lang="en-US" dirty="0"/>
          </a:p>
          <a:p>
            <a:pPr marL="457200" indent="-457200">
              <a:buNone/>
            </a:pPr>
            <a:r>
              <a:rPr lang="en-US" b="1" dirty="0"/>
              <a:t>Branded community Web sites </a:t>
            </a:r>
            <a:r>
              <a:rPr lang="en-US" dirty="0"/>
              <a:t>present brand content that engages consumers and creates customer community around a brand.</a:t>
            </a:r>
            <a:endParaRPr lang="en-US" dirty="0">
              <a:latin typeface="Calibri" pitchFamily="-65" charset="0"/>
            </a:endParaRPr>
          </a:p>
        </p:txBody>
      </p:sp>
      <p:sp>
        <p:nvSpPr>
          <p:cNvPr id="47108" name="Text Placeholder 14"/>
          <p:cNvSpPr>
            <a:spLocks noGrp="1"/>
          </p:cNvSpPr>
          <p:nvPr>
            <p:ph type="body" sz="quarter" idx="13"/>
          </p:nvPr>
        </p:nvSpPr>
        <p:spPr>
          <a:xfrm>
            <a:off x="1229832" y="1167808"/>
            <a:ext cx="9550400" cy="508591"/>
          </a:xfrm>
        </p:spPr>
        <p:txBody>
          <a:bodyPr>
            <a:normAutofit lnSpcReduction="10000"/>
          </a:bodyPr>
          <a:lstStyle/>
          <a:p>
            <a:r>
              <a:rPr lang="en-US" sz="3200" dirty="0">
                <a:solidFill>
                  <a:schemeClr val="accent2"/>
                </a:solidFill>
                <a:latin typeface="Calibri" pitchFamily="-65" charset="0"/>
              </a:rPr>
              <a:t>Online Marketing </a:t>
            </a:r>
          </a:p>
          <a:p>
            <a:endParaRPr lang="en-US" dirty="0">
              <a:latin typeface="Calibri" pitchFamily="-65" charset="0"/>
            </a:endParaRPr>
          </a:p>
        </p:txBody>
      </p:sp>
      <p:sp>
        <p:nvSpPr>
          <p:cNvPr id="6" name="TextBox 5"/>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7" name="TextBox 6"/>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17-17</a:t>
            </a:r>
          </a:p>
        </p:txBody>
      </p:sp>
      <p:sp>
        <p:nvSpPr>
          <p:cNvPr id="8" name="TextBox 7"/>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spTree>
    <p:extLst>
      <p:ext uri="{BB962C8B-B14F-4D97-AF65-F5344CB8AC3E}">
        <p14:creationId xmlns:p14="http://schemas.microsoft.com/office/powerpoint/2010/main" val="111098553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03337" y="1757915"/>
            <a:ext cx="10985325" cy="4267200"/>
          </a:xfrm>
        </p:spPr>
        <p:txBody>
          <a:bodyPr>
            <a:normAutofit lnSpcReduction="10000"/>
          </a:bodyPr>
          <a:lstStyle/>
          <a:p>
            <a:pPr marL="465138" indent="-465138">
              <a:buNone/>
            </a:pPr>
            <a:r>
              <a:rPr lang="en-US" sz="3200" b="1" dirty="0"/>
              <a:t>Online</a:t>
            </a:r>
            <a:r>
              <a:rPr lang="en-US" sz="3200" dirty="0"/>
              <a:t> </a:t>
            </a:r>
            <a:r>
              <a:rPr lang="en-US" sz="3200" b="1" dirty="0"/>
              <a:t>advertising</a:t>
            </a:r>
            <a:r>
              <a:rPr lang="en-US" sz="3200" dirty="0"/>
              <a:t> is advertising that appears while consumers are browsing online and includes display ads, search-related ads, online classifieds, and other forms.</a:t>
            </a:r>
          </a:p>
          <a:p>
            <a:pPr marL="0" indent="0">
              <a:buNone/>
            </a:pPr>
            <a:endParaRPr lang="en-US" sz="3200" dirty="0"/>
          </a:p>
          <a:p>
            <a:pPr marL="465138" indent="-465138">
              <a:buNone/>
            </a:pPr>
            <a:r>
              <a:rPr lang="en-US" sz="3200" b="1" dirty="0"/>
              <a:t>E-mail marketing </a:t>
            </a:r>
            <a:r>
              <a:rPr lang="en-US" sz="3200" dirty="0"/>
              <a:t>involves sending highly targeted, highly personalized, relationship-building marketing messages via e-mail.</a:t>
            </a:r>
          </a:p>
          <a:p>
            <a:pPr marL="0" indent="0">
              <a:buNone/>
            </a:pPr>
            <a:endParaRPr lang="en-US" sz="3200" dirty="0"/>
          </a:p>
          <a:p>
            <a:pPr marL="0" indent="0">
              <a:buNone/>
            </a:pPr>
            <a:r>
              <a:rPr lang="en-US" sz="3200" b="1" dirty="0"/>
              <a:t>Spam </a:t>
            </a:r>
            <a:r>
              <a:rPr lang="en-US" sz="3200" dirty="0"/>
              <a:t>is unsolicited, unwanted commercial e-mail messages.</a:t>
            </a:r>
          </a:p>
          <a:p>
            <a:pPr marL="457200" indent="-457200">
              <a:buNone/>
            </a:pPr>
            <a:endParaRPr lang="en-US" dirty="0">
              <a:latin typeface="Calibri" pitchFamily="-65" charset="0"/>
            </a:endParaRPr>
          </a:p>
        </p:txBody>
      </p:sp>
      <p:sp>
        <p:nvSpPr>
          <p:cNvPr id="47108" name="Text Placeholder 14"/>
          <p:cNvSpPr>
            <a:spLocks noGrp="1"/>
          </p:cNvSpPr>
          <p:nvPr>
            <p:ph type="body" sz="quarter" idx="13"/>
          </p:nvPr>
        </p:nvSpPr>
        <p:spPr>
          <a:xfrm>
            <a:off x="1229832" y="1167808"/>
            <a:ext cx="9550400" cy="508591"/>
          </a:xfrm>
        </p:spPr>
        <p:txBody>
          <a:bodyPr>
            <a:normAutofit lnSpcReduction="10000"/>
          </a:bodyPr>
          <a:lstStyle/>
          <a:p>
            <a:r>
              <a:rPr lang="en-US" sz="3200" dirty="0">
                <a:solidFill>
                  <a:schemeClr val="accent2"/>
                </a:solidFill>
                <a:latin typeface="Calibri" pitchFamily="-65" charset="0"/>
              </a:rPr>
              <a:t>Online Marketing </a:t>
            </a:r>
          </a:p>
          <a:p>
            <a:endParaRPr lang="en-US" dirty="0">
              <a:latin typeface="Calibri" pitchFamily="-65" charset="0"/>
            </a:endParaRPr>
          </a:p>
        </p:txBody>
      </p:sp>
      <p:sp>
        <p:nvSpPr>
          <p:cNvPr id="6" name="TextBox 5"/>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7" name="TextBox 6"/>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17-18</a:t>
            </a:r>
          </a:p>
        </p:txBody>
      </p:sp>
      <p:sp>
        <p:nvSpPr>
          <p:cNvPr id="8" name="TextBox 7"/>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spTree>
    <p:extLst>
      <p:ext uri="{BB962C8B-B14F-4D97-AF65-F5344CB8AC3E}">
        <p14:creationId xmlns:p14="http://schemas.microsoft.com/office/powerpoint/2010/main" val="20548924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03336" y="1943099"/>
            <a:ext cx="10985325" cy="4267200"/>
          </a:xfrm>
        </p:spPr>
        <p:txBody>
          <a:bodyPr>
            <a:normAutofit/>
          </a:bodyPr>
          <a:lstStyle/>
          <a:p>
            <a:pPr marL="404813" indent="-404813">
              <a:buNone/>
            </a:pPr>
            <a:r>
              <a:rPr lang="en-US" sz="3200" b="1" dirty="0"/>
              <a:t>Viral marketing </a:t>
            </a:r>
            <a:r>
              <a:rPr lang="en-US" sz="3200" dirty="0"/>
              <a:t>is the digital version of word-of-mouth marketing: videos, ads, and other marketing content that is so infectious that customers will seek it out or pass it along to friends.</a:t>
            </a:r>
          </a:p>
          <a:p>
            <a:pPr marL="0" indent="0">
              <a:buNone/>
            </a:pPr>
            <a:endParaRPr lang="en-US" sz="3200" b="1" dirty="0"/>
          </a:p>
          <a:p>
            <a:pPr marL="404813" indent="-404813">
              <a:buNone/>
            </a:pPr>
            <a:r>
              <a:rPr lang="en-US" sz="3200" b="1" dirty="0"/>
              <a:t>Online</a:t>
            </a:r>
            <a:r>
              <a:rPr lang="en-US" sz="3200" dirty="0"/>
              <a:t> </a:t>
            </a:r>
            <a:r>
              <a:rPr lang="en-US" sz="3200" b="1" dirty="0"/>
              <a:t>video </a:t>
            </a:r>
            <a:r>
              <a:rPr lang="en-US" sz="3200" dirty="0"/>
              <a:t>marketing involves posting digital video content on brand Web sites or social media sites such as YouTube, Facebook, and others.</a:t>
            </a:r>
          </a:p>
          <a:p>
            <a:pPr marL="404813" indent="-404813">
              <a:buNone/>
            </a:pPr>
            <a:endParaRPr lang="en-US" sz="3200" dirty="0"/>
          </a:p>
          <a:p>
            <a:pPr marL="457200" indent="-457200">
              <a:buNone/>
            </a:pPr>
            <a:endParaRPr lang="en-US" dirty="0">
              <a:latin typeface="Calibri" pitchFamily="-65" charset="0"/>
            </a:endParaRPr>
          </a:p>
        </p:txBody>
      </p:sp>
      <p:sp>
        <p:nvSpPr>
          <p:cNvPr id="47108" name="Text Placeholder 14"/>
          <p:cNvSpPr>
            <a:spLocks noGrp="1"/>
          </p:cNvSpPr>
          <p:nvPr>
            <p:ph type="body" sz="quarter" idx="13"/>
          </p:nvPr>
        </p:nvSpPr>
        <p:spPr>
          <a:xfrm>
            <a:off x="1229832" y="1167808"/>
            <a:ext cx="9550400" cy="508591"/>
          </a:xfrm>
        </p:spPr>
        <p:txBody>
          <a:bodyPr>
            <a:normAutofit lnSpcReduction="10000"/>
          </a:bodyPr>
          <a:lstStyle/>
          <a:p>
            <a:r>
              <a:rPr lang="en-US" sz="3200" dirty="0">
                <a:solidFill>
                  <a:schemeClr val="accent2"/>
                </a:solidFill>
                <a:latin typeface="Calibri" pitchFamily="-65" charset="0"/>
              </a:rPr>
              <a:t>Online Marketing </a:t>
            </a:r>
          </a:p>
          <a:p>
            <a:endParaRPr lang="en-US" dirty="0">
              <a:latin typeface="Calibri" pitchFamily="-65" charset="0"/>
            </a:endParaRPr>
          </a:p>
        </p:txBody>
      </p:sp>
      <p:sp>
        <p:nvSpPr>
          <p:cNvPr id="6" name="TextBox 5"/>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7" name="TextBox 6"/>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17-19</a:t>
            </a:r>
          </a:p>
        </p:txBody>
      </p:sp>
      <p:sp>
        <p:nvSpPr>
          <p:cNvPr id="8" name="TextBox 7"/>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spTree>
    <p:extLst>
      <p:ext uri="{BB962C8B-B14F-4D97-AF65-F5344CB8AC3E}">
        <p14:creationId xmlns:p14="http://schemas.microsoft.com/office/powerpoint/2010/main" val="3667640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03336" y="1943099"/>
            <a:ext cx="10985325" cy="3637868"/>
          </a:xfrm>
        </p:spPr>
        <p:txBody>
          <a:bodyPr>
            <a:normAutofit/>
          </a:bodyPr>
          <a:lstStyle/>
          <a:p>
            <a:pPr marL="457200" indent="-457200">
              <a:buNone/>
            </a:pPr>
            <a:r>
              <a:rPr lang="en-US" sz="3200" b="1" dirty="0"/>
              <a:t>Blogs</a:t>
            </a:r>
            <a:r>
              <a:rPr lang="en-US" sz="3200" dirty="0"/>
              <a:t> are</a:t>
            </a:r>
            <a:r>
              <a:rPr lang="en-US" sz="3200" b="1" dirty="0"/>
              <a:t> </a:t>
            </a:r>
            <a:r>
              <a:rPr lang="en-US" sz="3200" dirty="0"/>
              <a:t>online journals where people and companies post their thoughts and other content, usually related to narrowly defined topics.</a:t>
            </a:r>
          </a:p>
          <a:p>
            <a:pPr marL="457200" indent="-457200">
              <a:buNone/>
            </a:pPr>
            <a:endParaRPr lang="en-US" sz="3200" dirty="0"/>
          </a:p>
          <a:p>
            <a:pPr marL="465138" indent="-465138">
              <a:buNone/>
            </a:pPr>
            <a:r>
              <a:rPr lang="en-US" sz="3200" b="1" dirty="0"/>
              <a:t>Social media </a:t>
            </a:r>
            <a:r>
              <a:rPr lang="en-US" sz="3200" dirty="0"/>
              <a:t>are independent and commercial online communities where people congregate, socialize, and exchange views and information.</a:t>
            </a:r>
          </a:p>
          <a:p>
            <a:pPr marL="457200" indent="-457200">
              <a:buNone/>
            </a:pPr>
            <a:endParaRPr lang="en-US" sz="3200" dirty="0"/>
          </a:p>
          <a:p>
            <a:pPr marL="457200" indent="-457200">
              <a:buNone/>
            </a:pPr>
            <a:endParaRPr lang="en-US" sz="3200" dirty="0">
              <a:latin typeface="Calibri" pitchFamily="-65" charset="0"/>
            </a:endParaRPr>
          </a:p>
        </p:txBody>
      </p:sp>
      <p:sp>
        <p:nvSpPr>
          <p:cNvPr id="47108" name="Text Placeholder 14"/>
          <p:cNvSpPr>
            <a:spLocks noGrp="1"/>
          </p:cNvSpPr>
          <p:nvPr>
            <p:ph type="body" sz="quarter" idx="13"/>
          </p:nvPr>
        </p:nvSpPr>
        <p:spPr>
          <a:xfrm>
            <a:off x="1229832" y="1167808"/>
            <a:ext cx="9550400" cy="508591"/>
          </a:xfrm>
        </p:spPr>
        <p:txBody>
          <a:bodyPr>
            <a:normAutofit lnSpcReduction="10000"/>
          </a:bodyPr>
          <a:lstStyle/>
          <a:p>
            <a:r>
              <a:rPr lang="en-US" sz="3200" dirty="0">
                <a:solidFill>
                  <a:schemeClr val="accent2"/>
                </a:solidFill>
                <a:latin typeface="Calibri" pitchFamily="-65" charset="0"/>
              </a:rPr>
              <a:t>Online Marketing </a:t>
            </a:r>
          </a:p>
          <a:p>
            <a:endParaRPr lang="en-US" dirty="0">
              <a:latin typeface="Calibri" pitchFamily="-65" charset="0"/>
            </a:endParaRPr>
          </a:p>
        </p:txBody>
      </p:sp>
      <p:sp>
        <p:nvSpPr>
          <p:cNvPr id="6" name="TextBox 5"/>
          <p:cNvSpPr txBox="1"/>
          <p:nvPr/>
        </p:nvSpPr>
        <p:spPr>
          <a:xfrm>
            <a:off x="4161693" y="6477001"/>
            <a:ext cx="3868615" cy="276999"/>
          </a:xfrm>
          <a:prstGeom prst="rect">
            <a:avLst/>
          </a:prstGeom>
          <a:noFill/>
        </p:spPr>
        <p:txBody>
          <a:bodyPr wrap="square" rtlCol="0">
            <a:spAutoFit/>
          </a:bodyPr>
          <a:lstStyle/>
          <a:p>
            <a:pPr algn="ctr"/>
            <a:r>
              <a:rPr lang="en-US" sz="1200" dirty="0">
                <a:solidFill>
                  <a:prstClr val="black"/>
                </a:solidFill>
                <a:latin typeface="Calibri" panose="020F0502020204030204"/>
              </a:rPr>
              <a:t>Copyright © 2016 Pearson Education, Inc.</a:t>
            </a:r>
          </a:p>
        </p:txBody>
      </p:sp>
      <p:sp>
        <p:nvSpPr>
          <p:cNvPr id="7" name="TextBox 6"/>
          <p:cNvSpPr txBox="1"/>
          <p:nvPr/>
        </p:nvSpPr>
        <p:spPr>
          <a:xfrm>
            <a:off x="11298342" y="6477001"/>
            <a:ext cx="875714" cy="276999"/>
          </a:xfrm>
          <a:prstGeom prst="rect">
            <a:avLst/>
          </a:prstGeom>
          <a:noFill/>
        </p:spPr>
        <p:txBody>
          <a:bodyPr wrap="square" rtlCol="0">
            <a:spAutoFit/>
          </a:bodyPr>
          <a:lstStyle/>
          <a:p>
            <a:pPr algn="r"/>
            <a:r>
              <a:rPr lang="en-US" sz="1200" dirty="0">
                <a:solidFill>
                  <a:prstClr val="black"/>
                </a:solidFill>
                <a:latin typeface="Calibri" panose="020F0502020204030204"/>
              </a:rPr>
              <a:t>17-20</a:t>
            </a:r>
          </a:p>
        </p:txBody>
      </p:sp>
      <p:sp>
        <p:nvSpPr>
          <p:cNvPr id="8" name="TextBox 7"/>
          <p:cNvSpPr txBox="1"/>
          <p:nvPr/>
        </p:nvSpPr>
        <p:spPr>
          <a:xfrm>
            <a:off x="603337" y="134035"/>
            <a:ext cx="10985325" cy="646331"/>
          </a:xfrm>
          <a:prstGeom prst="rect">
            <a:avLst/>
          </a:prstGeom>
          <a:noFill/>
        </p:spPr>
        <p:txBody>
          <a:bodyPr wrap="square" rtlCol="0" anchor="b">
            <a:spAutoFit/>
          </a:bodyPr>
          <a:lstStyle/>
          <a:p>
            <a:pPr lvl="1" algn="ctr"/>
            <a:r>
              <a:rPr lang="es-ES" sz="3600" b="1" dirty="0">
                <a:solidFill>
                  <a:srgbClr val="0070C0"/>
                </a:solidFill>
              </a:rPr>
              <a:t>Digital and Social Media Marketing</a:t>
            </a:r>
          </a:p>
        </p:txBody>
      </p:sp>
    </p:spTree>
    <p:extLst>
      <p:ext uri="{BB962C8B-B14F-4D97-AF65-F5344CB8AC3E}">
        <p14:creationId xmlns:p14="http://schemas.microsoft.com/office/powerpoint/2010/main" val="29989993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387727" y="2067339"/>
            <a:ext cx="7318004" cy="3013795"/>
          </a:xfrm>
        </p:spPr>
        <p:txBody>
          <a:bodyPr>
            <a:normAutofit/>
          </a:bodyPr>
          <a:lstStyle/>
          <a:p>
            <a:r>
              <a:rPr lang="en-IN" sz="3600" dirty="0"/>
              <a:t>Using social media</a:t>
            </a:r>
          </a:p>
          <a:p>
            <a:r>
              <a:rPr lang="en-IN" sz="3600" dirty="0"/>
              <a:t>Social media marketing advantages and challenges</a:t>
            </a:r>
          </a:p>
          <a:p>
            <a:r>
              <a:rPr lang="en-IN" sz="3600" dirty="0"/>
              <a:t>Integrated social media marketing.</a:t>
            </a:r>
          </a:p>
          <a:p>
            <a:endParaRPr lang="en-IN" dirty="0"/>
          </a:p>
          <a:p>
            <a:endParaRPr lang="en-IN" dirty="0"/>
          </a:p>
        </p:txBody>
      </p:sp>
      <p:sp>
        <p:nvSpPr>
          <p:cNvPr id="3" name="Title 2"/>
          <p:cNvSpPr>
            <a:spLocks noGrp="1"/>
          </p:cNvSpPr>
          <p:nvPr>
            <p:ph type="title"/>
          </p:nvPr>
        </p:nvSpPr>
        <p:spPr>
          <a:xfrm>
            <a:off x="1981200" y="211132"/>
            <a:ext cx="8229600" cy="1143000"/>
          </a:xfrm>
        </p:spPr>
        <p:txBody>
          <a:bodyPr>
            <a:noAutofit/>
          </a:bodyPr>
          <a:lstStyle/>
          <a:p>
            <a:r>
              <a:rPr lang="en-US" sz="3600" b="1" dirty="0">
                <a:solidFill>
                  <a:srgbClr val="007FA3"/>
                </a:solidFill>
                <a:latin typeface="Arial" pitchFamily="34" charset="0"/>
                <a:cs typeface="Arial" pitchFamily="34" charset="0"/>
              </a:rPr>
              <a:t>Digital and social media marketing</a:t>
            </a:r>
            <a:endParaRPr lang="en-IN" sz="3600" b="1" dirty="0">
              <a:latin typeface="Arial" pitchFamily="34" charset="0"/>
              <a:cs typeface="Arial" pitchFamily="34" charset="0"/>
            </a:endParaRPr>
          </a:p>
        </p:txBody>
      </p:sp>
      <p:sp>
        <p:nvSpPr>
          <p:cNvPr id="4" name="Text Placeholder 3"/>
          <p:cNvSpPr>
            <a:spLocks noGrp="1"/>
          </p:cNvSpPr>
          <p:nvPr>
            <p:ph type="body" sz="quarter" idx="13"/>
          </p:nvPr>
        </p:nvSpPr>
        <p:spPr>
          <a:xfrm>
            <a:off x="2522379" y="1408924"/>
            <a:ext cx="7162800" cy="381000"/>
          </a:xfrm>
        </p:spPr>
        <p:txBody>
          <a:bodyPr>
            <a:noAutofit/>
          </a:bodyPr>
          <a:lstStyle/>
          <a:p>
            <a:r>
              <a:rPr lang="en-IN" dirty="0">
                <a:solidFill>
                  <a:srgbClr val="007FA3"/>
                </a:solidFill>
              </a:rPr>
              <a:t>Social media marketing</a:t>
            </a:r>
          </a:p>
        </p:txBody>
      </p:sp>
    </p:spTree>
    <p:extLst>
      <p:ext uri="{BB962C8B-B14F-4D97-AF65-F5344CB8AC3E}">
        <p14:creationId xmlns:p14="http://schemas.microsoft.com/office/powerpoint/2010/main" val="1103113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noChangeArrowheads="1"/>
          </p:cNvSpPr>
          <p:nvPr>
            <p:ph type="title"/>
          </p:nvPr>
        </p:nvSpPr>
        <p:spPr>
          <a:xfrm>
            <a:off x="846321" y="675113"/>
            <a:ext cx="9467048" cy="479685"/>
          </a:xfrm>
        </p:spPr>
        <p:txBody>
          <a:bodyPr>
            <a:noAutofit/>
          </a:bodyPr>
          <a:lstStyle/>
          <a:p>
            <a:r>
              <a:rPr lang="en-US" b="1" dirty="0">
                <a:solidFill>
                  <a:srgbClr val="007FA3"/>
                </a:solidFill>
              </a:rPr>
              <a:t>Social Media and Mobile Marketing</a:t>
            </a:r>
          </a:p>
        </p:txBody>
      </p:sp>
      <p:sp>
        <p:nvSpPr>
          <p:cNvPr id="24578" name="Title 2"/>
          <p:cNvSpPr>
            <a:spLocks noGrp="1"/>
          </p:cNvSpPr>
          <p:nvPr>
            <p:ph idx="1"/>
          </p:nvPr>
        </p:nvSpPr>
        <p:spPr>
          <a:xfrm>
            <a:off x="846321" y="1602560"/>
            <a:ext cx="10312400" cy="599328"/>
          </a:xfrm>
        </p:spPr>
        <p:txBody>
          <a:bodyPr>
            <a:noAutofit/>
          </a:bodyPr>
          <a:lstStyle/>
          <a:p>
            <a:pPr marL="0" indent="0" eaLnBrk="1" hangingPunct="1">
              <a:lnSpc>
                <a:spcPct val="80000"/>
              </a:lnSpc>
              <a:buNone/>
            </a:pPr>
            <a:r>
              <a:rPr lang="en-US" sz="3200" b="1" dirty="0"/>
              <a:t>Social Media Marketing</a:t>
            </a:r>
            <a:endParaRPr lang="en-US" sz="3200" dirty="0"/>
          </a:p>
          <a:p>
            <a:pPr marL="0" indent="0" eaLnBrk="1" hangingPunct="1">
              <a:lnSpc>
                <a:spcPct val="80000"/>
              </a:lnSpc>
              <a:buNone/>
            </a:pPr>
            <a:endParaRPr lang="en-US" sz="2500" dirty="0"/>
          </a:p>
        </p:txBody>
      </p:sp>
      <p:sp>
        <p:nvSpPr>
          <p:cNvPr id="2" name="Content Placeholder 1"/>
          <p:cNvSpPr>
            <a:spLocks noGrp="1"/>
          </p:cNvSpPr>
          <p:nvPr>
            <p:ph type="body" sz="quarter" idx="13"/>
          </p:nvPr>
        </p:nvSpPr>
        <p:spPr>
          <a:xfrm>
            <a:off x="846321" y="2262126"/>
            <a:ext cx="9778721" cy="3194294"/>
          </a:xfrm>
        </p:spPr>
        <p:txBody>
          <a:bodyPr>
            <a:noAutofit/>
          </a:bodyPr>
          <a:lstStyle/>
          <a:p>
            <a:pPr marL="0" indent="0" algn="l"/>
            <a:r>
              <a:rPr lang="en-US" sz="2400" b="1" i="0" dirty="0">
                <a:solidFill>
                  <a:srgbClr val="000000"/>
                </a:solidFill>
              </a:rPr>
              <a:t>Advantages:</a:t>
            </a:r>
          </a:p>
          <a:p>
            <a:pPr marL="284163" indent="-284163" algn="l">
              <a:buClr>
                <a:srgbClr val="007CA8"/>
              </a:buClr>
              <a:buFont typeface="Arial"/>
              <a:buChar char="•"/>
            </a:pPr>
            <a:r>
              <a:rPr lang="en-US" sz="2400" i="0" dirty="0">
                <a:solidFill>
                  <a:srgbClr val="000000"/>
                </a:solidFill>
              </a:rPr>
              <a:t>Targeted and personal</a:t>
            </a:r>
          </a:p>
          <a:p>
            <a:pPr marL="284163" indent="-284163" algn="l">
              <a:buClr>
                <a:srgbClr val="007CA8"/>
              </a:buClr>
              <a:buFont typeface="Arial"/>
              <a:buChar char="•"/>
            </a:pPr>
            <a:r>
              <a:rPr lang="en-US" sz="2400" i="0" dirty="0">
                <a:solidFill>
                  <a:srgbClr val="000000"/>
                </a:solidFill>
              </a:rPr>
              <a:t>Interactive</a:t>
            </a:r>
          </a:p>
          <a:p>
            <a:pPr marL="284163" indent="-284163" algn="l">
              <a:buClr>
                <a:srgbClr val="007CA8"/>
              </a:buClr>
              <a:buFont typeface="Arial"/>
              <a:buChar char="•"/>
            </a:pPr>
            <a:r>
              <a:rPr lang="en-US" sz="2400" i="0" dirty="0">
                <a:solidFill>
                  <a:srgbClr val="000000"/>
                </a:solidFill>
              </a:rPr>
              <a:t>Immediate and timely </a:t>
            </a:r>
          </a:p>
          <a:p>
            <a:pPr marL="284163" indent="-284163" algn="l">
              <a:buClr>
                <a:srgbClr val="007CA8"/>
              </a:buClr>
              <a:buFont typeface="Arial"/>
              <a:buChar char="•"/>
            </a:pPr>
            <a:r>
              <a:rPr lang="en-US" sz="2400" i="0" dirty="0">
                <a:solidFill>
                  <a:srgbClr val="000000"/>
                </a:solidFill>
              </a:rPr>
              <a:t>Real-time marketing </a:t>
            </a:r>
          </a:p>
          <a:p>
            <a:pPr marL="284163" indent="-284163" algn="l">
              <a:buClr>
                <a:srgbClr val="007CA8"/>
              </a:buClr>
              <a:buFont typeface="Arial"/>
              <a:buChar char="•"/>
            </a:pPr>
            <a:r>
              <a:rPr lang="en-US" sz="2400" i="0" dirty="0">
                <a:solidFill>
                  <a:srgbClr val="000000"/>
                </a:solidFill>
              </a:rPr>
              <a:t>Cost effective</a:t>
            </a:r>
          </a:p>
          <a:p>
            <a:pPr marL="284163" indent="-284163" algn="l">
              <a:lnSpc>
                <a:spcPct val="100000"/>
              </a:lnSpc>
              <a:spcBef>
                <a:spcPts val="0"/>
              </a:spcBef>
              <a:buClr>
                <a:srgbClr val="007CA8"/>
              </a:buClr>
              <a:buFont typeface="Arial"/>
              <a:buChar char="•"/>
              <a:defRPr/>
            </a:pPr>
            <a:r>
              <a:rPr lang="en-US" sz="2400" i="0" dirty="0">
                <a:solidFill>
                  <a:srgbClr val="000000"/>
                </a:solidFill>
              </a:rPr>
              <a:t>Engagement and social sharing capabilities </a:t>
            </a:r>
          </a:p>
        </p:txBody>
      </p:sp>
    </p:spTree>
    <p:extLst>
      <p:ext uri="{BB962C8B-B14F-4D97-AF65-F5344CB8AC3E}">
        <p14:creationId xmlns:p14="http://schemas.microsoft.com/office/powerpoint/2010/main" val="237136790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4700"/>
            <a:ext cx="8229600" cy="735900"/>
          </a:xfrm>
        </p:spPr>
        <p:txBody>
          <a:bodyPr/>
          <a:lstStyle/>
          <a:p>
            <a:r>
              <a:rPr lang="en-US" dirty="0">
                <a:sym typeface="Calibri"/>
              </a:rPr>
              <a:t>Social Media Marketing</a:t>
            </a:r>
            <a:endParaRPr lang="en-IN" dirty="0"/>
          </a:p>
        </p:txBody>
      </p:sp>
      <p:sp>
        <p:nvSpPr>
          <p:cNvPr id="3" name="Content Placeholder 2"/>
          <p:cNvSpPr>
            <a:spLocks noGrp="1"/>
          </p:cNvSpPr>
          <p:nvPr>
            <p:ph idx="1"/>
          </p:nvPr>
        </p:nvSpPr>
        <p:spPr>
          <a:xfrm>
            <a:off x="1981200" y="1219200"/>
            <a:ext cx="7696200" cy="4876800"/>
          </a:xfrm>
        </p:spPr>
        <p:txBody>
          <a:bodyPr/>
          <a:lstStyle/>
          <a:p>
            <a:pPr marL="255600" indent="-255600"/>
            <a:r>
              <a:rPr lang="en-US" sz="3200" dirty="0">
                <a:solidFill>
                  <a:schemeClr val="dk1"/>
                </a:solidFill>
                <a:ea typeface="Calibri"/>
                <a:cs typeface="Calibri"/>
                <a:sym typeface="Calibri"/>
              </a:rPr>
              <a:t>Marketers no longer are the only ones who talk about their products.</a:t>
            </a:r>
          </a:p>
          <a:p>
            <a:pPr marL="741600" indent="-284400">
              <a:spcBef>
                <a:spcPts val="600"/>
              </a:spcBef>
              <a:buFont typeface="Wingdings" panose="05000000000000000000" pitchFamily="2" charset="2"/>
              <a:buChar char="§"/>
            </a:pPr>
            <a:r>
              <a:rPr lang="en-US" sz="3200" dirty="0">
                <a:solidFill>
                  <a:schemeClr val="dk1"/>
                </a:solidFill>
                <a:ea typeface="Calibri"/>
                <a:cs typeface="Calibri"/>
                <a:sym typeface="Calibri"/>
              </a:rPr>
              <a:t>Millions of consumers have the ability and desire to spread good (or bad) news about products.</a:t>
            </a:r>
          </a:p>
          <a:p>
            <a:pPr marL="741600" indent="-284400">
              <a:spcBef>
                <a:spcPts val="600"/>
              </a:spcBef>
              <a:buFont typeface="Wingdings" panose="05000000000000000000" pitchFamily="2" charset="2"/>
              <a:buChar char="§"/>
            </a:pPr>
            <a:r>
              <a:rPr lang="en-US" sz="3200" dirty="0">
                <a:solidFill>
                  <a:schemeClr val="dk1"/>
                </a:solidFill>
                <a:ea typeface="Calibri"/>
                <a:cs typeface="Calibri"/>
                <a:sym typeface="Calibri"/>
              </a:rPr>
              <a:t>The many-to-many communication model is based on consumers talking to one another about goods, services, and organizations.</a:t>
            </a:r>
          </a:p>
          <a:p>
            <a:pPr marL="457200" indent="0">
              <a:spcBef>
                <a:spcPts val="600"/>
              </a:spcBef>
              <a:buNone/>
            </a:pPr>
            <a:r>
              <a:rPr lang="en-US" sz="3200" b="1" dirty="0">
                <a:solidFill>
                  <a:schemeClr val="dk1"/>
                </a:solidFill>
                <a:ea typeface="Calibri"/>
                <a:cs typeface="Calibri"/>
                <a:sym typeface="Calibri"/>
              </a:rPr>
              <a:t>.</a:t>
            </a:r>
            <a:endParaRPr lang="en-US" sz="3200" dirty="0">
              <a:solidFill>
                <a:schemeClr val="dk1"/>
              </a:solidFill>
              <a:ea typeface="Calibri"/>
              <a:cs typeface="Calibri"/>
              <a:sym typeface="Calibri"/>
            </a:endParaRPr>
          </a:p>
        </p:txBody>
      </p:sp>
    </p:spTree>
    <p:extLst>
      <p:ext uri="{BB962C8B-B14F-4D97-AF65-F5344CB8AC3E}">
        <p14:creationId xmlns:p14="http://schemas.microsoft.com/office/powerpoint/2010/main" val="698966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4700"/>
            <a:ext cx="8229600" cy="659700"/>
          </a:xfrm>
        </p:spPr>
        <p:txBody>
          <a:bodyPr/>
          <a:lstStyle/>
          <a:p>
            <a:r>
              <a:rPr lang="en-US" dirty="0">
                <a:sym typeface="Calibri"/>
              </a:rPr>
              <a:t>Product Review Sites</a:t>
            </a:r>
            <a:endParaRPr lang="en-IN" dirty="0"/>
          </a:p>
        </p:txBody>
      </p:sp>
      <p:sp>
        <p:nvSpPr>
          <p:cNvPr id="3" name="Content Placeholder 2"/>
          <p:cNvSpPr>
            <a:spLocks noGrp="1"/>
          </p:cNvSpPr>
          <p:nvPr>
            <p:ph idx="1"/>
          </p:nvPr>
        </p:nvSpPr>
        <p:spPr>
          <a:xfrm>
            <a:off x="1981200" y="1066800"/>
            <a:ext cx="8229600" cy="5156200"/>
          </a:xfrm>
        </p:spPr>
        <p:txBody>
          <a:bodyPr/>
          <a:lstStyle/>
          <a:p>
            <a:pPr marL="255600" indent="-255600"/>
            <a:r>
              <a:rPr lang="en-US" sz="3600" b="1" dirty="0">
                <a:solidFill>
                  <a:schemeClr val="dk1"/>
                </a:solidFill>
                <a:ea typeface="Calibri"/>
                <a:cs typeface="Calibri"/>
                <a:sym typeface="Calibri"/>
              </a:rPr>
              <a:t>Product review sites: </a:t>
            </a:r>
            <a:r>
              <a:rPr lang="en-US" sz="3600" dirty="0">
                <a:solidFill>
                  <a:schemeClr val="dk1"/>
                </a:solidFill>
                <a:ea typeface="Calibri"/>
                <a:cs typeface="Calibri"/>
                <a:sym typeface="Calibri"/>
              </a:rPr>
              <a:t>Social media sites that enable people to post stories about their experiences with goods and services.</a:t>
            </a:r>
            <a:endParaRPr lang="en-US" sz="3600" dirty="0"/>
          </a:p>
          <a:p>
            <a:pPr marL="798750" lvl="1" indent="-342900">
              <a:buFont typeface="Wingdings" panose="05000000000000000000" pitchFamily="2" charset="2"/>
              <a:buChar char="§"/>
            </a:pPr>
            <a:r>
              <a:rPr lang="en-US" sz="3600" dirty="0">
                <a:solidFill>
                  <a:schemeClr val="dk1"/>
                </a:solidFill>
                <a:ea typeface="Calibri"/>
                <a:cs typeface="Calibri"/>
                <a:sym typeface="Calibri"/>
              </a:rPr>
              <a:t>Popular review sites include </a:t>
            </a:r>
            <a:r>
              <a:rPr lang="en-US" sz="3600" i="1" u="sng" dirty="0" err="1">
                <a:solidFill>
                  <a:schemeClr val="hlink"/>
                </a:solidFill>
                <a:ea typeface="Calibri"/>
                <a:cs typeface="Calibri"/>
                <a:sym typeface="Calibri"/>
                <a:hlinkClick r:id="rId3"/>
              </a:rPr>
              <a:t>TripAdvisor</a:t>
            </a:r>
            <a:r>
              <a:rPr lang="en-US" sz="3600" dirty="0">
                <a:solidFill>
                  <a:schemeClr val="dk1"/>
                </a:solidFill>
                <a:ea typeface="Calibri"/>
                <a:cs typeface="Calibri"/>
                <a:sym typeface="Calibri"/>
              </a:rPr>
              <a:t>, </a:t>
            </a:r>
            <a:r>
              <a:rPr lang="en-US" sz="3600" i="1" u="sng" dirty="0">
                <a:solidFill>
                  <a:schemeClr val="hlink"/>
                </a:solidFill>
                <a:ea typeface="Calibri"/>
                <a:cs typeface="Calibri"/>
                <a:sym typeface="Calibri"/>
                <a:hlinkClick r:id="rId4"/>
              </a:rPr>
              <a:t>Yelp</a:t>
            </a:r>
            <a:r>
              <a:rPr lang="en-US" sz="3600" dirty="0">
                <a:solidFill>
                  <a:schemeClr val="dk1"/>
                </a:solidFill>
                <a:ea typeface="Calibri"/>
                <a:cs typeface="Calibri"/>
                <a:sym typeface="Calibri"/>
              </a:rPr>
              <a:t>, and </a:t>
            </a:r>
            <a:r>
              <a:rPr lang="en-US" sz="3600" i="1" u="sng" dirty="0">
                <a:solidFill>
                  <a:schemeClr val="hlink"/>
                </a:solidFill>
                <a:ea typeface="Calibri"/>
                <a:cs typeface="Calibri"/>
                <a:sym typeface="Calibri"/>
                <a:hlinkClick r:id="rId5"/>
              </a:rPr>
              <a:t>Angie’s List</a:t>
            </a:r>
            <a:endParaRPr lang="en-US" sz="3600" dirty="0"/>
          </a:p>
        </p:txBody>
      </p:sp>
    </p:spTree>
    <p:extLst>
      <p:ext uri="{BB962C8B-B14F-4D97-AF65-F5344CB8AC3E}">
        <p14:creationId xmlns:p14="http://schemas.microsoft.com/office/powerpoint/2010/main" val="278365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0208"/>
            <a:ext cx="8229600" cy="816592"/>
          </a:xfrm>
        </p:spPr>
        <p:txBody>
          <a:bodyPr/>
          <a:lstStyle/>
          <a:p>
            <a:r>
              <a:rPr lang="en-US" sz="3600" dirty="0">
                <a:sym typeface="Calibri"/>
              </a:rPr>
              <a:t>Social Networks</a:t>
            </a:r>
            <a:endParaRPr lang="en-IN" sz="3600" dirty="0"/>
          </a:p>
        </p:txBody>
      </p:sp>
      <p:sp>
        <p:nvSpPr>
          <p:cNvPr id="4" name="Content Placeholder 2"/>
          <p:cNvSpPr>
            <a:spLocks noGrp="1"/>
          </p:cNvSpPr>
          <p:nvPr>
            <p:ph idx="1"/>
          </p:nvPr>
        </p:nvSpPr>
        <p:spPr>
          <a:xfrm>
            <a:off x="1981200" y="1219199"/>
            <a:ext cx="8229600" cy="5362669"/>
          </a:xfrm>
        </p:spPr>
        <p:txBody>
          <a:bodyPr/>
          <a:lstStyle/>
          <a:p>
            <a:pPr marL="255600" indent="-255600"/>
            <a:r>
              <a:rPr lang="en-US" sz="3200" b="1" dirty="0">
                <a:solidFill>
                  <a:schemeClr val="dk1"/>
                </a:solidFill>
                <a:ea typeface="Calibri"/>
                <a:cs typeface="Calibri"/>
                <a:sym typeface="Calibri"/>
              </a:rPr>
              <a:t>Social networks, </a:t>
            </a:r>
            <a:r>
              <a:rPr lang="en-US" sz="3200" dirty="0">
                <a:solidFill>
                  <a:schemeClr val="dk1"/>
                </a:solidFill>
                <a:ea typeface="Calibri"/>
                <a:cs typeface="Calibri"/>
                <a:sym typeface="Calibri"/>
              </a:rPr>
              <a:t>like Facebook and Twitter, are sites that connect people with other people.</a:t>
            </a:r>
          </a:p>
          <a:p>
            <a:pPr marL="741600" indent="-284400">
              <a:spcBef>
                <a:spcPts val="600"/>
              </a:spcBef>
              <a:buFont typeface="Wingdings" panose="05000000000000000000" pitchFamily="2" charset="2"/>
              <a:buChar char="§"/>
            </a:pPr>
            <a:r>
              <a:rPr lang="en-US" sz="3200" dirty="0"/>
              <a:t>Marketers </a:t>
            </a:r>
            <a:r>
              <a:rPr lang="en-US" sz="3200" dirty="0">
                <a:solidFill>
                  <a:schemeClr val="dk1"/>
                </a:solidFill>
                <a:ea typeface="Calibri"/>
                <a:cs typeface="Calibri"/>
                <a:sym typeface="Calibri"/>
              </a:rPr>
              <a:t>monitor social networks to learn what consumers are thinking about the brand and the competition..</a:t>
            </a:r>
          </a:p>
          <a:p>
            <a:pPr marL="741600" indent="-284400">
              <a:spcBef>
                <a:spcPts val="600"/>
              </a:spcBef>
              <a:buFont typeface="Wingdings" panose="05000000000000000000" pitchFamily="2" charset="2"/>
              <a:buChar char="§"/>
            </a:pPr>
            <a:r>
              <a:rPr lang="en-US" sz="3200" dirty="0"/>
              <a:t>Marketers reach influential opinion leaders b</a:t>
            </a:r>
            <a:r>
              <a:rPr lang="en-US" sz="3200" dirty="0">
                <a:solidFill>
                  <a:schemeClr val="dk1"/>
                </a:solidFill>
                <a:ea typeface="Calibri"/>
                <a:cs typeface="Calibri"/>
                <a:sym typeface="Calibri"/>
              </a:rPr>
              <a:t>y participating in social media conversations.</a:t>
            </a:r>
          </a:p>
          <a:p>
            <a:pPr marL="741600" indent="-284400">
              <a:spcBef>
                <a:spcPts val="600"/>
              </a:spcBef>
              <a:buFont typeface="Wingdings" panose="05000000000000000000" pitchFamily="2" charset="2"/>
              <a:buChar char="§"/>
            </a:pPr>
            <a:r>
              <a:rPr lang="en-US" sz="3200" dirty="0"/>
              <a:t>Social networks provide an opportunity to create a </a:t>
            </a:r>
            <a:r>
              <a:rPr lang="en-US" sz="3200" b="1" dirty="0"/>
              <a:t>brand community.</a:t>
            </a:r>
            <a:endParaRPr lang="en-US" sz="3200" dirty="0">
              <a:solidFill>
                <a:schemeClr val="dk1"/>
              </a:solidFill>
              <a:ea typeface="Calibri"/>
              <a:cs typeface="Calibri"/>
              <a:sym typeface="Calibri"/>
            </a:endParaRPr>
          </a:p>
        </p:txBody>
      </p:sp>
    </p:spTree>
    <p:extLst>
      <p:ext uri="{BB962C8B-B14F-4D97-AF65-F5344CB8AC3E}">
        <p14:creationId xmlns:p14="http://schemas.microsoft.com/office/powerpoint/2010/main" val="1953736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1400" y="643467"/>
            <a:ext cx="8408193" cy="744836"/>
          </a:xfrm>
        </p:spPr>
        <p:txBody>
          <a:bodyPr vert="horz" wrap="square" lIns="91440" tIns="45720" rIns="91440" bIns="45720" numCol="1" rtlCol="0" anchor="ctr" anchorCtr="0" compatLnSpc="1">
            <a:prstTxWarp prst="textNoShape">
              <a:avLst/>
            </a:prstTxWarp>
            <a:normAutofit/>
          </a:bodyPr>
          <a:lstStyle/>
          <a:p>
            <a:r>
              <a:rPr lang="en-US" sz="2800" b="1" dirty="0">
                <a:solidFill>
                  <a:schemeClr val="tx1"/>
                </a:solidFill>
              </a:rPr>
              <a:t>Influencer Marketing: the world of Cristiano Ronaldo</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76300" y="1388303"/>
            <a:ext cx="10344150" cy="5088697"/>
          </a:xfrm>
          <a:prstGeom prst="rect">
            <a:avLst/>
          </a:prstGeom>
        </p:spPr>
      </p:pic>
    </p:spTree>
    <p:extLst>
      <p:ext uri="{BB962C8B-B14F-4D97-AF65-F5344CB8AC3E}">
        <p14:creationId xmlns:p14="http://schemas.microsoft.com/office/powerpoint/2010/main" val="1928790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4700"/>
            <a:ext cx="8229600" cy="812100"/>
          </a:xfrm>
        </p:spPr>
        <p:txBody>
          <a:bodyPr/>
          <a:lstStyle/>
          <a:p>
            <a:r>
              <a:rPr lang="en-IN" dirty="0"/>
              <a:t>Why is Influencer Marketing Important?</a:t>
            </a:r>
          </a:p>
        </p:txBody>
      </p:sp>
      <p:sp>
        <p:nvSpPr>
          <p:cNvPr id="5" name="Content Placeholder 2"/>
          <p:cNvSpPr>
            <a:spLocks noGrp="1"/>
          </p:cNvSpPr>
          <p:nvPr>
            <p:ph idx="1"/>
          </p:nvPr>
        </p:nvSpPr>
        <p:spPr>
          <a:xfrm>
            <a:off x="1943100" y="1107847"/>
            <a:ext cx="8305800" cy="6335369"/>
          </a:xfrm>
        </p:spPr>
        <p:txBody>
          <a:bodyPr>
            <a:noAutofit/>
          </a:bodyPr>
          <a:lstStyle/>
          <a:p>
            <a:pPr marL="255600" indent="-255600"/>
            <a:r>
              <a:rPr lang="en-US" dirty="0">
                <a:solidFill>
                  <a:srgbClr val="FF0000"/>
                </a:solidFill>
              </a:rPr>
              <a:t>Hiring such influencers allows companies to reach a vast network of potential customers: </a:t>
            </a:r>
            <a:r>
              <a:rPr lang="en-US" dirty="0"/>
              <a:t>Cristiano Ronaldo has a combined following of 240m people across Facebook, Instagram and Twitter. </a:t>
            </a:r>
          </a:p>
          <a:p>
            <a:pPr marL="255600" indent="-255600"/>
            <a:r>
              <a:rPr lang="en-US" dirty="0">
                <a:solidFill>
                  <a:srgbClr val="FF0000"/>
                </a:solidFill>
              </a:rPr>
              <a:t>Social media offer brands their best opportunity to reach cord-cutting millennials: </a:t>
            </a:r>
            <a:r>
              <a:rPr lang="en-US" dirty="0"/>
              <a:t>Snapchat, the picture-sharing app, reaches 40% of all American 18- to 34-year-olds every day. </a:t>
            </a:r>
          </a:p>
          <a:p>
            <a:pPr marL="255600" indent="-255600"/>
            <a:r>
              <a:rPr lang="en-US" dirty="0">
                <a:solidFill>
                  <a:srgbClr val="FF0000"/>
                </a:solidFill>
              </a:rPr>
              <a:t>Consumers feel they have gained unprecedented access to the lives of the rich and famous</a:t>
            </a:r>
            <a:r>
              <a:rPr lang="en-US" dirty="0"/>
              <a:t>. </a:t>
            </a:r>
          </a:p>
          <a:p>
            <a:pPr marL="255600" indent="-255600"/>
            <a:r>
              <a:rPr lang="en-US" dirty="0">
                <a:solidFill>
                  <a:srgbClr val="FF0000"/>
                </a:solidFill>
              </a:rPr>
              <a:t>Sponsors interact with their target audiences in ways that traditional advertising cannot match</a:t>
            </a:r>
            <a:r>
              <a:rPr lang="en-US" dirty="0"/>
              <a:t>. In turn, demand from marketers for these channels has made social media lucrative territory for people with large online followings</a:t>
            </a:r>
            <a:r>
              <a:rPr lang="en-US" sz="2000" dirty="0"/>
              <a:t>.</a:t>
            </a:r>
            <a:endParaRPr lang="en-US" sz="2000" dirty="0">
              <a:solidFill>
                <a:schemeClr val="dk1"/>
              </a:solidFill>
              <a:ea typeface="Calibri"/>
              <a:cs typeface="Calibri"/>
              <a:sym typeface="Calibri"/>
            </a:endParaRPr>
          </a:p>
        </p:txBody>
      </p:sp>
    </p:spTree>
    <p:extLst>
      <p:ext uri="{BB962C8B-B14F-4D97-AF65-F5344CB8AC3E}">
        <p14:creationId xmlns:p14="http://schemas.microsoft.com/office/powerpoint/2010/main" val="173654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174" y="1169842"/>
            <a:ext cx="2562119" cy="4795408"/>
          </a:xfrm>
        </p:spPr>
        <p:txBody>
          <a:bodyPr vert="horz" wrap="square" lIns="91440" tIns="45720" rIns="91440" bIns="45720" numCol="1" rtlCol="0" anchor="ctr" anchorCtr="0" compatLnSpc="1">
            <a:prstTxWarp prst="textNoShape">
              <a:avLst/>
            </a:prstTxWarp>
            <a:normAutofit/>
          </a:bodyPr>
          <a:lstStyle/>
          <a:p>
            <a:r>
              <a:rPr lang="en-US" sz="4400" dirty="0">
                <a:solidFill>
                  <a:schemeClr val="tx1"/>
                </a:solidFill>
              </a:rPr>
              <a:t>Planning an Influencer Campaign</a:t>
            </a:r>
          </a:p>
        </p:txBody>
      </p:sp>
      <p:graphicFrame>
        <p:nvGraphicFramePr>
          <p:cNvPr id="7" name="Content Placeholder 2">
            <a:extLst>
              <a:ext uri="{FF2B5EF4-FFF2-40B4-BE49-F238E27FC236}">
                <a16:creationId xmlns:a16="http://schemas.microsoft.com/office/drawing/2014/main" id="{F5E3DAA8-CA5D-44A8-A534-9A1BD67FB0F7}"/>
              </a:ext>
            </a:extLst>
          </p:cNvPr>
          <p:cNvGraphicFramePr>
            <a:graphicFrameLocks noGrp="1"/>
          </p:cNvGraphicFramePr>
          <p:nvPr>
            <p:ph idx="1"/>
            <p:extLst>
              <p:ext uri="{D42A27DB-BD31-4B8C-83A1-F6EECF244321}">
                <p14:modId xmlns:p14="http://schemas.microsoft.com/office/powerpoint/2010/main" val="2275596666"/>
              </p:ext>
            </p:extLst>
          </p:nvPr>
        </p:nvGraphicFramePr>
        <p:xfrm>
          <a:off x="4961300" y="470780"/>
          <a:ext cx="6563762" cy="5885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1134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0B36EC-5480-4EAA-8C03-B38BB2103E5D}"/>
              </a:ext>
            </a:extLst>
          </p:cNvPr>
          <p:cNvPicPr>
            <a:picLocks noGrp="1" noChangeAspect="1"/>
          </p:cNvPicPr>
          <p:nvPr>
            <p:ph idx="1"/>
          </p:nvPr>
        </p:nvPicPr>
        <p:blipFill>
          <a:blip r:embed="rId3"/>
          <a:stretch>
            <a:fillRect/>
          </a:stretch>
        </p:blipFill>
        <p:spPr>
          <a:xfrm>
            <a:off x="609600" y="896112"/>
            <a:ext cx="10972800" cy="5596127"/>
          </a:xfrm>
          <a:prstGeom prst="rect">
            <a:avLst/>
          </a:prstGeom>
        </p:spPr>
      </p:pic>
      <p:sp>
        <p:nvSpPr>
          <p:cNvPr id="3" name="Title 2">
            <a:extLst>
              <a:ext uri="{FF2B5EF4-FFF2-40B4-BE49-F238E27FC236}">
                <a16:creationId xmlns:a16="http://schemas.microsoft.com/office/drawing/2014/main" id="{057DE910-E053-4528-85FB-9C6FF2692B74}"/>
              </a:ext>
            </a:extLst>
          </p:cNvPr>
          <p:cNvSpPr>
            <a:spLocks noGrp="1"/>
          </p:cNvSpPr>
          <p:nvPr>
            <p:ph type="title"/>
          </p:nvPr>
        </p:nvSpPr>
        <p:spPr>
          <a:xfrm>
            <a:off x="609600" y="215372"/>
            <a:ext cx="10972800" cy="817900"/>
          </a:xfrm>
        </p:spPr>
        <p:txBody>
          <a:bodyPr/>
          <a:lstStyle/>
          <a:p>
            <a:r>
              <a:rPr lang="en-GB" dirty="0"/>
              <a:t>Effectiveness of Social Media Marketing</a:t>
            </a:r>
          </a:p>
        </p:txBody>
      </p:sp>
    </p:spTree>
    <p:extLst>
      <p:ext uri="{BB962C8B-B14F-4D97-AF65-F5344CB8AC3E}">
        <p14:creationId xmlns:p14="http://schemas.microsoft.com/office/powerpoint/2010/main" val="2899024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82DE-4269-B5E3-6571-63365343E053}"/>
              </a:ext>
            </a:extLst>
          </p:cNvPr>
          <p:cNvSpPr>
            <a:spLocks noGrp="1"/>
          </p:cNvSpPr>
          <p:nvPr>
            <p:ph type="title"/>
          </p:nvPr>
        </p:nvSpPr>
        <p:spPr/>
        <p:txBody>
          <a:bodyPr/>
          <a:lstStyle/>
          <a:p>
            <a:r>
              <a:rPr lang="en-GB" dirty="0">
                <a:solidFill>
                  <a:srgbClr val="FF0000"/>
                </a:solidFill>
              </a:rPr>
              <a:t>Integrated Omnichannel Campaigns</a:t>
            </a:r>
          </a:p>
        </p:txBody>
      </p:sp>
      <p:sp>
        <p:nvSpPr>
          <p:cNvPr id="3" name="Content Placeholder 2">
            <a:extLst>
              <a:ext uri="{FF2B5EF4-FFF2-40B4-BE49-F238E27FC236}">
                <a16:creationId xmlns:a16="http://schemas.microsoft.com/office/drawing/2014/main" id="{C5B8D67D-5112-DAA4-2B12-685B879B8D6D}"/>
              </a:ext>
            </a:extLst>
          </p:cNvPr>
          <p:cNvSpPr>
            <a:spLocks noGrp="1"/>
          </p:cNvSpPr>
          <p:nvPr>
            <p:ph idx="1"/>
          </p:nvPr>
        </p:nvSpPr>
        <p:spPr/>
        <p:txBody>
          <a:bodyPr/>
          <a:lstStyle/>
          <a:p>
            <a:r>
              <a:rPr lang="en-GB" b="1" dirty="0"/>
              <a:t>Digital and social media campaigns are most effective  when they are integrated with other marketing channels</a:t>
            </a:r>
          </a:p>
          <a:p>
            <a:r>
              <a:rPr lang="en-GB" b="1" dirty="0"/>
              <a:t>Digital and Social media  not just channels of communication but also a channel of distribution</a:t>
            </a:r>
          </a:p>
          <a:p>
            <a:r>
              <a:rPr lang="en-GB" b="1" dirty="0"/>
              <a:t>Key issue is consistency of messages across all touchpoints – online and offline.</a:t>
            </a:r>
          </a:p>
        </p:txBody>
      </p:sp>
    </p:spTree>
    <p:extLst>
      <p:ext uri="{BB962C8B-B14F-4D97-AF65-F5344CB8AC3E}">
        <p14:creationId xmlns:p14="http://schemas.microsoft.com/office/powerpoint/2010/main" val="387745327"/>
      </p:ext>
    </p:extLst>
  </p:cSld>
  <p:clrMapOvr>
    <a:masterClrMapping/>
  </p:clrMapOvr>
</p:sld>
</file>

<file path=ppt/theme/theme1.xml><?xml version="1.0" encoding="utf-8"?>
<a:theme xmlns:a="http://schemas.openxmlformats.org/drawingml/2006/main" name="University of Roehampt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ity of Roehampton PowerPoint Template [Compatibility Mode]" id="{E5B5E309-F8AA-487B-8D1A-F3FF829A02BB}" vid="{DF524CFD-4E3D-45F1-941A-862A0545FB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C08C9299421240B6D995644B6E3C3E" ma:contentTypeVersion="9" ma:contentTypeDescription="Create a new document." ma:contentTypeScope="" ma:versionID="3e4f4863867cfc740a384538f6557aaa">
  <xsd:schema xmlns:xsd="http://www.w3.org/2001/XMLSchema" xmlns:xs="http://www.w3.org/2001/XMLSchema" xmlns:p="http://schemas.microsoft.com/office/2006/metadata/properties" xmlns:ns3="8cba260e-3241-4289-a037-e391f31897a2" xmlns:ns4="55be59d9-bb19-454e-bd1f-d925a42bc5eb" targetNamespace="http://schemas.microsoft.com/office/2006/metadata/properties" ma:root="true" ma:fieldsID="8c1059f8eb4e870c18b54324517b06af" ns3:_="" ns4:_="">
    <xsd:import namespace="8cba260e-3241-4289-a037-e391f31897a2"/>
    <xsd:import namespace="55be59d9-bb19-454e-bd1f-d925a42bc5e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a260e-3241-4289-a037-e391f31897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5be59d9-bb19-454e-bd1f-d925a42bc5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FF4E3E-C1B4-4C97-B492-9DE287D30438}">
  <ds:schemaRefs>
    <ds:schemaRef ds:uri="http://schemas.microsoft.com/office/2006/metadata/longProperties"/>
  </ds:schemaRefs>
</ds:datastoreItem>
</file>

<file path=customXml/itemProps2.xml><?xml version="1.0" encoding="utf-8"?>
<ds:datastoreItem xmlns:ds="http://schemas.openxmlformats.org/officeDocument/2006/customXml" ds:itemID="{DEDB7CA3-3C00-4003-A0B0-87BC9295BC92}">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8cba260e-3241-4289-a037-e391f31897a2"/>
    <ds:schemaRef ds:uri="http://purl.org/dc/elements/1.1/"/>
    <ds:schemaRef ds:uri="http://schemas.microsoft.com/office/infopath/2007/PartnerControls"/>
    <ds:schemaRef ds:uri="http://schemas.openxmlformats.org/package/2006/metadata/core-properties"/>
    <ds:schemaRef ds:uri="55be59d9-bb19-454e-bd1f-d925a42bc5eb"/>
  </ds:schemaRefs>
</ds:datastoreItem>
</file>

<file path=customXml/itemProps3.xml><?xml version="1.0" encoding="utf-8"?>
<ds:datastoreItem xmlns:ds="http://schemas.openxmlformats.org/officeDocument/2006/customXml" ds:itemID="{2FF9D561-A9B7-4140-A3FA-6E96E6B87F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a260e-3241-4289-a037-e391f31897a2"/>
    <ds:schemaRef ds:uri="55be59d9-bb19-454e-bd1f-d925a42bc5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C3D5511-235D-4507-82A9-D5CFF352CBE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Roehampton-Powerpoint-Template-2017-Brand (1)</Template>
  <TotalTime>70</TotalTime>
  <Words>3966</Words>
  <Application>Microsoft Office PowerPoint</Application>
  <PresentationFormat>Widescreen</PresentationFormat>
  <Paragraphs>252</Paragraphs>
  <Slides>20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ＭＳ Ｐゴシック</vt:lpstr>
      <vt:lpstr>Arial</vt:lpstr>
      <vt:lpstr>Calibri</vt:lpstr>
      <vt:lpstr>Calibri Light</vt:lpstr>
      <vt:lpstr>H5PDroidSans</vt:lpstr>
      <vt:lpstr>Wingdings</vt:lpstr>
      <vt:lpstr>University of Roehampton</vt:lpstr>
      <vt:lpstr>  STRATEGIC MARKETING  </vt:lpstr>
      <vt:lpstr>Online, Social Media and Mobile Marketing</vt:lpstr>
      <vt:lpstr>Forms of direct and digital marketing</vt:lpstr>
      <vt:lpstr>Digital and social media marketing</vt:lpstr>
      <vt:lpstr>Direct and Digital Marketing</vt:lpstr>
      <vt:lpstr>PowerPoint Presentation</vt:lpstr>
      <vt:lpstr>PowerPoint Presentation</vt:lpstr>
      <vt:lpstr>PowerPoint Presentation</vt:lpstr>
      <vt:lpstr>PowerPoint Presentation</vt:lpstr>
      <vt:lpstr>PowerPoint Presentation</vt:lpstr>
      <vt:lpstr>Digital and social media marketing</vt:lpstr>
      <vt:lpstr>Social Media and Mobile Marketing</vt:lpstr>
      <vt:lpstr>Social Media Marketing</vt:lpstr>
      <vt:lpstr>Product Review Sites</vt:lpstr>
      <vt:lpstr>Social Networks</vt:lpstr>
      <vt:lpstr>Influencer Marketing: the world of Cristiano Ronaldo</vt:lpstr>
      <vt:lpstr>Why is Influencer Marketing Important?</vt:lpstr>
      <vt:lpstr>Planning an Influencer Campaign</vt:lpstr>
      <vt:lpstr>Effectiveness of Social Media Marketing</vt:lpstr>
      <vt:lpstr>Integrated Omnichannel Campaigns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Dumebi Konwea</cp:lastModifiedBy>
  <cp:revision>123</cp:revision>
  <cp:lastPrinted>2020-11-23T10:47:01Z</cp:lastPrinted>
  <dcterms:created xsi:type="dcterms:W3CDTF">2017-12-14T05:23:46Z</dcterms:created>
  <dcterms:modified xsi:type="dcterms:W3CDTF">2025-07-09T09:30:53Z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EX52UCZS3WNW-50-7</vt:lpwstr>
  </property>
  <property fmtid="{D5CDD505-2E9C-101B-9397-08002B2CF9AE}" pid="3" name="_dlc_DocIdItemGuid">
    <vt:lpwstr>9921b913-4ad3-4564-a374-b22e9e4eb2ae</vt:lpwstr>
  </property>
  <property fmtid="{D5CDD505-2E9C-101B-9397-08002B2CF9AE}" pid="4" name="_dlc_DocIdUrl">
    <vt:lpwstr>https://portal.roehampton.ac.uk/information/_layouts/15/DocIdRedir.aspx?ID=EX52UCZS3WNW-50-7, EX52UCZS3WNW-50-7</vt:lpwstr>
  </property>
  <property fmtid="{D5CDD505-2E9C-101B-9397-08002B2CF9AE}" pid="5" name="ContentTypeId">
    <vt:lpwstr>0x01010002C08C9299421240B6D995644B6E3C3E</vt:lpwstr>
  </property>
</Properties>
</file>