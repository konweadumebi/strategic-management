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4" r:id="rId3"/>
    <p:sldId id="262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755" autoAdjust="0"/>
    <p:restoredTop sz="94660"/>
  </p:normalViewPr>
  <p:slideViewPr>
    <p:cSldViewPr snapToGrid="0">
      <p:cViewPr varScale="1">
        <p:scale>
          <a:sx n="75" d="100"/>
          <a:sy n="7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252913" cy="2589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06353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4144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63532"/>
                </a:solidFill>
              </a:defRPr>
            </a:lvl1pPr>
            <a:lvl2pPr>
              <a:defRPr>
                <a:solidFill>
                  <a:srgbClr val="063532"/>
                </a:solidFill>
              </a:defRPr>
            </a:lvl2pPr>
            <a:lvl3pPr>
              <a:defRPr>
                <a:solidFill>
                  <a:srgbClr val="063532"/>
                </a:solidFill>
              </a:defRPr>
            </a:lvl3pPr>
            <a:lvl4pPr>
              <a:defRPr>
                <a:solidFill>
                  <a:srgbClr val="063532"/>
                </a:solidFill>
              </a:defRPr>
            </a:lvl4pPr>
            <a:lvl5pPr>
              <a:defRPr>
                <a:solidFill>
                  <a:srgbClr val="06353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83CD2D-347F-417C-886D-273536740474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D35F60-FE4A-4476-B52F-29F8950812D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219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69004D-800C-4230-8BED-3D981703420C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425C34-A69D-4402-B7D8-BAB5A48CF0B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2289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BAD35B-FA32-400E-B001-5FD5168C6B39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86A5D-7A97-4E2E-A328-5E1595936FF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9424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8F702-7B2B-4191-AADB-9326B959CBB1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F13A9-6EEC-43E7-807C-7954534FE44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2309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E7D3133-C8CC-49B1-BACB-6866EED8069D}" type="datetimeFigureOut">
              <a:rPr lang="en-GB"/>
              <a:pPr>
                <a:defRPr/>
              </a:pPr>
              <a:t>09/07/2025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rgbClr val="063532"/>
                </a:solidFill>
                <a:latin typeface="+mn-lt"/>
              </a:defRPr>
            </a:lvl1pPr>
          </a:lstStyle>
          <a:p>
            <a:pPr>
              <a:defRPr/>
            </a:pPr>
            <a:fld id="{C8F75B9A-495D-4CA4-9D63-CBFCE0B350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362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rgbClr val="06353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063532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063532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063532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063532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06353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Strategic Marketing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600" dirty="0"/>
              <a:t>Week 7 – Seminar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29814-A2EB-1C43-AFEB-C567A7583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REMINDER-Mini Presentation Task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5BAFB-9AA8-FA42-8223-376846EB1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Next week we shall have presentations on your product. As a team, you are expected to include the following information in the presentation:</a:t>
            </a:r>
          </a:p>
          <a:p>
            <a:r>
              <a:rPr lang="en-GB" dirty="0"/>
              <a:t>Details of the product</a:t>
            </a:r>
          </a:p>
          <a:p>
            <a:r>
              <a:rPr lang="en-GB" dirty="0"/>
              <a:t>Profile of the market</a:t>
            </a:r>
          </a:p>
          <a:p>
            <a:r>
              <a:rPr lang="en-GB" dirty="0"/>
              <a:t>Segmentation</a:t>
            </a:r>
          </a:p>
          <a:p>
            <a:r>
              <a:rPr lang="en-GB" dirty="0"/>
              <a:t>Targeting</a:t>
            </a:r>
          </a:p>
          <a:p>
            <a:r>
              <a:rPr lang="en-GB" dirty="0"/>
              <a:t>Positioning</a:t>
            </a:r>
          </a:p>
          <a:p>
            <a:pPr marL="0" indent="0">
              <a:buNone/>
            </a:pPr>
            <a:r>
              <a:rPr lang="en-GB" dirty="0"/>
              <a:t>No more than 6 slides / 10 minutes per presentation.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759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BBA5C-211A-B346-857C-0C18C1D8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0601" cy="1325563"/>
          </a:xfrm>
        </p:spPr>
        <p:txBody>
          <a:bodyPr/>
          <a:lstStyle/>
          <a:p>
            <a:r>
              <a:rPr lang="en-GB" sz="4000" dirty="0"/>
              <a:t>Week 6: Seminar Discussion Questions – Thorntons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B838D-80C5-3746-8530-90190060E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22825"/>
          </a:xfrm>
        </p:spPr>
        <p:txBody>
          <a:bodyPr/>
          <a:lstStyle/>
          <a:p>
            <a:pPr marL="342900" marR="139700" lvl="0" indent="-342900" algn="l">
              <a:spcBef>
                <a:spcPts val="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454025" algn="l"/>
                <a:tab pos="45466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distribution</a:t>
            </a:r>
            <a:r>
              <a:rPr lang="en-US" b="1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</a:t>
            </a:r>
            <a:r>
              <a:rPr lang="en-US" b="1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options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b="1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b="1" spc="9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sell</a:t>
            </a:r>
            <a:r>
              <a:rPr lang="en-US" b="1" spc="10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b="1" spc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products?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their pros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cons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from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both the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company 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customers’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perspectives?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7795" lvl="0" indent="-342900" algn="l">
              <a:spcBef>
                <a:spcPts val="900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453390" algn="l"/>
                <a:tab pos="45402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b="1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evaluate</a:t>
            </a:r>
            <a:r>
              <a:rPr lang="en-US" b="1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Thorntons’s</a:t>
            </a:r>
            <a:r>
              <a:rPr lang="en-US" b="1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decision</a:t>
            </a:r>
            <a:r>
              <a:rPr lang="en-US" b="1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sell</a:t>
            </a:r>
            <a:r>
              <a:rPr lang="en-US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b="1" spc="2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</a:t>
            </a:r>
            <a:r>
              <a:rPr lang="en-US" b="1" spc="2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b="1" spc="2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intermediary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retailers,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such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supermarkets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discount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stores,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meanwhile closing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own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stores?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l">
              <a:spcBef>
                <a:spcPts val="89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454025" algn="l"/>
                <a:tab pos="454660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How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</a:t>
            </a:r>
            <a:r>
              <a:rPr lang="en-US" b="1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you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importance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direct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online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selling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Thorntons’s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future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growth?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139065" lvl="0" indent="-342900" algn="l">
              <a:spcBef>
                <a:spcPts val="905"/>
              </a:spcBef>
              <a:spcAft>
                <a:spcPts val="0"/>
              </a:spcAft>
              <a:buSzPts val="1100"/>
              <a:buFont typeface="Times New Roman" panose="02020603050405020304" pitchFamily="18" charset="0"/>
              <a:buAutoNum type="arabicPeriod"/>
              <a:tabLst>
                <a:tab pos="453390" algn="l"/>
                <a:tab pos="454025" algn="l"/>
              </a:tabLst>
            </a:pP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Considering</a:t>
            </a:r>
            <a:r>
              <a:rPr lang="en-US" b="1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b="1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b="1" spc="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strategic</a:t>
            </a:r>
            <a:r>
              <a:rPr lang="en-US" b="1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investment</a:t>
            </a:r>
            <a:r>
              <a:rPr lang="en-US" b="1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b="1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branding</a:t>
            </a:r>
            <a:r>
              <a:rPr lang="en-US" b="1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b="1" spc="2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b="1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parent</a:t>
            </a:r>
            <a:r>
              <a:rPr lang="en-US" b="1" spc="2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company,</a:t>
            </a:r>
            <a:r>
              <a:rPr lang="en-US" b="1" spc="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what</a:t>
            </a:r>
            <a:r>
              <a:rPr lang="en-US" b="1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channel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strategies you would suggest to</a:t>
            </a:r>
            <a:r>
              <a:rPr lang="en-US" b="1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Thorntons, and why?</a:t>
            </a:r>
            <a:endParaRPr lang="en-GB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spcBef>
                <a:spcPts val="45"/>
              </a:spcBef>
            </a:pPr>
            <a:endParaRPr lang="en-GB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GB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792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94517-B19B-5849-B2B7-0C109D7FA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0"/>
            <a:ext cx="10515600" cy="1000125"/>
          </a:xfrm>
        </p:spPr>
        <p:txBody>
          <a:bodyPr/>
          <a:lstStyle/>
          <a:p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Thorntons:</a:t>
            </a:r>
            <a:r>
              <a:rPr lang="en-US" sz="3200" b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3200" b="1" spc="-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journey</a:t>
            </a:r>
            <a:r>
              <a:rPr lang="en-US" sz="3200" b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US" sz="3200" b="1" spc="-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revitalize</a:t>
            </a:r>
            <a:r>
              <a:rPr lang="en-US" sz="3200" b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its</a:t>
            </a:r>
            <a:r>
              <a:rPr lang="en-US" sz="3200" b="1" spc="-5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brand</a:t>
            </a:r>
            <a:r>
              <a:rPr lang="en-GB" sz="3200" dirty="0"/>
              <a:t>- Synopsis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21244-A769-1C47-9699-ADD757D86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0" y="937418"/>
            <a:ext cx="10515600" cy="5825332"/>
          </a:xfrm>
        </p:spPr>
        <p:txBody>
          <a:bodyPr/>
          <a:lstStyle/>
          <a:p>
            <a:pPr marL="140335" marR="136525" algn="just"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 is a household name chocolate brand and independent chocolate retailer in the UK with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228 stores and 186 franchise shops. Among them, 16 shops are cafés. It was established in 1911 and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 is now one of the best-known brands on Britain’s high streets. It is listed on the London Stock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Exchange.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bought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Ferrero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SpA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2015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£112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million.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Unlike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Cadburys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that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predominantly relies upon retailers for its distribution strategy, traditionally, Thorntons sells its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 directly to consumers through its own or franchise shops, and increasingly more through its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own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online shop and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third</a:t>
            </a:r>
            <a:r>
              <a:rPr lang="en-US" sz="16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parties, such as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supermarkets.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335" marR="136525" algn="just">
              <a:spcBef>
                <a:spcPts val="5"/>
              </a:spcBef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Traditionally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Thorntons’s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main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growth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strategy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expanding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opening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stores.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Although the expansion helped the company to increase the turnover to £214.8 million in 2009, the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operating profit decreased to only £7.94 million. Thorntons’s sales are generally highly impacted by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seasonality, with a significant percentage of sales (it is reported about 35 percent) occurring during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weeks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leading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Christmas,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</a:t>
            </a:r>
            <a:r>
              <a:rPr lang="en-US" sz="1600" spc="-4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about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10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percent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before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Easter.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puts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great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deal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z="1600" spc="-3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pressure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on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running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 many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physical stores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the high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streets or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shopping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centres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335" marR="136525" algn="just"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This decision to sell more through third-party retailers was made due to the difficulty of mail order,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because of the product’s fragility and freshness. But Thorntons failed to distinguish itself in the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premium</a:t>
            </a:r>
            <a:r>
              <a:rPr lang="en-US" sz="16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mass-market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level.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Selling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through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supermarkets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also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meant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there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was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less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reason</a:t>
            </a:r>
            <a:r>
              <a:rPr lang="en-US" sz="16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visit Thornton shops.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335" marR="137160" algn="just"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responded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their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profits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decrease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2011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shifting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towards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diversified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distribution strategy and to close between 120 and 180 of its shops, with a continuous emphasis on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selling through supermarkets and other retailers and reducing overconfidence on seasonal events by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developing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its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year-round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relevance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by</a:t>
            </a:r>
            <a:r>
              <a:rPr lang="en-US" sz="1600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introducing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new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gift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ranges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other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more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personal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occasions</a:t>
            </a:r>
            <a:r>
              <a:rPr lang="en-US" sz="1600" spc="-2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such as birthdays, anniversaries and congratulations. Despite this decision its own shops offer no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obvious added value for shoppers as compared to buying its products in supermarkets. This has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resulted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</a:t>
            </a:r>
            <a:r>
              <a:rPr lang="en-US" sz="1600" spc="-6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positioning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for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Thorntons’s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products:</a:t>
            </a:r>
            <a:r>
              <a:rPr lang="en-US" sz="1600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appearing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mass-market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but</a:t>
            </a:r>
            <a:r>
              <a:rPr lang="en-US" sz="1600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z="1600" spc="-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premium</a:t>
            </a:r>
            <a:r>
              <a:rPr lang="en-US" sz="1600" spc="-2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pricing.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140335" marR="137160" algn="just">
              <a:spcAft>
                <a:spcPts val="0"/>
              </a:spcAft>
            </a:pP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Although Thorntons has made efforts to change people’s perception of the brand one of the biggest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problems is that they still have too many stores in the wrong locations, which are expensive to run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and maintain. Meanwhile with the increased success of online sales for Thorntons and their closest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rival Hotel </a:t>
            </a:r>
            <a:r>
              <a:rPr lang="en-US" sz="16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Chocolat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there is a strong argument for placing more focus and budget on digital</a:t>
            </a:r>
            <a:r>
              <a:rPr lang="en-US" sz="1600" spc="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marketing</a:t>
            </a:r>
            <a:r>
              <a:rPr lang="en-US" sz="1600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 drive online sales.</a:t>
            </a:r>
            <a:r>
              <a:rPr lang="en-US" sz="1600" baseline="30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11</a:t>
            </a:r>
            <a:endParaRPr lang="en-GB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3966677353"/>
      </p:ext>
    </p:extLst>
  </p:cSld>
  <p:clrMapOvr>
    <a:masterClrMapping/>
  </p:clrMapOvr>
</p:sld>
</file>

<file path=ppt/theme/theme1.xml><?xml version="1.0" encoding="utf-8"?>
<a:theme xmlns:a="http://schemas.openxmlformats.org/drawingml/2006/main" name="University of Roehampt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ek 1- Seminar Discussion Questions.pot [Compatibility Mode]" id="{707DB747-BDAE-43B9-9D86-1EFC7F82B10D}" vid="{EFE640EC-0A76-4F5C-B490-EA066F06D3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621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University of Roehampton</vt:lpstr>
      <vt:lpstr>Strategic Marketing</vt:lpstr>
      <vt:lpstr>REMINDER-Mini Presentation Task</vt:lpstr>
      <vt:lpstr>Week 6: Seminar Discussion Questions – Thorntons</vt:lpstr>
      <vt:lpstr>Thorntons: a journey to revitalize its brand- Synopsis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Strategic Marketing</dc:title>
  <dc:creator>Mohammed Rafiq</dc:creator>
  <cp:lastModifiedBy>Dumebi Konwea</cp:lastModifiedBy>
  <cp:revision>31</cp:revision>
  <dcterms:created xsi:type="dcterms:W3CDTF">2020-09-10T09:09:59Z</dcterms:created>
  <dcterms:modified xsi:type="dcterms:W3CDTF">2025-07-09T08:29:47Z</dcterms:modified>
</cp:coreProperties>
</file>